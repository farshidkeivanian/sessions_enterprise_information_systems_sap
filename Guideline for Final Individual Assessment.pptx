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87" r:id="rId2"/>
    <p:sldId id="278" r:id="rId3"/>
    <p:sldId id="279" r:id="rId4"/>
    <p:sldId id="288" r:id="rId5"/>
    <p:sldId id="289" r:id="rId6"/>
    <p:sldId id="290"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12" r:id="rId25"/>
    <p:sldId id="309" r:id="rId26"/>
    <p:sldId id="311" r:id="rId27"/>
    <p:sldId id="310" r:id="rId28"/>
    <p:sldId id="313" r:id="rId29"/>
    <p:sldId id="314" r:id="rId30"/>
    <p:sldId id="315" r:id="rId31"/>
    <p:sldId id="316" r:id="rId32"/>
    <p:sldId id="317"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331" r:id="rId47"/>
    <p:sldId id="332" r:id="rId48"/>
    <p:sldId id="1817" r:id="rId49"/>
    <p:sldId id="1850" r:id="rId5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7" autoAdjust="0"/>
    <p:restoredTop sz="93342" autoAdjust="0"/>
  </p:normalViewPr>
  <p:slideViewPr>
    <p:cSldViewPr>
      <p:cViewPr varScale="1">
        <p:scale>
          <a:sx n="69" d="100"/>
          <a:sy n="69" d="100"/>
        </p:scale>
        <p:origin x="797" y="5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E23B335-985B-415C-BDAA-08868B2BBED2}" type="datetimeFigureOut">
              <a:rPr lang="en-AU" smtClean="0"/>
              <a:t>14/05/2026</a:t>
            </a:fld>
            <a:endParaRPr lang="en-AU"/>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D910FCB-5EBB-4F6C-8953-64EF67AFEA56}" type="slidenum">
              <a:rPr lang="en-AU" smtClean="0"/>
              <a:t>‹#›</a:t>
            </a:fld>
            <a:endParaRPr lang="en-AU"/>
          </a:p>
        </p:txBody>
      </p:sp>
    </p:spTree>
    <p:extLst>
      <p:ext uri="{BB962C8B-B14F-4D97-AF65-F5344CB8AC3E}">
        <p14:creationId xmlns:p14="http://schemas.microsoft.com/office/powerpoint/2010/main" val="959139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5/14/2026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757512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49224"/>
          </a:xfrm>
          <a:prstGeom prst="rect">
            <a:avLst/>
          </a:prstGeom>
        </p:spPr>
      </p:pic>
      <p:pic>
        <p:nvPicPr>
          <p:cNvPr id="17" name="bg object 17"/>
          <p:cNvPicPr/>
          <p:nvPr/>
        </p:nvPicPr>
        <p:blipFill>
          <a:blip r:embed="rId9" cstate="print"/>
          <a:stretch>
            <a:fillRect/>
          </a:stretch>
        </p:blipFill>
        <p:spPr>
          <a:xfrm>
            <a:off x="192023" y="42671"/>
            <a:ext cx="1531620" cy="562355"/>
          </a:xfrm>
          <a:prstGeom prst="rect">
            <a:avLst/>
          </a:prstGeom>
        </p:spPr>
      </p:pic>
      <p:sp>
        <p:nvSpPr>
          <p:cNvPr id="2" name="Holder 2"/>
          <p:cNvSpPr>
            <a:spLocks noGrp="1"/>
          </p:cNvSpPr>
          <p:nvPr>
            <p:ph type="title"/>
          </p:nvPr>
        </p:nvSpPr>
        <p:spPr>
          <a:xfrm>
            <a:off x="1422019" y="2747213"/>
            <a:ext cx="8163559" cy="574675"/>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40059" y="6487707"/>
            <a:ext cx="944879" cy="178434"/>
          </a:xfrm>
          <a:prstGeom prst="rect">
            <a:avLst/>
          </a:prstGeom>
        </p:spPr>
        <p:txBody>
          <a:bodyPr wrap="square" lIns="0" tIns="0" rIns="0" bIns="0">
            <a:spAutoFit/>
          </a:bodyPr>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jise.org/Volume15/n3/JISEv15n3p327.pd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1" y="838200"/>
            <a:ext cx="5954988" cy="4876800"/>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solidFill>
                  <a:srgbClr val="595959"/>
                </a:solidFill>
                <a:latin typeface="Calibir"/>
                <a:ea typeface="+mj-ea"/>
                <a:cs typeface="+mj-cs"/>
              </a:rPr>
              <a:t>HI6034: Enterprise Information Systems</a:t>
            </a:r>
            <a:br>
              <a:rPr lang="en-US" sz="3800" b="1" dirty="0">
                <a:solidFill>
                  <a:srgbClr val="595959"/>
                </a:solidFill>
                <a:latin typeface="Calibir"/>
                <a:ea typeface="+mj-ea"/>
                <a:cs typeface="+mj-cs"/>
              </a:rPr>
            </a:br>
            <a:endParaRPr lang="en-US" sz="3800" b="1" dirty="0">
              <a:solidFill>
                <a:srgbClr val="595959"/>
              </a:solidFill>
              <a:latin typeface="Calibir"/>
              <a:ea typeface="+mj-ea"/>
              <a:cs typeface="+mj-cs"/>
            </a:endParaRPr>
          </a:p>
          <a:p>
            <a:pPr algn="ctr">
              <a:lnSpc>
                <a:spcPct val="90000"/>
              </a:lnSpc>
              <a:spcBef>
                <a:spcPct val="0"/>
              </a:spcBef>
              <a:spcAft>
                <a:spcPts val="338"/>
              </a:spcAft>
            </a:pPr>
            <a:r>
              <a:rPr lang="en-US" sz="3800" b="1" dirty="0">
                <a:solidFill>
                  <a:srgbClr val="595959"/>
                </a:solidFill>
                <a:latin typeface="Calibir"/>
                <a:ea typeface="+mj-ea"/>
                <a:cs typeface="+mj-cs"/>
              </a:rPr>
              <a:t>Preparation for Individual Assignments  (Individual Research Paper)</a:t>
            </a:r>
            <a:br>
              <a:rPr lang="en-US" sz="3800" b="1" dirty="0">
                <a:solidFill>
                  <a:srgbClr val="595959"/>
                </a:solidFill>
                <a:latin typeface="Calibir"/>
                <a:ea typeface="+mj-ea"/>
                <a:cs typeface="+mj-cs"/>
              </a:rPr>
            </a:br>
            <a:r>
              <a:rPr lang="en-US" sz="3800" b="1" dirty="0">
                <a:solidFill>
                  <a:srgbClr val="595959"/>
                </a:solidFill>
                <a:latin typeface="Calibir"/>
                <a:ea typeface="+mj-ea"/>
                <a:cs typeface="+mj-cs"/>
              </a:rPr>
              <a:t>(Week 8 and 9)</a:t>
            </a:r>
          </a:p>
          <a:p>
            <a:pPr algn="ctr">
              <a:lnSpc>
                <a:spcPct val="90000"/>
              </a:lnSpc>
              <a:spcBef>
                <a:spcPct val="0"/>
              </a:spcBef>
              <a:spcAft>
                <a:spcPts val="338"/>
              </a:spcAft>
            </a:pPr>
            <a:endParaRPr lang="en-US" sz="3800" b="1" dirty="0">
              <a:solidFill>
                <a:srgbClr val="595959"/>
              </a:solidFill>
              <a:latin typeface="Calibir"/>
              <a:ea typeface="+mj-ea"/>
              <a:cs typeface="+mj-cs"/>
            </a:endParaRPr>
          </a:p>
          <a:p>
            <a:pPr algn="ctr">
              <a:lnSpc>
                <a:spcPct val="90000"/>
              </a:lnSpc>
              <a:spcBef>
                <a:spcPct val="0"/>
              </a:spcBef>
              <a:spcAft>
                <a:spcPts val="338"/>
              </a:spcAft>
            </a:pPr>
            <a:r>
              <a:rPr lang="en-US" sz="3800" b="1" dirty="0">
                <a:solidFill>
                  <a:srgbClr val="595959"/>
                </a:solidFill>
                <a:latin typeface="Calibir"/>
                <a:ea typeface="+mj-ea"/>
                <a:cs typeface="+mj-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48F9D026-2779-33E2-3363-805458C89EDE}"/>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03443B09-1247-A1DC-9C55-492C877749B0}"/>
              </a:ext>
            </a:extLst>
          </p:cNvPr>
          <p:cNvSpPr txBox="1"/>
          <p:nvPr/>
        </p:nvSpPr>
        <p:spPr>
          <a:xfrm>
            <a:off x="457200" y="1447800"/>
            <a:ext cx="11201400" cy="4549835"/>
          </a:xfrm>
          <a:prstGeom prst="rect">
            <a:avLst/>
          </a:prstGeom>
          <a:noFill/>
        </p:spPr>
        <p:txBody>
          <a:bodyPr wrap="square">
            <a:spAutoFit/>
          </a:bodyPr>
          <a:lstStyle/>
          <a:p>
            <a:pPr>
              <a:lnSpc>
                <a:spcPct val="150000"/>
              </a:lnSpc>
            </a:pPr>
            <a:r>
              <a:rPr lang="en-US" sz="2800" b="1" dirty="0">
                <a:latin typeface="+mj-lt"/>
              </a:rPr>
              <a:t>Topic:</a:t>
            </a:r>
            <a:r>
              <a:rPr lang="en-US" sz="2800" dirty="0">
                <a:latin typeface="+mj-lt"/>
              </a:rPr>
              <a:t> The Impact of AI-Enabled Enterprise Systems on Organizational Agility and Decision Intelligence</a:t>
            </a:r>
            <a:br>
              <a:rPr lang="en-US" sz="2800" dirty="0">
                <a:latin typeface="+mj-lt"/>
              </a:rPr>
            </a:br>
            <a:r>
              <a:rPr lang="en-US" sz="2800" b="1" dirty="0">
                <a:latin typeface="+mj-lt"/>
              </a:rPr>
              <a:t>Due date:</a:t>
            </a:r>
            <a:r>
              <a:rPr lang="en-US" sz="2800" dirty="0">
                <a:latin typeface="+mj-lt"/>
              </a:rPr>
              <a:t> 12 June 2026</a:t>
            </a:r>
            <a:br>
              <a:rPr lang="en-US" sz="2800" dirty="0">
                <a:latin typeface="+mj-lt"/>
              </a:rPr>
            </a:br>
            <a:r>
              <a:rPr lang="en-US" sz="2800" b="1" dirty="0">
                <a:latin typeface="+mj-lt"/>
              </a:rPr>
              <a:t>Due time:</a:t>
            </a:r>
            <a:r>
              <a:rPr lang="en-US" sz="2800" dirty="0">
                <a:latin typeface="+mj-lt"/>
              </a:rPr>
              <a:t> 11:59 pm</a:t>
            </a:r>
            <a:br>
              <a:rPr lang="en-US" sz="2800" dirty="0">
                <a:latin typeface="+mj-lt"/>
              </a:rPr>
            </a:br>
            <a:r>
              <a:rPr lang="en-US" sz="2800" b="1" dirty="0">
                <a:latin typeface="+mj-lt"/>
              </a:rPr>
              <a:t>Weight:</a:t>
            </a:r>
            <a:r>
              <a:rPr lang="en-US" sz="2800" dirty="0">
                <a:latin typeface="+mj-lt"/>
              </a:rPr>
              <a:t> 40%</a:t>
            </a:r>
            <a:br>
              <a:rPr lang="en-US" sz="2800" dirty="0">
                <a:latin typeface="+mj-lt"/>
              </a:rPr>
            </a:br>
            <a:r>
              <a:rPr lang="en-US" sz="2800" b="1" dirty="0">
                <a:latin typeface="+mj-lt"/>
              </a:rPr>
              <a:t>Length:</a:t>
            </a:r>
            <a:r>
              <a:rPr lang="en-US" sz="2800" dirty="0">
                <a:latin typeface="+mj-lt"/>
              </a:rPr>
              <a:t> 2500 words minimum</a:t>
            </a:r>
            <a:br>
              <a:rPr lang="en-US" sz="2800" dirty="0">
                <a:latin typeface="+mj-lt"/>
              </a:rPr>
            </a:br>
            <a:r>
              <a:rPr lang="en-US" sz="2800" b="1" dirty="0">
                <a:latin typeface="+mj-lt"/>
              </a:rPr>
              <a:t>References required:</a:t>
            </a:r>
            <a:r>
              <a:rPr lang="en-US" sz="2800" dirty="0">
                <a:latin typeface="+mj-lt"/>
              </a:rPr>
              <a:t> At least 10 academic research papers</a:t>
            </a:r>
            <a:endParaRPr lang="en-AU" sz="2800" dirty="0">
              <a:latin typeface="+mj-lt"/>
            </a:endParaRPr>
          </a:p>
        </p:txBody>
      </p:sp>
    </p:spTree>
    <p:extLst>
      <p:ext uri="{BB962C8B-B14F-4D97-AF65-F5344CB8AC3E}">
        <p14:creationId xmlns:p14="http://schemas.microsoft.com/office/powerpoint/2010/main" val="131483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48F9D026-2779-33E2-3363-805458C89EDE}"/>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03443B09-1247-A1DC-9C55-492C877749B0}"/>
              </a:ext>
            </a:extLst>
          </p:cNvPr>
          <p:cNvSpPr txBox="1"/>
          <p:nvPr/>
        </p:nvSpPr>
        <p:spPr>
          <a:xfrm>
            <a:off x="184731" y="1154082"/>
            <a:ext cx="11822538" cy="4549835"/>
          </a:xfrm>
          <a:prstGeom prst="rect">
            <a:avLst/>
          </a:prstGeom>
          <a:noFill/>
        </p:spPr>
        <p:txBody>
          <a:bodyPr wrap="square">
            <a:spAutoFit/>
          </a:bodyPr>
          <a:lstStyle/>
          <a:p>
            <a:pPr>
              <a:lnSpc>
                <a:spcPct val="150000"/>
              </a:lnSpc>
            </a:pPr>
            <a:r>
              <a:rPr lang="en-US" sz="2800" b="1" dirty="0">
                <a:latin typeface="+mj-lt"/>
              </a:rPr>
              <a:t>1. Understand the Assignment First</a:t>
            </a:r>
          </a:p>
          <a:p>
            <a:pPr>
              <a:lnSpc>
                <a:spcPct val="150000"/>
              </a:lnSpc>
            </a:pPr>
            <a:r>
              <a:rPr lang="en-US" sz="2800" dirty="0">
                <a:latin typeface="+mj-lt"/>
              </a:rPr>
              <a:t>This is an individual research paper, not a general essay or summary. You must critically discuss how AI-enabled enterprise systems affect </a:t>
            </a:r>
            <a:r>
              <a:rPr lang="en-US" sz="2800" dirty="0" err="1">
                <a:latin typeface="+mj-lt"/>
              </a:rPr>
              <a:t>organisations</a:t>
            </a:r>
            <a:r>
              <a:rPr lang="en-US" sz="2800" dirty="0">
                <a:latin typeface="+mj-lt"/>
              </a:rPr>
              <a:t>, especially in relation to:</a:t>
            </a:r>
          </a:p>
          <a:p>
            <a:pPr marL="457200" indent="-457200">
              <a:lnSpc>
                <a:spcPct val="150000"/>
              </a:lnSpc>
              <a:buFont typeface="Arial" panose="020B0604020202020204" pitchFamily="34" charset="0"/>
              <a:buChar char="•"/>
            </a:pPr>
            <a:r>
              <a:rPr lang="en-US" sz="2800" dirty="0">
                <a:latin typeface="+mj-lt"/>
              </a:rPr>
              <a:t>ERP, CRM, SAP S/4HANA, Oracle ERP, Microsoft Dynamics 365, and similar systems </a:t>
            </a:r>
          </a:p>
          <a:p>
            <a:pPr marL="457200" indent="-457200">
              <a:lnSpc>
                <a:spcPct val="150000"/>
              </a:lnSpc>
              <a:buFont typeface="Arial" panose="020B0604020202020204" pitchFamily="34" charset="0"/>
              <a:buChar char="•"/>
            </a:pPr>
            <a:r>
              <a:rPr lang="en-US" sz="2800" dirty="0" err="1">
                <a:latin typeface="+mj-lt"/>
              </a:rPr>
              <a:t>Organisational</a:t>
            </a:r>
            <a:r>
              <a:rPr lang="en-US" sz="2800" dirty="0">
                <a:latin typeface="+mj-lt"/>
              </a:rPr>
              <a:t> agility and responsiveness </a:t>
            </a:r>
          </a:p>
        </p:txBody>
      </p:sp>
    </p:spTree>
    <p:extLst>
      <p:ext uri="{BB962C8B-B14F-4D97-AF65-F5344CB8AC3E}">
        <p14:creationId xmlns:p14="http://schemas.microsoft.com/office/powerpoint/2010/main" val="194976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81EA2-7C61-F27D-5CB7-C30A30A61F90}"/>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B8B243A0-35E6-2412-26BA-237AA49BCF2A}"/>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F65672A2-F41E-B3A4-56D1-6060E81CF0B3}"/>
              </a:ext>
            </a:extLst>
          </p:cNvPr>
          <p:cNvSpPr txBox="1"/>
          <p:nvPr/>
        </p:nvSpPr>
        <p:spPr>
          <a:xfrm>
            <a:off x="184731" y="1477248"/>
            <a:ext cx="11822538"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mj-lt"/>
              </a:rPr>
              <a:t>Decision intelligence and predictive analytics </a:t>
            </a:r>
          </a:p>
          <a:p>
            <a:pPr marL="457200" indent="-457200">
              <a:lnSpc>
                <a:spcPct val="150000"/>
              </a:lnSpc>
              <a:buFont typeface="Arial" panose="020B0604020202020204" pitchFamily="34" charset="0"/>
              <a:buChar char="•"/>
            </a:pPr>
            <a:r>
              <a:rPr lang="en-US" sz="2800" dirty="0">
                <a:latin typeface="+mj-lt"/>
              </a:rPr>
              <a:t>AI automation in business processes</a:t>
            </a:r>
          </a:p>
          <a:p>
            <a:pPr marL="457200" indent="-457200">
              <a:lnSpc>
                <a:spcPct val="150000"/>
              </a:lnSpc>
              <a:buFont typeface="Arial" panose="020B0604020202020204" pitchFamily="34" charset="0"/>
              <a:buChar char="•"/>
            </a:pPr>
            <a:r>
              <a:rPr lang="en-US" sz="2800" dirty="0">
                <a:latin typeface="+mj-lt"/>
              </a:rPr>
              <a:t>Data governance, data quality, ethics, and integration challenges </a:t>
            </a:r>
          </a:p>
          <a:p>
            <a:pPr marL="457200" indent="-457200">
              <a:lnSpc>
                <a:spcPct val="150000"/>
              </a:lnSpc>
              <a:buFont typeface="Arial" panose="020B0604020202020204" pitchFamily="34" charset="0"/>
              <a:buChar char="•"/>
            </a:pPr>
            <a:r>
              <a:rPr lang="en-US" sz="2800" dirty="0">
                <a:latin typeface="+mj-lt"/>
              </a:rPr>
              <a:t>Change management and user adoption </a:t>
            </a:r>
          </a:p>
          <a:p>
            <a:pPr>
              <a:lnSpc>
                <a:spcPct val="150000"/>
              </a:lnSpc>
            </a:pPr>
            <a:r>
              <a:rPr lang="en-US" sz="2800" dirty="0">
                <a:latin typeface="+mj-lt"/>
              </a:rPr>
              <a:t>Your paper must be based strongly on academic research papers, not only websites or company blogs.</a:t>
            </a:r>
          </a:p>
        </p:txBody>
      </p:sp>
    </p:spTree>
    <p:extLst>
      <p:ext uri="{BB962C8B-B14F-4D97-AF65-F5344CB8AC3E}">
        <p14:creationId xmlns:p14="http://schemas.microsoft.com/office/powerpoint/2010/main" val="2135779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665AF-E32E-AB0B-92B7-84B74890A5B1}"/>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9A7E13EC-4140-E605-4F75-A5A8A92FF685}"/>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5F75FED-F9F4-FE7F-C14A-EE8800940DF1}"/>
              </a:ext>
            </a:extLst>
          </p:cNvPr>
          <p:cNvSpPr txBox="1"/>
          <p:nvPr/>
        </p:nvSpPr>
        <p:spPr>
          <a:xfrm>
            <a:off x="76200" y="558621"/>
            <a:ext cx="11822538" cy="5842497"/>
          </a:xfrm>
          <a:prstGeom prst="rect">
            <a:avLst/>
          </a:prstGeom>
          <a:noFill/>
        </p:spPr>
        <p:txBody>
          <a:bodyPr wrap="square">
            <a:spAutoFit/>
          </a:bodyPr>
          <a:lstStyle/>
          <a:p>
            <a:pPr>
              <a:lnSpc>
                <a:spcPct val="150000"/>
              </a:lnSpc>
            </a:pPr>
            <a:r>
              <a:rPr lang="en-US" sz="2800" b="1" dirty="0">
                <a:latin typeface="+mj-lt"/>
              </a:rPr>
              <a:t>2. Start with Research</a:t>
            </a:r>
          </a:p>
          <a:p>
            <a:pPr>
              <a:lnSpc>
                <a:spcPct val="150000"/>
              </a:lnSpc>
            </a:pPr>
            <a:r>
              <a:rPr lang="en-US" sz="2800" dirty="0">
                <a:latin typeface="+mj-lt"/>
              </a:rPr>
              <a:t>Search for at least 10 academic journal or conference papers related to the topic.</a:t>
            </a:r>
          </a:p>
          <a:p>
            <a:pPr>
              <a:lnSpc>
                <a:spcPct val="150000"/>
              </a:lnSpc>
            </a:pPr>
            <a:r>
              <a:rPr lang="en-US" sz="2800" dirty="0">
                <a:latin typeface="+mj-lt"/>
              </a:rPr>
              <a:t>Useful keywords:</a:t>
            </a:r>
          </a:p>
          <a:p>
            <a:pPr marL="712788" lvl="1" indent="-457200">
              <a:lnSpc>
                <a:spcPct val="150000"/>
              </a:lnSpc>
              <a:buFont typeface="Arial" panose="020B0604020202020204" pitchFamily="34" charset="0"/>
              <a:buChar char="•"/>
            </a:pPr>
            <a:r>
              <a:rPr lang="en-US" sz="2800" dirty="0">
                <a:latin typeface="+mj-lt"/>
              </a:rPr>
              <a:t>AI-enabled enterprise systems </a:t>
            </a:r>
          </a:p>
          <a:p>
            <a:pPr marL="712788" lvl="1" indent="-457200">
              <a:lnSpc>
                <a:spcPct val="150000"/>
              </a:lnSpc>
              <a:buFont typeface="Arial" panose="020B0604020202020204" pitchFamily="34" charset="0"/>
              <a:buChar char="•"/>
            </a:pPr>
            <a:r>
              <a:rPr lang="en-US" sz="2800" dirty="0">
                <a:latin typeface="+mj-lt"/>
              </a:rPr>
              <a:t>Artificial intelligence in ERP systems </a:t>
            </a:r>
          </a:p>
          <a:p>
            <a:pPr marL="712788" lvl="1" indent="-457200">
              <a:lnSpc>
                <a:spcPct val="150000"/>
              </a:lnSpc>
              <a:buFont typeface="Arial" panose="020B0604020202020204" pitchFamily="34" charset="0"/>
              <a:buChar char="•"/>
            </a:pPr>
            <a:r>
              <a:rPr lang="en-US" sz="2800" dirty="0">
                <a:latin typeface="+mj-lt"/>
              </a:rPr>
              <a:t>Intelligent ERP and </a:t>
            </a:r>
            <a:r>
              <a:rPr lang="en-US" sz="2800" dirty="0" err="1">
                <a:latin typeface="+mj-lt"/>
              </a:rPr>
              <a:t>organisational</a:t>
            </a:r>
            <a:r>
              <a:rPr lang="en-US" sz="2800" dirty="0">
                <a:latin typeface="+mj-lt"/>
              </a:rPr>
              <a:t> agility </a:t>
            </a:r>
          </a:p>
          <a:p>
            <a:pPr marL="712788" lvl="1" indent="-457200">
              <a:lnSpc>
                <a:spcPct val="150000"/>
              </a:lnSpc>
              <a:buFont typeface="Arial" panose="020B0604020202020204" pitchFamily="34" charset="0"/>
              <a:buChar char="•"/>
            </a:pPr>
            <a:r>
              <a:rPr lang="en-US" sz="2800" dirty="0">
                <a:latin typeface="+mj-lt"/>
              </a:rPr>
              <a:t>Decision intelligence and enterprise systems </a:t>
            </a:r>
          </a:p>
          <a:p>
            <a:pPr marL="712788" lvl="1" indent="-457200">
              <a:lnSpc>
                <a:spcPct val="150000"/>
              </a:lnSpc>
              <a:buFont typeface="Arial" panose="020B0604020202020204" pitchFamily="34" charset="0"/>
              <a:buChar char="•"/>
            </a:pPr>
            <a:r>
              <a:rPr lang="en-US" sz="2800" dirty="0">
                <a:latin typeface="+mj-lt"/>
              </a:rPr>
              <a:t>AI in CRM systems</a:t>
            </a:r>
          </a:p>
        </p:txBody>
      </p:sp>
    </p:spTree>
    <p:extLst>
      <p:ext uri="{BB962C8B-B14F-4D97-AF65-F5344CB8AC3E}">
        <p14:creationId xmlns:p14="http://schemas.microsoft.com/office/powerpoint/2010/main" val="3982468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47A59-CE49-321F-1937-104C9F3111D7}"/>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C4427475-3A0F-15EF-184E-FCFB2CE15C78}"/>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5DC8668B-BEE3-2D4C-54E5-B218482EF46A}"/>
              </a:ext>
            </a:extLst>
          </p:cNvPr>
          <p:cNvSpPr txBox="1"/>
          <p:nvPr/>
        </p:nvSpPr>
        <p:spPr>
          <a:xfrm>
            <a:off x="76200" y="558621"/>
            <a:ext cx="11822538" cy="4549835"/>
          </a:xfrm>
          <a:prstGeom prst="rect">
            <a:avLst/>
          </a:prstGeom>
          <a:noFill/>
        </p:spPr>
        <p:txBody>
          <a:bodyPr wrap="square">
            <a:spAutoFit/>
          </a:bodyPr>
          <a:lstStyle/>
          <a:p>
            <a:pPr marL="712788" lvl="1" indent="-457200">
              <a:lnSpc>
                <a:spcPct val="150000"/>
              </a:lnSpc>
              <a:buFont typeface="Arial" panose="020B0604020202020204" pitchFamily="34" charset="0"/>
              <a:buChar char="•"/>
            </a:pPr>
            <a:r>
              <a:rPr lang="en-US" sz="2800" dirty="0">
                <a:latin typeface="+mj-lt"/>
              </a:rPr>
              <a:t>Predictive analytics in enterprise systems </a:t>
            </a:r>
          </a:p>
          <a:p>
            <a:pPr marL="712788" lvl="1" indent="-457200">
              <a:lnSpc>
                <a:spcPct val="150000"/>
              </a:lnSpc>
              <a:buFont typeface="Arial" panose="020B0604020202020204" pitchFamily="34" charset="0"/>
              <a:buChar char="•"/>
            </a:pPr>
            <a:r>
              <a:rPr lang="en-US" sz="2800" dirty="0">
                <a:latin typeface="+mj-lt"/>
              </a:rPr>
              <a:t>ERP implementation challenges </a:t>
            </a:r>
          </a:p>
          <a:p>
            <a:pPr marL="712788" lvl="1" indent="-457200">
              <a:lnSpc>
                <a:spcPct val="150000"/>
              </a:lnSpc>
              <a:buFont typeface="Arial" panose="020B0604020202020204" pitchFamily="34" charset="0"/>
              <a:buChar char="•"/>
            </a:pPr>
            <a:r>
              <a:rPr lang="en-US" sz="2800" dirty="0">
                <a:latin typeface="+mj-lt"/>
              </a:rPr>
              <a:t>AI governance in enterprise systems </a:t>
            </a:r>
          </a:p>
          <a:p>
            <a:pPr marL="712788" lvl="1" indent="-457200">
              <a:lnSpc>
                <a:spcPct val="150000"/>
              </a:lnSpc>
              <a:buFont typeface="Arial" panose="020B0604020202020204" pitchFamily="34" charset="0"/>
              <a:buChar char="•"/>
            </a:pPr>
            <a:r>
              <a:rPr lang="en-US" sz="2800" dirty="0">
                <a:latin typeface="+mj-lt"/>
              </a:rPr>
              <a:t>SAP S/4HANA artificial intelligence </a:t>
            </a:r>
          </a:p>
          <a:p>
            <a:pPr marL="712788" lvl="1" indent="-457200">
              <a:lnSpc>
                <a:spcPct val="150000"/>
              </a:lnSpc>
              <a:buFont typeface="Arial" panose="020B0604020202020204" pitchFamily="34" charset="0"/>
              <a:buChar char="•"/>
            </a:pPr>
            <a:r>
              <a:rPr lang="en-US" sz="2800" dirty="0">
                <a:latin typeface="+mj-lt"/>
              </a:rPr>
              <a:t>Microsoft Dynamics 365 AI decision-making </a:t>
            </a:r>
          </a:p>
          <a:p>
            <a:pPr lvl="1">
              <a:lnSpc>
                <a:spcPct val="150000"/>
              </a:lnSpc>
            </a:pPr>
            <a:r>
              <a:rPr lang="en-US" sz="2800" dirty="0">
                <a:latin typeface="+mj-lt"/>
              </a:rPr>
              <a:t>Use databases such as ProQuest, Google Scholar, and academic journal databases.</a:t>
            </a:r>
          </a:p>
        </p:txBody>
      </p:sp>
    </p:spTree>
    <p:extLst>
      <p:ext uri="{BB962C8B-B14F-4D97-AF65-F5344CB8AC3E}">
        <p14:creationId xmlns:p14="http://schemas.microsoft.com/office/powerpoint/2010/main" val="689001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42983-8533-63DA-6832-D64B949F23F6}"/>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89272743-6534-7FBD-ED3B-7D108A386CA2}"/>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1DB27F19-C727-616E-D09E-85FC431E93D2}"/>
              </a:ext>
            </a:extLst>
          </p:cNvPr>
          <p:cNvSpPr txBox="1"/>
          <p:nvPr/>
        </p:nvSpPr>
        <p:spPr>
          <a:xfrm>
            <a:off x="0" y="685800"/>
            <a:ext cx="11822538" cy="5196166"/>
          </a:xfrm>
          <a:prstGeom prst="rect">
            <a:avLst/>
          </a:prstGeom>
          <a:noFill/>
        </p:spPr>
        <p:txBody>
          <a:bodyPr wrap="square">
            <a:spAutoFit/>
          </a:bodyPr>
          <a:lstStyle/>
          <a:p>
            <a:pPr>
              <a:lnSpc>
                <a:spcPct val="150000"/>
              </a:lnSpc>
            </a:pPr>
            <a:r>
              <a:rPr lang="en-US" sz="2800" b="1" dirty="0">
                <a:latin typeface="+mj-lt"/>
              </a:rPr>
              <a:t>3. Choose Good Sources</a:t>
            </a:r>
          </a:p>
          <a:p>
            <a:pPr>
              <a:lnSpc>
                <a:spcPct val="150000"/>
              </a:lnSpc>
            </a:pPr>
            <a:r>
              <a:rPr lang="en-US" sz="2800" dirty="0">
                <a:latin typeface="+mj-lt"/>
              </a:rPr>
              <a:t>Use sources that are:</a:t>
            </a:r>
          </a:p>
          <a:p>
            <a:pPr marL="712788" indent="-457200">
              <a:lnSpc>
                <a:spcPct val="150000"/>
              </a:lnSpc>
              <a:buFont typeface="Arial" panose="020B0604020202020204" pitchFamily="34" charset="0"/>
              <a:buChar char="•"/>
            </a:pPr>
            <a:r>
              <a:rPr lang="en-US" sz="2800" dirty="0">
                <a:latin typeface="+mj-lt"/>
              </a:rPr>
              <a:t>Academic journal articles or conference papers </a:t>
            </a:r>
          </a:p>
          <a:p>
            <a:pPr marL="712788" indent="-457200">
              <a:lnSpc>
                <a:spcPct val="150000"/>
              </a:lnSpc>
              <a:buFont typeface="Arial" panose="020B0604020202020204" pitchFamily="34" charset="0"/>
              <a:buChar char="•"/>
            </a:pPr>
            <a:r>
              <a:rPr lang="en-US" sz="2800" dirty="0">
                <a:latin typeface="+mj-lt"/>
              </a:rPr>
              <a:t>Relevant to enterprise systems, AI, ERP, CRM, decision-making, or </a:t>
            </a:r>
            <a:r>
              <a:rPr lang="en-US" sz="2800" dirty="0" err="1">
                <a:latin typeface="+mj-lt"/>
              </a:rPr>
              <a:t>organisational</a:t>
            </a:r>
            <a:r>
              <a:rPr lang="en-US" sz="2800" dirty="0">
                <a:latin typeface="+mj-lt"/>
              </a:rPr>
              <a:t> agility </a:t>
            </a:r>
          </a:p>
          <a:p>
            <a:pPr marL="712788" indent="-457200">
              <a:lnSpc>
                <a:spcPct val="150000"/>
              </a:lnSpc>
              <a:buFont typeface="Arial" panose="020B0604020202020204" pitchFamily="34" charset="0"/>
              <a:buChar char="•"/>
            </a:pPr>
            <a:r>
              <a:rPr lang="en-US" sz="2800" dirty="0">
                <a:latin typeface="+mj-lt"/>
              </a:rPr>
              <a:t>Recent where possible, especially from the last 5–10 years </a:t>
            </a:r>
          </a:p>
          <a:p>
            <a:pPr marL="712788" indent="-457200">
              <a:lnSpc>
                <a:spcPct val="150000"/>
              </a:lnSpc>
              <a:buFont typeface="Arial" panose="020B0604020202020204" pitchFamily="34" charset="0"/>
              <a:buChar char="•"/>
            </a:pPr>
            <a:r>
              <a:rPr lang="en-US" sz="2800" dirty="0">
                <a:latin typeface="+mj-lt"/>
              </a:rPr>
              <a:t>Available in full text </a:t>
            </a:r>
          </a:p>
          <a:p>
            <a:pPr marL="712788" indent="-457200">
              <a:lnSpc>
                <a:spcPct val="150000"/>
              </a:lnSpc>
              <a:buFont typeface="Arial" panose="020B0604020202020204" pitchFamily="34" charset="0"/>
              <a:buChar char="•"/>
            </a:pPr>
            <a:r>
              <a:rPr lang="en-US" sz="2800" dirty="0">
                <a:latin typeface="+mj-lt"/>
              </a:rPr>
              <a:t>Suitable for Harvard referencing with links</a:t>
            </a:r>
          </a:p>
        </p:txBody>
      </p:sp>
    </p:spTree>
    <p:extLst>
      <p:ext uri="{BB962C8B-B14F-4D97-AF65-F5344CB8AC3E}">
        <p14:creationId xmlns:p14="http://schemas.microsoft.com/office/powerpoint/2010/main" val="8112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6754A-A102-2A5E-B818-69A7976DFCB6}"/>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6CD8E590-0CED-D726-C5F8-42020BBA67B2}"/>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45827EF-B8C2-1EC5-8408-D73584BB6E43}"/>
              </a:ext>
            </a:extLst>
          </p:cNvPr>
          <p:cNvSpPr txBox="1"/>
          <p:nvPr/>
        </p:nvSpPr>
        <p:spPr>
          <a:xfrm>
            <a:off x="0" y="685800"/>
            <a:ext cx="11822538" cy="4549835"/>
          </a:xfrm>
          <a:prstGeom prst="rect">
            <a:avLst/>
          </a:prstGeom>
          <a:noFill/>
        </p:spPr>
        <p:txBody>
          <a:bodyPr wrap="square">
            <a:spAutoFit/>
          </a:bodyPr>
          <a:lstStyle/>
          <a:p>
            <a:pPr>
              <a:lnSpc>
                <a:spcPct val="150000"/>
              </a:lnSpc>
            </a:pPr>
            <a:r>
              <a:rPr lang="en-US" sz="2800" dirty="0">
                <a:latin typeface="+mj-lt"/>
              </a:rPr>
              <a:t>Avoid relying heavily on:</a:t>
            </a:r>
          </a:p>
          <a:p>
            <a:pPr marL="712788" indent="-457200">
              <a:lnSpc>
                <a:spcPct val="150000"/>
              </a:lnSpc>
              <a:buFont typeface="Arial" panose="020B0604020202020204" pitchFamily="34" charset="0"/>
              <a:buChar char="•"/>
            </a:pPr>
            <a:r>
              <a:rPr lang="en-US" sz="2800" dirty="0">
                <a:latin typeface="+mj-lt"/>
              </a:rPr>
              <a:t>Wikipedia </a:t>
            </a:r>
          </a:p>
          <a:p>
            <a:pPr marL="712788" indent="-457200">
              <a:lnSpc>
                <a:spcPct val="150000"/>
              </a:lnSpc>
              <a:buFont typeface="Arial" panose="020B0604020202020204" pitchFamily="34" charset="0"/>
              <a:buChar char="•"/>
            </a:pPr>
            <a:r>
              <a:rPr lang="en-US" sz="2800" dirty="0">
                <a:latin typeface="+mj-lt"/>
              </a:rPr>
              <a:t>Random websites </a:t>
            </a:r>
          </a:p>
          <a:p>
            <a:pPr marL="712788" indent="-457200">
              <a:lnSpc>
                <a:spcPct val="150000"/>
              </a:lnSpc>
              <a:buFont typeface="Arial" panose="020B0604020202020204" pitchFamily="34" charset="0"/>
              <a:buChar char="•"/>
            </a:pPr>
            <a:r>
              <a:rPr lang="en-US" sz="2800" dirty="0">
                <a:latin typeface="+mj-lt"/>
              </a:rPr>
              <a:t>Company marketing pages </a:t>
            </a:r>
          </a:p>
          <a:p>
            <a:pPr marL="712788" indent="-457200">
              <a:lnSpc>
                <a:spcPct val="150000"/>
              </a:lnSpc>
              <a:buFont typeface="Arial" panose="020B0604020202020204" pitchFamily="34" charset="0"/>
              <a:buChar char="•"/>
            </a:pPr>
            <a:r>
              <a:rPr lang="en-US" sz="2800" dirty="0">
                <a:latin typeface="+mj-lt"/>
              </a:rPr>
              <a:t>Blogs with no author or date </a:t>
            </a:r>
          </a:p>
          <a:p>
            <a:pPr marL="712788" indent="-457200">
              <a:lnSpc>
                <a:spcPct val="150000"/>
              </a:lnSpc>
              <a:buFont typeface="Arial" panose="020B0604020202020204" pitchFamily="34" charset="0"/>
              <a:buChar char="•"/>
            </a:pPr>
            <a:r>
              <a:rPr lang="en-US" sz="2800" dirty="0">
                <a:latin typeface="+mj-lt"/>
              </a:rPr>
              <a:t>AI-generated references </a:t>
            </a:r>
          </a:p>
          <a:p>
            <a:pPr marL="712788" indent="-457200">
              <a:lnSpc>
                <a:spcPct val="150000"/>
              </a:lnSpc>
              <a:buFont typeface="Arial" panose="020B0604020202020204" pitchFamily="34" charset="0"/>
              <a:buChar char="•"/>
            </a:pPr>
            <a:r>
              <a:rPr lang="en-US" sz="2800" dirty="0">
                <a:latin typeface="+mj-lt"/>
              </a:rPr>
              <a:t>Sources you cannot access in full text</a:t>
            </a:r>
          </a:p>
        </p:txBody>
      </p:sp>
    </p:spTree>
    <p:extLst>
      <p:ext uri="{BB962C8B-B14F-4D97-AF65-F5344CB8AC3E}">
        <p14:creationId xmlns:p14="http://schemas.microsoft.com/office/powerpoint/2010/main" val="395199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5C0A-3156-2275-B498-359D23F431F7}"/>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E3120543-A6C9-BD2D-91E2-C5C2725C238B}"/>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12246B89-663F-2764-49C8-6DB130D74569}"/>
              </a:ext>
            </a:extLst>
          </p:cNvPr>
          <p:cNvSpPr txBox="1"/>
          <p:nvPr/>
        </p:nvSpPr>
        <p:spPr>
          <a:xfrm>
            <a:off x="0" y="517863"/>
            <a:ext cx="11822538" cy="6488828"/>
          </a:xfrm>
          <a:prstGeom prst="rect">
            <a:avLst/>
          </a:prstGeom>
          <a:noFill/>
        </p:spPr>
        <p:txBody>
          <a:bodyPr wrap="square">
            <a:spAutoFit/>
          </a:bodyPr>
          <a:lstStyle/>
          <a:p>
            <a:pPr>
              <a:lnSpc>
                <a:spcPct val="150000"/>
              </a:lnSpc>
            </a:pPr>
            <a:r>
              <a:rPr lang="en-US" sz="2800" b="1" dirty="0">
                <a:latin typeface="+mj-lt"/>
              </a:rPr>
              <a:t>4. Read and Take Notes</a:t>
            </a:r>
          </a:p>
          <a:p>
            <a:pPr>
              <a:lnSpc>
                <a:spcPct val="150000"/>
              </a:lnSpc>
            </a:pPr>
            <a:r>
              <a:rPr lang="en-US" sz="2800" dirty="0">
                <a:latin typeface="+mj-lt"/>
              </a:rPr>
              <a:t>For each academic paper, record:</a:t>
            </a:r>
          </a:p>
          <a:p>
            <a:pPr marL="712788" indent="-457200">
              <a:lnSpc>
                <a:spcPct val="150000"/>
              </a:lnSpc>
              <a:buFont typeface="Arial" panose="020B0604020202020204" pitchFamily="34" charset="0"/>
              <a:buChar char="•"/>
            </a:pPr>
            <a:r>
              <a:rPr lang="en-US" sz="2800" dirty="0">
                <a:latin typeface="+mj-lt"/>
              </a:rPr>
              <a:t>Author and year </a:t>
            </a:r>
          </a:p>
          <a:p>
            <a:pPr marL="712788" indent="-457200">
              <a:lnSpc>
                <a:spcPct val="150000"/>
              </a:lnSpc>
              <a:buFont typeface="Arial" panose="020B0604020202020204" pitchFamily="34" charset="0"/>
              <a:buChar char="•"/>
            </a:pPr>
            <a:r>
              <a:rPr lang="en-US" sz="2800" dirty="0">
                <a:latin typeface="+mj-lt"/>
              </a:rPr>
              <a:t>Main argument </a:t>
            </a:r>
          </a:p>
          <a:p>
            <a:pPr marL="712788" indent="-457200">
              <a:lnSpc>
                <a:spcPct val="150000"/>
              </a:lnSpc>
              <a:buFont typeface="Arial" panose="020B0604020202020204" pitchFamily="34" charset="0"/>
              <a:buChar char="•"/>
            </a:pPr>
            <a:r>
              <a:rPr lang="en-US" sz="2800" dirty="0">
                <a:latin typeface="+mj-lt"/>
              </a:rPr>
              <a:t>Research method </a:t>
            </a:r>
          </a:p>
          <a:p>
            <a:pPr marL="712788" indent="-457200">
              <a:lnSpc>
                <a:spcPct val="150000"/>
              </a:lnSpc>
              <a:buFont typeface="Arial" panose="020B0604020202020204" pitchFamily="34" charset="0"/>
              <a:buChar char="•"/>
            </a:pPr>
            <a:r>
              <a:rPr lang="en-US" sz="2800" dirty="0">
                <a:latin typeface="+mj-lt"/>
              </a:rPr>
              <a:t>Key findings </a:t>
            </a:r>
          </a:p>
          <a:p>
            <a:pPr marL="712788" indent="-457200">
              <a:lnSpc>
                <a:spcPct val="150000"/>
              </a:lnSpc>
              <a:buFont typeface="Arial" panose="020B0604020202020204" pitchFamily="34" charset="0"/>
              <a:buChar char="•"/>
            </a:pPr>
            <a:r>
              <a:rPr lang="en-US" sz="2800" dirty="0">
                <a:latin typeface="+mj-lt"/>
              </a:rPr>
              <a:t>Strengths of the paper </a:t>
            </a:r>
          </a:p>
          <a:p>
            <a:pPr marL="712788" indent="-457200">
              <a:lnSpc>
                <a:spcPct val="150000"/>
              </a:lnSpc>
              <a:buFont typeface="Arial" panose="020B0604020202020204" pitchFamily="34" charset="0"/>
              <a:buChar char="•"/>
            </a:pPr>
            <a:r>
              <a:rPr lang="en-US" sz="2800" dirty="0">
                <a:latin typeface="+mj-lt"/>
              </a:rPr>
              <a:t>Limitations of the paper </a:t>
            </a:r>
          </a:p>
          <a:p>
            <a:pPr marL="712788" indent="-457200">
              <a:lnSpc>
                <a:spcPct val="150000"/>
              </a:lnSpc>
              <a:buFont typeface="Arial" panose="020B0604020202020204" pitchFamily="34" charset="0"/>
              <a:buChar char="•"/>
            </a:pPr>
            <a:r>
              <a:rPr lang="en-US" sz="2800" dirty="0">
                <a:latin typeface="+mj-lt"/>
              </a:rPr>
              <a:t>How it relates to your topic </a:t>
            </a:r>
          </a:p>
          <a:p>
            <a:pPr marL="712788" indent="-457200">
              <a:lnSpc>
                <a:spcPct val="150000"/>
              </a:lnSpc>
              <a:buFont typeface="Arial" panose="020B0604020202020204" pitchFamily="34" charset="0"/>
              <a:buChar char="•"/>
            </a:pPr>
            <a:r>
              <a:rPr lang="en-US" sz="2800" dirty="0">
                <a:latin typeface="+mj-lt"/>
              </a:rPr>
              <a:t>Useful page number and paragraph number for citation</a:t>
            </a:r>
          </a:p>
        </p:txBody>
      </p:sp>
    </p:spTree>
    <p:extLst>
      <p:ext uri="{BB962C8B-B14F-4D97-AF65-F5344CB8AC3E}">
        <p14:creationId xmlns:p14="http://schemas.microsoft.com/office/powerpoint/2010/main" val="2549797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D22D-9AC2-0000-DEEE-5EEAB9E1A2CE}"/>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C87E3AB2-A7DC-5EEE-1386-88F00A4D94C5}"/>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F8FA245D-6A8D-5662-4FA7-46A2DC4DC9FB}"/>
              </a:ext>
            </a:extLst>
          </p:cNvPr>
          <p:cNvSpPr txBox="1"/>
          <p:nvPr/>
        </p:nvSpPr>
        <p:spPr>
          <a:xfrm>
            <a:off x="0" y="1800413"/>
            <a:ext cx="11822538" cy="3257174"/>
          </a:xfrm>
          <a:prstGeom prst="rect">
            <a:avLst/>
          </a:prstGeom>
          <a:noFill/>
        </p:spPr>
        <p:txBody>
          <a:bodyPr wrap="square">
            <a:spAutoFit/>
          </a:bodyPr>
          <a:lstStyle/>
          <a:p>
            <a:pPr>
              <a:lnSpc>
                <a:spcPct val="150000"/>
              </a:lnSpc>
            </a:pPr>
            <a:r>
              <a:rPr lang="en-US" sz="2800" dirty="0">
                <a:latin typeface="+mj-lt"/>
              </a:rPr>
              <a:t>Example note:</a:t>
            </a:r>
          </a:p>
          <a:p>
            <a:pPr>
              <a:lnSpc>
                <a:spcPct val="150000"/>
              </a:lnSpc>
            </a:pPr>
            <a:r>
              <a:rPr lang="en-US" sz="2800" dirty="0">
                <a:latin typeface="+mj-lt"/>
              </a:rPr>
              <a:t>Smith and Lee (2023) argue that AI-enabled ERP systems improve decision-making by automating routine analysis and providing predictive insights. However, their study focuses mainly on large </a:t>
            </a:r>
            <a:r>
              <a:rPr lang="en-US" sz="2800" dirty="0" err="1">
                <a:latin typeface="+mj-lt"/>
              </a:rPr>
              <a:t>organisations</a:t>
            </a:r>
            <a:r>
              <a:rPr lang="en-US" sz="2800" dirty="0">
                <a:latin typeface="+mj-lt"/>
              </a:rPr>
              <a:t>, so the findings may not apply fully to small businesses.</a:t>
            </a:r>
          </a:p>
        </p:txBody>
      </p:sp>
    </p:spTree>
    <p:extLst>
      <p:ext uri="{BB962C8B-B14F-4D97-AF65-F5344CB8AC3E}">
        <p14:creationId xmlns:p14="http://schemas.microsoft.com/office/powerpoint/2010/main" val="3275659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CC96E-81B4-0DA6-B0EA-F93AB7266A60}"/>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663A5BD6-A36D-A844-AC12-FA7605D04576}"/>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8ABB19B7-CCCE-2C5E-D2F0-7E81AED4A90F}"/>
              </a:ext>
            </a:extLst>
          </p:cNvPr>
          <p:cNvSpPr txBox="1"/>
          <p:nvPr/>
        </p:nvSpPr>
        <p:spPr>
          <a:xfrm>
            <a:off x="0" y="1447800"/>
            <a:ext cx="11822538" cy="4549835"/>
          </a:xfrm>
          <a:prstGeom prst="rect">
            <a:avLst/>
          </a:prstGeom>
          <a:noFill/>
        </p:spPr>
        <p:txBody>
          <a:bodyPr wrap="square">
            <a:spAutoFit/>
          </a:bodyPr>
          <a:lstStyle/>
          <a:p>
            <a:pPr>
              <a:lnSpc>
                <a:spcPct val="150000"/>
              </a:lnSpc>
            </a:pPr>
            <a:r>
              <a:rPr lang="en-US" sz="2800" b="1" dirty="0">
                <a:latin typeface="+mj-lt"/>
              </a:rPr>
              <a:t>5. Plan the Report Structure</a:t>
            </a:r>
          </a:p>
          <a:p>
            <a:pPr>
              <a:lnSpc>
                <a:spcPct val="150000"/>
              </a:lnSpc>
            </a:pPr>
            <a:r>
              <a:rPr lang="en-US" sz="2800" dirty="0">
                <a:latin typeface="+mj-lt"/>
              </a:rPr>
              <a:t>Your final report should follow this structure:</a:t>
            </a:r>
          </a:p>
          <a:p>
            <a:pPr>
              <a:lnSpc>
                <a:spcPct val="150000"/>
              </a:lnSpc>
            </a:pPr>
            <a:r>
              <a:rPr lang="en-US" sz="2800" b="1" dirty="0">
                <a:latin typeface="+mj-lt"/>
              </a:rPr>
              <a:t>Table of Contents</a:t>
            </a:r>
          </a:p>
          <a:p>
            <a:pPr>
              <a:lnSpc>
                <a:spcPct val="150000"/>
              </a:lnSpc>
            </a:pPr>
            <a:r>
              <a:rPr lang="en-US" sz="2800" dirty="0">
                <a:latin typeface="+mj-lt"/>
              </a:rPr>
              <a:t>Excluded from word count.</a:t>
            </a:r>
          </a:p>
          <a:p>
            <a:pPr>
              <a:lnSpc>
                <a:spcPct val="150000"/>
              </a:lnSpc>
            </a:pPr>
            <a:r>
              <a:rPr lang="en-US" sz="2800" b="1" dirty="0">
                <a:latin typeface="+mj-lt"/>
              </a:rPr>
              <a:t>1. Introduction</a:t>
            </a:r>
          </a:p>
          <a:p>
            <a:pPr>
              <a:lnSpc>
                <a:spcPct val="150000"/>
              </a:lnSpc>
            </a:pPr>
            <a:r>
              <a:rPr lang="en-US" sz="2800" dirty="0">
                <a:latin typeface="+mj-lt"/>
              </a:rPr>
              <a:t>Introduce the topic, explain why it is important, state the purpose of the paper, and briefly outline what will be discussed.</a:t>
            </a:r>
          </a:p>
        </p:txBody>
      </p:sp>
    </p:spTree>
    <p:extLst>
      <p:ext uri="{BB962C8B-B14F-4D97-AF65-F5344CB8AC3E}">
        <p14:creationId xmlns:p14="http://schemas.microsoft.com/office/powerpoint/2010/main" val="985007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4F90B-BADF-89C9-C77A-4F862ED98E3D}"/>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9A4BEF84-1CE5-1CFF-5B14-7E7B5E3A2AAD}"/>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D4BD24D3-43CD-3E45-4341-C815A7D73C98}"/>
              </a:ext>
            </a:extLst>
          </p:cNvPr>
          <p:cNvSpPr txBox="1"/>
          <p:nvPr/>
        </p:nvSpPr>
        <p:spPr>
          <a:xfrm>
            <a:off x="0" y="1447800"/>
            <a:ext cx="11822538" cy="4549835"/>
          </a:xfrm>
          <a:prstGeom prst="rect">
            <a:avLst/>
          </a:prstGeom>
          <a:noFill/>
        </p:spPr>
        <p:txBody>
          <a:bodyPr wrap="square">
            <a:spAutoFit/>
          </a:bodyPr>
          <a:lstStyle/>
          <a:p>
            <a:pPr>
              <a:lnSpc>
                <a:spcPct val="150000"/>
              </a:lnSpc>
            </a:pPr>
            <a:r>
              <a:rPr lang="en-US" sz="2800" dirty="0">
                <a:latin typeface="+mj-lt"/>
              </a:rPr>
              <a:t>Example:</a:t>
            </a:r>
          </a:p>
          <a:p>
            <a:pPr>
              <a:lnSpc>
                <a:spcPct val="150000"/>
              </a:lnSpc>
            </a:pPr>
            <a:r>
              <a:rPr lang="en-US" sz="2800" dirty="0">
                <a:latin typeface="+mj-lt"/>
              </a:rPr>
              <a:t>AI-enabled enterprise systems are increasingly used to support </a:t>
            </a:r>
            <a:r>
              <a:rPr lang="en-US" sz="2800" dirty="0" err="1">
                <a:latin typeface="+mj-lt"/>
              </a:rPr>
              <a:t>organisational</a:t>
            </a:r>
            <a:r>
              <a:rPr lang="en-US" sz="2800" dirty="0">
                <a:latin typeface="+mj-lt"/>
              </a:rPr>
              <a:t> decision-making, process automation, and business agility. This paper critically examines how artificial intelligence integrated into enterprise systems influences </a:t>
            </a:r>
            <a:r>
              <a:rPr lang="en-US" sz="2800" dirty="0" err="1">
                <a:latin typeface="+mj-lt"/>
              </a:rPr>
              <a:t>organisational</a:t>
            </a:r>
            <a:r>
              <a:rPr lang="en-US" sz="2800" dirty="0">
                <a:latin typeface="+mj-lt"/>
              </a:rPr>
              <a:t> agility and decision intelligence, while also considering challenges such as data governance, ethical risks, system integration, and user adoption.</a:t>
            </a:r>
          </a:p>
        </p:txBody>
      </p:sp>
    </p:spTree>
    <p:extLst>
      <p:ext uri="{BB962C8B-B14F-4D97-AF65-F5344CB8AC3E}">
        <p14:creationId xmlns:p14="http://schemas.microsoft.com/office/powerpoint/2010/main" val="1316584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6E023-E398-5172-CF8A-78AC66388100}"/>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742BB58B-6CC8-D0E2-CD6D-8425FD88FC6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985BEE4-04C7-906C-FD59-F228083184CD}"/>
              </a:ext>
            </a:extLst>
          </p:cNvPr>
          <p:cNvSpPr txBox="1"/>
          <p:nvPr/>
        </p:nvSpPr>
        <p:spPr>
          <a:xfrm>
            <a:off x="0" y="1219200"/>
            <a:ext cx="11822538" cy="5196166"/>
          </a:xfrm>
          <a:prstGeom prst="rect">
            <a:avLst/>
          </a:prstGeom>
          <a:noFill/>
        </p:spPr>
        <p:txBody>
          <a:bodyPr wrap="square">
            <a:spAutoFit/>
          </a:bodyPr>
          <a:lstStyle/>
          <a:p>
            <a:pPr>
              <a:lnSpc>
                <a:spcPct val="150000"/>
              </a:lnSpc>
            </a:pPr>
            <a:r>
              <a:rPr lang="en-US" sz="2800" b="1" dirty="0">
                <a:latin typeface="+mj-lt"/>
              </a:rPr>
              <a:t>2. Discussion</a:t>
            </a:r>
          </a:p>
          <a:p>
            <a:pPr>
              <a:lnSpc>
                <a:spcPct val="150000"/>
              </a:lnSpc>
            </a:pPr>
            <a:r>
              <a:rPr lang="en-US" sz="2800" dirty="0">
                <a:latin typeface="+mj-lt"/>
              </a:rPr>
              <a:t>This is the main body. Use numbered subheadings.</a:t>
            </a:r>
          </a:p>
          <a:p>
            <a:pPr>
              <a:lnSpc>
                <a:spcPct val="150000"/>
              </a:lnSpc>
            </a:pPr>
            <a:r>
              <a:rPr lang="en-US" sz="2800" dirty="0">
                <a:latin typeface="+mj-lt"/>
              </a:rPr>
              <a:t>Suggested subheadings:</a:t>
            </a:r>
          </a:p>
          <a:p>
            <a:pPr>
              <a:lnSpc>
                <a:spcPct val="150000"/>
              </a:lnSpc>
            </a:pPr>
            <a:r>
              <a:rPr lang="en-US" sz="2800" b="1" dirty="0">
                <a:latin typeface="+mj-lt"/>
              </a:rPr>
              <a:t>2.1 Overview of AI-Enabled Enterprise Systems</a:t>
            </a:r>
          </a:p>
          <a:p>
            <a:pPr>
              <a:lnSpc>
                <a:spcPct val="150000"/>
              </a:lnSpc>
            </a:pPr>
            <a:r>
              <a:rPr lang="en-US" sz="2800" dirty="0">
                <a:latin typeface="+mj-lt"/>
              </a:rPr>
              <a:t>Explain ERP, CRM, enterprise systems, and how AI is being integrated.</a:t>
            </a:r>
          </a:p>
          <a:p>
            <a:pPr>
              <a:lnSpc>
                <a:spcPct val="150000"/>
              </a:lnSpc>
            </a:pPr>
            <a:r>
              <a:rPr lang="en-US" sz="2800" b="1" dirty="0">
                <a:latin typeface="+mj-lt"/>
              </a:rPr>
              <a:t>2.2 AI and </a:t>
            </a:r>
            <a:r>
              <a:rPr lang="en-US" sz="2800" b="1" dirty="0" err="1">
                <a:latin typeface="+mj-lt"/>
              </a:rPr>
              <a:t>Organisational</a:t>
            </a:r>
            <a:r>
              <a:rPr lang="en-US" sz="2800" b="1" dirty="0">
                <a:latin typeface="+mj-lt"/>
              </a:rPr>
              <a:t> Agility</a:t>
            </a:r>
          </a:p>
          <a:p>
            <a:pPr>
              <a:lnSpc>
                <a:spcPct val="150000"/>
              </a:lnSpc>
            </a:pPr>
            <a:r>
              <a:rPr lang="en-US" sz="2800" dirty="0">
                <a:latin typeface="+mj-lt"/>
              </a:rPr>
              <a:t>Discuss how AI helps </a:t>
            </a:r>
            <a:r>
              <a:rPr lang="en-US" sz="2800" dirty="0" err="1">
                <a:latin typeface="+mj-lt"/>
              </a:rPr>
              <a:t>organisations</a:t>
            </a:r>
            <a:r>
              <a:rPr lang="en-US" sz="2800" dirty="0">
                <a:latin typeface="+mj-lt"/>
              </a:rPr>
              <a:t> respond faster to market changes, customer needs, and operational issues.</a:t>
            </a:r>
          </a:p>
        </p:txBody>
      </p:sp>
    </p:spTree>
    <p:extLst>
      <p:ext uri="{BB962C8B-B14F-4D97-AF65-F5344CB8AC3E}">
        <p14:creationId xmlns:p14="http://schemas.microsoft.com/office/powerpoint/2010/main" val="625733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60A2-B5C4-75F8-2768-8C467B9EC7C8}"/>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032AEFE6-4A8B-5ADB-A566-E2514909D72A}"/>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B8179B93-DF4A-A4E6-1663-E6D4CB74D939}"/>
              </a:ext>
            </a:extLst>
          </p:cNvPr>
          <p:cNvSpPr txBox="1"/>
          <p:nvPr/>
        </p:nvSpPr>
        <p:spPr>
          <a:xfrm>
            <a:off x="0" y="786903"/>
            <a:ext cx="11822538" cy="5842497"/>
          </a:xfrm>
          <a:prstGeom prst="rect">
            <a:avLst/>
          </a:prstGeom>
          <a:noFill/>
        </p:spPr>
        <p:txBody>
          <a:bodyPr wrap="square">
            <a:spAutoFit/>
          </a:bodyPr>
          <a:lstStyle/>
          <a:p>
            <a:pPr>
              <a:lnSpc>
                <a:spcPct val="150000"/>
              </a:lnSpc>
            </a:pPr>
            <a:r>
              <a:rPr lang="en-US" sz="2800" b="1" dirty="0">
                <a:latin typeface="+mj-lt"/>
              </a:rPr>
              <a:t>2.3 Decision Intelligence and Predictive Analytics</a:t>
            </a:r>
          </a:p>
          <a:p>
            <a:pPr>
              <a:lnSpc>
                <a:spcPct val="150000"/>
              </a:lnSpc>
            </a:pPr>
            <a:r>
              <a:rPr lang="en-US" sz="2800" dirty="0">
                <a:latin typeface="+mj-lt"/>
              </a:rPr>
              <a:t>Explain how AI supports managerial decisions through forecasting, automation, dashboards, and predictive models.</a:t>
            </a:r>
          </a:p>
          <a:p>
            <a:pPr>
              <a:lnSpc>
                <a:spcPct val="150000"/>
              </a:lnSpc>
            </a:pPr>
            <a:r>
              <a:rPr lang="en-US" sz="2800" b="1" dirty="0">
                <a:latin typeface="+mj-lt"/>
              </a:rPr>
              <a:t>2.4 Implementation and Integration Challenges</a:t>
            </a:r>
          </a:p>
          <a:p>
            <a:pPr>
              <a:lnSpc>
                <a:spcPct val="150000"/>
              </a:lnSpc>
            </a:pPr>
            <a:r>
              <a:rPr lang="en-US" sz="2800" dirty="0">
                <a:latin typeface="+mj-lt"/>
              </a:rPr>
              <a:t>Discuss system complexity, legacy systems, cost, skills gaps, and integration issues.</a:t>
            </a:r>
          </a:p>
          <a:p>
            <a:pPr>
              <a:lnSpc>
                <a:spcPct val="150000"/>
              </a:lnSpc>
            </a:pPr>
            <a:r>
              <a:rPr lang="en-US" sz="2800" b="1" dirty="0">
                <a:latin typeface="+mj-lt"/>
              </a:rPr>
              <a:t>2.5 Data Quality, Governance, and Ethical Issues</a:t>
            </a:r>
          </a:p>
          <a:p>
            <a:pPr>
              <a:lnSpc>
                <a:spcPct val="150000"/>
              </a:lnSpc>
            </a:pPr>
            <a:r>
              <a:rPr lang="en-US" sz="2800" dirty="0">
                <a:latin typeface="+mj-lt"/>
              </a:rPr>
              <a:t>Discuss biased data, privacy, transparency, accountability, and responsible AI use.</a:t>
            </a:r>
          </a:p>
        </p:txBody>
      </p:sp>
    </p:spTree>
    <p:extLst>
      <p:ext uri="{BB962C8B-B14F-4D97-AF65-F5344CB8AC3E}">
        <p14:creationId xmlns:p14="http://schemas.microsoft.com/office/powerpoint/2010/main" val="3266809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2EA4C-B514-1DA9-1EFB-7C6C50718024}"/>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E1D57B9-3180-973D-7326-46C61FFE605F}"/>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7013E4E9-2D80-C6B4-9504-E0389EFB50E9}"/>
              </a:ext>
            </a:extLst>
          </p:cNvPr>
          <p:cNvSpPr txBox="1"/>
          <p:nvPr/>
        </p:nvSpPr>
        <p:spPr>
          <a:xfrm>
            <a:off x="0" y="990600"/>
            <a:ext cx="11822538" cy="5196166"/>
          </a:xfrm>
          <a:prstGeom prst="rect">
            <a:avLst/>
          </a:prstGeom>
          <a:noFill/>
        </p:spPr>
        <p:txBody>
          <a:bodyPr wrap="square">
            <a:spAutoFit/>
          </a:bodyPr>
          <a:lstStyle/>
          <a:p>
            <a:pPr>
              <a:lnSpc>
                <a:spcPct val="150000"/>
              </a:lnSpc>
            </a:pPr>
            <a:r>
              <a:rPr lang="en-US" sz="2800" b="1" dirty="0">
                <a:latin typeface="+mj-lt"/>
              </a:rPr>
              <a:t>2.6 Change Management and User Adoption</a:t>
            </a:r>
          </a:p>
          <a:p>
            <a:pPr>
              <a:lnSpc>
                <a:spcPct val="150000"/>
              </a:lnSpc>
            </a:pPr>
            <a:r>
              <a:rPr lang="en-US" sz="2800" dirty="0">
                <a:latin typeface="+mj-lt"/>
              </a:rPr>
              <a:t>Discuss employee resistance, training, leadership support, and </a:t>
            </a:r>
            <a:r>
              <a:rPr lang="en-US" sz="2800" dirty="0" err="1">
                <a:latin typeface="+mj-lt"/>
              </a:rPr>
              <a:t>organisational</a:t>
            </a:r>
            <a:r>
              <a:rPr lang="en-US" sz="2800" dirty="0">
                <a:latin typeface="+mj-lt"/>
              </a:rPr>
              <a:t> culture.</a:t>
            </a:r>
          </a:p>
          <a:p>
            <a:pPr>
              <a:lnSpc>
                <a:spcPct val="150000"/>
              </a:lnSpc>
            </a:pPr>
            <a:r>
              <a:rPr lang="en-US" sz="2800" b="1" dirty="0">
                <a:latin typeface="+mj-lt"/>
              </a:rPr>
              <a:t>2.7 Case Examples</a:t>
            </a:r>
          </a:p>
          <a:p>
            <a:pPr>
              <a:lnSpc>
                <a:spcPct val="150000"/>
              </a:lnSpc>
            </a:pPr>
            <a:r>
              <a:rPr lang="en-US" sz="2800" dirty="0">
                <a:latin typeface="+mj-lt"/>
              </a:rPr>
              <a:t>You may discuss examples such as SAP S/4HANA, Oracle ERP Cloud, Microsoft Dynamics 365, or Salesforce CRM.</a:t>
            </a:r>
          </a:p>
          <a:p>
            <a:pPr>
              <a:lnSpc>
                <a:spcPct val="150000"/>
              </a:lnSpc>
            </a:pPr>
            <a:r>
              <a:rPr lang="en-US" sz="2800" b="1" dirty="0">
                <a:latin typeface="+mj-lt"/>
              </a:rPr>
              <a:t>3. Conclusion</a:t>
            </a:r>
          </a:p>
          <a:p>
            <a:pPr>
              <a:lnSpc>
                <a:spcPct val="150000"/>
              </a:lnSpc>
            </a:pPr>
            <a:r>
              <a:rPr lang="en-US" sz="2800" dirty="0" err="1">
                <a:latin typeface="+mj-lt"/>
              </a:rPr>
              <a:t>Summarise</a:t>
            </a:r>
            <a:r>
              <a:rPr lang="en-US" sz="2800" dirty="0">
                <a:latin typeface="+mj-lt"/>
              </a:rPr>
              <a:t> the key findings. Do not introduce new ideas.</a:t>
            </a:r>
          </a:p>
        </p:txBody>
      </p:sp>
    </p:spTree>
    <p:extLst>
      <p:ext uri="{BB962C8B-B14F-4D97-AF65-F5344CB8AC3E}">
        <p14:creationId xmlns:p14="http://schemas.microsoft.com/office/powerpoint/2010/main" val="412005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1EEF-F700-E843-FDC4-69F9CBA3B007}"/>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C6D4F110-D520-399E-6112-CA2681E5C063}"/>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29AB1F24-3057-6F14-7B6C-E49AA298B209}"/>
              </a:ext>
            </a:extLst>
          </p:cNvPr>
          <p:cNvSpPr txBox="1"/>
          <p:nvPr/>
        </p:nvSpPr>
        <p:spPr>
          <a:xfrm>
            <a:off x="31898" y="1477248"/>
            <a:ext cx="11822538" cy="3903504"/>
          </a:xfrm>
          <a:prstGeom prst="rect">
            <a:avLst/>
          </a:prstGeom>
          <a:noFill/>
        </p:spPr>
        <p:txBody>
          <a:bodyPr wrap="square">
            <a:spAutoFit/>
          </a:bodyPr>
          <a:lstStyle/>
          <a:p>
            <a:pPr>
              <a:lnSpc>
                <a:spcPct val="150000"/>
              </a:lnSpc>
            </a:pPr>
            <a:r>
              <a:rPr lang="en-US" sz="2800" dirty="0">
                <a:latin typeface="+mj-lt"/>
              </a:rPr>
              <a:t>Example:</a:t>
            </a:r>
          </a:p>
          <a:p>
            <a:pPr>
              <a:lnSpc>
                <a:spcPct val="150000"/>
              </a:lnSpc>
            </a:pPr>
            <a:r>
              <a:rPr lang="en-US" sz="2800" dirty="0">
                <a:latin typeface="+mj-lt"/>
              </a:rPr>
              <a:t>In conclusion, AI-enabled enterprise systems can improve </a:t>
            </a:r>
            <a:r>
              <a:rPr lang="en-US" sz="2800" dirty="0" err="1">
                <a:latin typeface="+mj-lt"/>
              </a:rPr>
              <a:t>organisational</a:t>
            </a:r>
            <a:r>
              <a:rPr lang="en-US" sz="2800" dirty="0">
                <a:latin typeface="+mj-lt"/>
              </a:rPr>
              <a:t> agility and decision intelligence by enhancing automation, forecasting, and real-time decision support. However, these benefits depend on effective data governance, successful system integration, ethical AI practices, and strong change management.</a:t>
            </a:r>
          </a:p>
        </p:txBody>
      </p:sp>
    </p:spTree>
    <p:extLst>
      <p:ext uri="{BB962C8B-B14F-4D97-AF65-F5344CB8AC3E}">
        <p14:creationId xmlns:p14="http://schemas.microsoft.com/office/powerpoint/2010/main" val="3744364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8D18-83B5-B67C-C5A8-6DA85A28A2FC}"/>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281F8CA7-7639-F34D-D714-DEEF9AE460C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1E94F12-19AD-F2F4-E3DE-30990D7737BA}"/>
              </a:ext>
            </a:extLst>
          </p:cNvPr>
          <p:cNvSpPr txBox="1"/>
          <p:nvPr/>
        </p:nvSpPr>
        <p:spPr>
          <a:xfrm>
            <a:off x="184731" y="1800413"/>
            <a:ext cx="11822538" cy="3257174"/>
          </a:xfrm>
          <a:prstGeom prst="rect">
            <a:avLst/>
          </a:prstGeom>
          <a:noFill/>
        </p:spPr>
        <p:txBody>
          <a:bodyPr wrap="square">
            <a:spAutoFit/>
          </a:bodyPr>
          <a:lstStyle/>
          <a:p>
            <a:pPr>
              <a:lnSpc>
                <a:spcPct val="150000"/>
              </a:lnSpc>
            </a:pPr>
            <a:r>
              <a:rPr lang="en-US" sz="2800" b="1" dirty="0">
                <a:latin typeface="+mj-lt"/>
              </a:rPr>
              <a:t>4. References</a:t>
            </a:r>
          </a:p>
          <a:p>
            <a:pPr>
              <a:lnSpc>
                <a:spcPct val="150000"/>
              </a:lnSpc>
            </a:pPr>
            <a:r>
              <a:rPr lang="en-US" sz="2800" dirty="0">
                <a:latin typeface="+mj-lt"/>
              </a:rPr>
              <a:t>Use Adapted Harvard style. List references alphabetically by author surname and number them.</a:t>
            </a:r>
          </a:p>
          <a:p>
            <a:pPr>
              <a:lnSpc>
                <a:spcPct val="150000"/>
              </a:lnSpc>
            </a:pPr>
            <a:r>
              <a:rPr lang="en-US" sz="2800" b="1" dirty="0">
                <a:latin typeface="+mj-lt"/>
              </a:rPr>
              <a:t>5. Appendices</a:t>
            </a:r>
          </a:p>
          <a:p>
            <a:pPr>
              <a:lnSpc>
                <a:spcPct val="150000"/>
              </a:lnSpc>
            </a:pPr>
            <a:r>
              <a:rPr lang="en-US" sz="2800" dirty="0">
                <a:latin typeface="+mj-lt"/>
              </a:rPr>
              <a:t>Optional. Use for tables, diagrams, summaries of papers, or comparison charts.</a:t>
            </a:r>
          </a:p>
        </p:txBody>
      </p:sp>
    </p:spTree>
    <p:extLst>
      <p:ext uri="{BB962C8B-B14F-4D97-AF65-F5344CB8AC3E}">
        <p14:creationId xmlns:p14="http://schemas.microsoft.com/office/powerpoint/2010/main" val="4185519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3B3E-0D7B-4F3E-C8C3-A7FA4763F781}"/>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6A1072E6-3FEF-6B99-56B3-6A180C3989E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15D54A11-BDAD-82A5-AFEE-76A3A35769A2}"/>
              </a:ext>
            </a:extLst>
          </p:cNvPr>
          <p:cNvSpPr txBox="1"/>
          <p:nvPr/>
        </p:nvSpPr>
        <p:spPr>
          <a:xfrm>
            <a:off x="72656" y="797739"/>
            <a:ext cx="12119344" cy="6031908"/>
          </a:xfrm>
          <a:prstGeom prst="rect">
            <a:avLst/>
          </a:prstGeom>
          <a:noFill/>
        </p:spPr>
        <p:txBody>
          <a:bodyPr wrap="square">
            <a:spAutoFit/>
          </a:bodyPr>
          <a:lstStyle/>
          <a:p>
            <a:pPr>
              <a:lnSpc>
                <a:spcPct val="150000"/>
              </a:lnSpc>
            </a:pPr>
            <a:r>
              <a:rPr lang="en-US" sz="2600" b="1" dirty="0">
                <a:latin typeface="+mj-lt"/>
              </a:rPr>
              <a:t>6. Write Critically, Not Descriptively</a:t>
            </a:r>
          </a:p>
          <a:p>
            <a:pPr>
              <a:lnSpc>
                <a:spcPct val="150000"/>
              </a:lnSpc>
            </a:pPr>
            <a:r>
              <a:rPr lang="en-US" sz="2600" dirty="0">
                <a:latin typeface="+mj-lt"/>
              </a:rPr>
              <a:t>Do not only describe what each paper says. You must compare, evaluate, and critique.</a:t>
            </a:r>
          </a:p>
          <a:p>
            <a:pPr>
              <a:lnSpc>
                <a:spcPct val="150000"/>
              </a:lnSpc>
            </a:pPr>
            <a:r>
              <a:rPr lang="en-US" sz="2600" dirty="0">
                <a:latin typeface="+mj-lt"/>
              </a:rPr>
              <a:t>Weak writing:</a:t>
            </a:r>
          </a:p>
          <a:p>
            <a:pPr>
              <a:lnSpc>
                <a:spcPct val="150000"/>
              </a:lnSpc>
            </a:pPr>
            <a:r>
              <a:rPr lang="en-US" sz="2600" dirty="0">
                <a:latin typeface="+mj-lt"/>
              </a:rPr>
              <a:t>AI helps ERP systems. Many companies use AI. AI improves decisions.</a:t>
            </a:r>
          </a:p>
          <a:p>
            <a:pPr>
              <a:lnSpc>
                <a:spcPct val="150000"/>
              </a:lnSpc>
            </a:pPr>
            <a:r>
              <a:rPr lang="en-US" sz="2600" dirty="0">
                <a:latin typeface="+mj-lt"/>
              </a:rPr>
              <a:t>Better writing:</a:t>
            </a:r>
          </a:p>
          <a:p>
            <a:pPr>
              <a:lnSpc>
                <a:spcPct val="150000"/>
              </a:lnSpc>
            </a:pPr>
            <a:r>
              <a:rPr lang="en-US" sz="2600" dirty="0">
                <a:latin typeface="+mj-lt"/>
              </a:rPr>
              <a:t>While several studies suggest that AI-enabled ERP systems improve decision-making through predictive analytics, these benefits are often limited by poor data quality, lack of user trust, and integration difficulties with legacy systems. Therefore, AI adoption should be understood not only as a technical upgrade but also as an </a:t>
            </a:r>
            <a:r>
              <a:rPr lang="en-US" sz="2600" dirty="0" err="1">
                <a:latin typeface="+mj-lt"/>
              </a:rPr>
              <a:t>organisational</a:t>
            </a:r>
            <a:r>
              <a:rPr lang="en-US" sz="2600" dirty="0">
                <a:latin typeface="+mj-lt"/>
              </a:rPr>
              <a:t> change process.</a:t>
            </a:r>
          </a:p>
        </p:txBody>
      </p:sp>
    </p:spTree>
    <p:extLst>
      <p:ext uri="{BB962C8B-B14F-4D97-AF65-F5344CB8AC3E}">
        <p14:creationId xmlns:p14="http://schemas.microsoft.com/office/powerpoint/2010/main" val="4220369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9301-228D-08D6-BD6A-E17F7BEB4DC5}"/>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5AD3931B-0FCD-AC8E-8C55-71E44051A1AF}"/>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5A56A16E-CA40-82D2-C703-3F54BC3F863B}"/>
              </a:ext>
            </a:extLst>
          </p:cNvPr>
          <p:cNvSpPr txBox="1"/>
          <p:nvPr/>
        </p:nvSpPr>
        <p:spPr>
          <a:xfrm>
            <a:off x="72656" y="1477248"/>
            <a:ext cx="12119344" cy="3903504"/>
          </a:xfrm>
          <a:prstGeom prst="rect">
            <a:avLst/>
          </a:prstGeom>
          <a:noFill/>
        </p:spPr>
        <p:txBody>
          <a:bodyPr wrap="square">
            <a:spAutoFit/>
          </a:bodyPr>
          <a:lstStyle/>
          <a:p>
            <a:pPr>
              <a:lnSpc>
                <a:spcPct val="150000"/>
              </a:lnSpc>
            </a:pPr>
            <a:r>
              <a:rPr lang="en-US" sz="2800" b="1" dirty="0">
                <a:latin typeface="+mj-lt"/>
              </a:rPr>
              <a:t>7. Use Evidence in Every Main Paragraph</a:t>
            </a:r>
          </a:p>
          <a:p>
            <a:pPr>
              <a:lnSpc>
                <a:spcPct val="150000"/>
              </a:lnSpc>
            </a:pPr>
            <a:r>
              <a:rPr lang="en-US" sz="2800" dirty="0">
                <a:latin typeface="+mj-lt"/>
              </a:rPr>
              <a:t>Each main paragraph should include:</a:t>
            </a:r>
          </a:p>
          <a:p>
            <a:pPr marL="808038" indent="-457200">
              <a:lnSpc>
                <a:spcPct val="150000"/>
              </a:lnSpc>
              <a:buFont typeface="Arial" panose="020B0604020202020204" pitchFamily="34" charset="0"/>
              <a:buChar char="•"/>
            </a:pPr>
            <a:r>
              <a:rPr lang="en-US" sz="2800" dirty="0">
                <a:latin typeface="+mj-lt"/>
              </a:rPr>
              <a:t>One clear point </a:t>
            </a:r>
          </a:p>
          <a:p>
            <a:pPr marL="808038" indent="-457200">
              <a:lnSpc>
                <a:spcPct val="150000"/>
              </a:lnSpc>
              <a:buFont typeface="Arial" panose="020B0604020202020204" pitchFamily="34" charset="0"/>
              <a:buChar char="•"/>
            </a:pPr>
            <a:r>
              <a:rPr lang="en-US" sz="2800" dirty="0">
                <a:latin typeface="+mj-lt"/>
              </a:rPr>
              <a:t>Evidence from academic sources </a:t>
            </a:r>
          </a:p>
          <a:p>
            <a:pPr marL="808038" indent="-457200">
              <a:lnSpc>
                <a:spcPct val="150000"/>
              </a:lnSpc>
              <a:buFont typeface="Arial" panose="020B0604020202020204" pitchFamily="34" charset="0"/>
              <a:buChar char="•"/>
            </a:pPr>
            <a:r>
              <a:rPr lang="en-US" sz="2800" dirty="0">
                <a:latin typeface="+mj-lt"/>
              </a:rPr>
              <a:t>Critical explanation </a:t>
            </a:r>
          </a:p>
          <a:p>
            <a:pPr marL="808038" indent="-457200">
              <a:lnSpc>
                <a:spcPct val="150000"/>
              </a:lnSpc>
              <a:buFont typeface="Arial" panose="020B0604020202020204" pitchFamily="34" charset="0"/>
              <a:buChar char="•"/>
            </a:pPr>
            <a:r>
              <a:rPr lang="en-US" sz="2800" dirty="0">
                <a:latin typeface="+mj-lt"/>
              </a:rPr>
              <a:t>Link back to the assignment topic</a:t>
            </a:r>
          </a:p>
        </p:txBody>
      </p:sp>
    </p:spTree>
    <p:extLst>
      <p:ext uri="{BB962C8B-B14F-4D97-AF65-F5344CB8AC3E}">
        <p14:creationId xmlns:p14="http://schemas.microsoft.com/office/powerpoint/2010/main" val="498837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4582A-0557-44B2-A822-095F236B333A}"/>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8054355E-2CE5-99D1-EEB2-4A78945D87F9}"/>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020F146D-CA9C-BD89-6D85-0A28DC6B34C4}"/>
              </a:ext>
            </a:extLst>
          </p:cNvPr>
          <p:cNvSpPr txBox="1"/>
          <p:nvPr/>
        </p:nvSpPr>
        <p:spPr>
          <a:xfrm>
            <a:off x="72656" y="1600200"/>
            <a:ext cx="12119344" cy="4549835"/>
          </a:xfrm>
          <a:prstGeom prst="rect">
            <a:avLst/>
          </a:prstGeom>
          <a:noFill/>
        </p:spPr>
        <p:txBody>
          <a:bodyPr wrap="square">
            <a:spAutoFit/>
          </a:bodyPr>
          <a:lstStyle/>
          <a:p>
            <a:pPr>
              <a:lnSpc>
                <a:spcPct val="150000"/>
              </a:lnSpc>
            </a:pPr>
            <a:r>
              <a:rPr lang="en-US" sz="2800" b="1" dirty="0">
                <a:latin typeface="+mj-lt"/>
              </a:rPr>
              <a:t>Example structure:</a:t>
            </a:r>
          </a:p>
          <a:p>
            <a:pPr>
              <a:lnSpc>
                <a:spcPct val="150000"/>
              </a:lnSpc>
            </a:pPr>
            <a:r>
              <a:rPr lang="en-US" sz="2800" dirty="0">
                <a:latin typeface="+mj-lt"/>
              </a:rPr>
              <a:t>AI-enabled enterprise systems can improve </a:t>
            </a:r>
            <a:r>
              <a:rPr lang="en-US" sz="2800" dirty="0" err="1">
                <a:latin typeface="+mj-lt"/>
              </a:rPr>
              <a:t>organisational</a:t>
            </a:r>
            <a:r>
              <a:rPr lang="en-US" sz="2800" dirty="0">
                <a:latin typeface="+mj-lt"/>
              </a:rPr>
              <a:t> agility by enabling faster access to real-time operational data. According to [Author] ([Year], p. X para. X), predictive analytics allows managers to identify supply chain risks before they become major disruptions. However, this benefit depends on the quality and availability of </a:t>
            </a:r>
            <a:r>
              <a:rPr lang="en-US" sz="2800" dirty="0" err="1">
                <a:latin typeface="+mj-lt"/>
              </a:rPr>
              <a:t>organisational</a:t>
            </a:r>
            <a:r>
              <a:rPr lang="en-US" sz="2800" dirty="0">
                <a:latin typeface="+mj-lt"/>
              </a:rPr>
              <a:t> data. Therefore, AI improves agility only when supported by strong data governance and integrated business processes.</a:t>
            </a:r>
          </a:p>
        </p:txBody>
      </p:sp>
    </p:spTree>
    <p:extLst>
      <p:ext uri="{BB962C8B-B14F-4D97-AF65-F5344CB8AC3E}">
        <p14:creationId xmlns:p14="http://schemas.microsoft.com/office/powerpoint/2010/main" val="3898909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1F1C-CF58-8ABA-B140-E73BB7323CE1}"/>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74A98645-74A9-AD10-ECD9-DDF501CA8C8F}"/>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0C33BA8-10E7-B319-8F7A-9CE84EC243D7}"/>
              </a:ext>
            </a:extLst>
          </p:cNvPr>
          <p:cNvSpPr txBox="1"/>
          <p:nvPr/>
        </p:nvSpPr>
        <p:spPr>
          <a:xfrm>
            <a:off x="36328" y="1477248"/>
            <a:ext cx="12119344" cy="3903504"/>
          </a:xfrm>
          <a:prstGeom prst="rect">
            <a:avLst/>
          </a:prstGeom>
          <a:noFill/>
        </p:spPr>
        <p:txBody>
          <a:bodyPr wrap="square">
            <a:spAutoFit/>
          </a:bodyPr>
          <a:lstStyle/>
          <a:p>
            <a:pPr>
              <a:lnSpc>
                <a:spcPct val="150000"/>
              </a:lnSpc>
            </a:pPr>
            <a:r>
              <a:rPr lang="en-US" sz="2800" b="1" dirty="0">
                <a:latin typeface="+mj-lt"/>
              </a:rPr>
              <a:t>8. Referencing Rules</a:t>
            </a:r>
          </a:p>
          <a:p>
            <a:pPr>
              <a:lnSpc>
                <a:spcPct val="150000"/>
              </a:lnSpc>
            </a:pPr>
            <a:r>
              <a:rPr lang="en-US" sz="2800" dirty="0">
                <a:latin typeface="+mj-lt"/>
              </a:rPr>
              <a:t>You must include in-text citations with:</a:t>
            </a:r>
          </a:p>
          <a:p>
            <a:pPr marL="627063" indent="-457200">
              <a:lnSpc>
                <a:spcPct val="150000"/>
              </a:lnSpc>
              <a:buFont typeface="Arial" panose="020B0604020202020204" pitchFamily="34" charset="0"/>
              <a:buChar char="•"/>
            </a:pPr>
            <a:r>
              <a:rPr lang="en-US" sz="2800" dirty="0">
                <a:latin typeface="+mj-lt"/>
              </a:rPr>
              <a:t>Author surname </a:t>
            </a:r>
          </a:p>
          <a:p>
            <a:pPr marL="627063" indent="-457200">
              <a:lnSpc>
                <a:spcPct val="150000"/>
              </a:lnSpc>
              <a:buFont typeface="Arial" panose="020B0604020202020204" pitchFamily="34" charset="0"/>
              <a:buChar char="•"/>
            </a:pPr>
            <a:r>
              <a:rPr lang="en-US" sz="2800" dirty="0">
                <a:latin typeface="+mj-lt"/>
              </a:rPr>
              <a:t>Year </a:t>
            </a:r>
          </a:p>
          <a:p>
            <a:pPr marL="627063" indent="-457200">
              <a:lnSpc>
                <a:spcPct val="150000"/>
              </a:lnSpc>
              <a:buFont typeface="Arial" panose="020B0604020202020204" pitchFamily="34" charset="0"/>
              <a:buChar char="•"/>
            </a:pPr>
            <a:r>
              <a:rPr lang="en-US" sz="2800" dirty="0">
                <a:latin typeface="+mj-lt"/>
              </a:rPr>
              <a:t>Page number </a:t>
            </a:r>
          </a:p>
          <a:p>
            <a:pPr marL="627063" indent="-457200">
              <a:lnSpc>
                <a:spcPct val="150000"/>
              </a:lnSpc>
              <a:buFont typeface="Arial" panose="020B0604020202020204" pitchFamily="34" charset="0"/>
              <a:buChar char="•"/>
            </a:pPr>
            <a:r>
              <a:rPr lang="en-US" sz="2800" dirty="0">
                <a:latin typeface="+mj-lt"/>
              </a:rPr>
              <a:t>Paragraph number</a:t>
            </a:r>
          </a:p>
        </p:txBody>
      </p:sp>
    </p:spTree>
    <p:extLst>
      <p:ext uri="{BB962C8B-B14F-4D97-AF65-F5344CB8AC3E}">
        <p14:creationId xmlns:p14="http://schemas.microsoft.com/office/powerpoint/2010/main" val="345189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F5B93-BD99-D891-61DE-61B2065F0FB6}"/>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59FDEE2B-9327-6F4C-0A7F-6FF5326B9E8C}"/>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028C1BC2-BC38-B373-0910-8F7958C4BB43}"/>
              </a:ext>
            </a:extLst>
          </p:cNvPr>
          <p:cNvSpPr txBox="1"/>
          <p:nvPr/>
        </p:nvSpPr>
        <p:spPr>
          <a:xfrm>
            <a:off x="-15949" y="786903"/>
            <a:ext cx="12119344" cy="5842497"/>
          </a:xfrm>
          <a:prstGeom prst="rect">
            <a:avLst/>
          </a:prstGeom>
          <a:noFill/>
        </p:spPr>
        <p:txBody>
          <a:bodyPr wrap="square">
            <a:spAutoFit/>
          </a:bodyPr>
          <a:lstStyle/>
          <a:p>
            <a:pPr>
              <a:lnSpc>
                <a:spcPct val="150000"/>
              </a:lnSpc>
            </a:pPr>
            <a:r>
              <a:rPr lang="en-US" sz="2800" dirty="0">
                <a:latin typeface="+mj-lt"/>
              </a:rPr>
              <a:t>Example:</a:t>
            </a:r>
          </a:p>
          <a:p>
            <a:pPr>
              <a:lnSpc>
                <a:spcPct val="150000"/>
              </a:lnSpc>
            </a:pPr>
            <a:r>
              <a:rPr lang="en-US" sz="2800" dirty="0">
                <a:latin typeface="+mj-lt"/>
              </a:rPr>
              <a:t>AI-enabled ERP systems can support strategic decision-making by integrating predictive analytics into business processes (Hawking et al., 2004, p.3 para.4).</a:t>
            </a:r>
          </a:p>
          <a:p>
            <a:pPr>
              <a:lnSpc>
                <a:spcPct val="150000"/>
              </a:lnSpc>
            </a:pPr>
            <a:r>
              <a:rPr lang="en-US" sz="2800" dirty="0">
                <a:latin typeface="+mj-lt"/>
              </a:rPr>
              <a:t>Reference list example:</a:t>
            </a:r>
          </a:p>
          <a:p>
            <a:pPr marL="514350" indent="-514350">
              <a:lnSpc>
                <a:spcPct val="150000"/>
              </a:lnSpc>
              <a:buFont typeface="+mj-lt"/>
              <a:buAutoNum type="arabicPeriod"/>
            </a:pPr>
            <a:r>
              <a:rPr lang="en-US" sz="2800" dirty="0">
                <a:latin typeface="+mj-lt"/>
              </a:rPr>
              <a:t>Hawking, P., McCarthy, B. &amp; Stein, A. 2004, ‘Second Wave ERP Education’, </a:t>
            </a:r>
            <a:r>
              <a:rPr lang="en-US" sz="2800" i="1" dirty="0">
                <a:latin typeface="+mj-lt"/>
              </a:rPr>
              <a:t>Journal of Information Systems Education</a:t>
            </a:r>
            <a:r>
              <a:rPr lang="en-US" sz="2800" dirty="0">
                <a:latin typeface="+mj-lt"/>
              </a:rPr>
              <a:t>, Fall, available at: </a:t>
            </a:r>
            <a:r>
              <a:rPr lang="en-US" sz="2800" dirty="0">
                <a:latin typeface="+mj-lt"/>
                <a:hlinkClick r:id="rId2"/>
              </a:rPr>
              <a:t>http://jise.org/Volume15/n3/JISEv15n3p327.pdf</a:t>
            </a:r>
            <a:r>
              <a:rPr lang="en-US" sz="2800" dirty="0">
                <a:latin typeface="+mj-lt"/>
              </a:rPr>
              <a:t> </a:t>
            </a:r>
          </a:p>
          <a:p>
            <a:pPr>
              <a:lnSpc>
                <a:spcPct val="150000"/>
              </a:lnSpc>
            </a:pPr>
            <a:r>
              <a:rPr lang="en-US" sz="2800" dirty="0">
                <a:latin typeface="+mj-lt"/>
              </a:rPr>
              <a:t>Do not include fake references. Fake citations may be treated as academic misconduct.</a:t>
            </a:r>
          </a:p>
        </p:txBody>
      </p:sp>
    </p:spTree>
    <p:extLst>
      <p:ext uri="{BB962C8B-B14F-4D97-AF65-F5344CB8AC3E}">
        <p14:creationId xmlns:p14="http://schemas.microsoft.com/office/powerpoint/2010/main" val="1087962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3D21-5722-7BE4-6326-F63A294A0E1F}"/>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B5CE0E1B-F3D3-BF4E-60D1-38C27882CD9D}"/>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E8484F93-7198-9C25-F9D6-6CA5CEB60124}"/>
              </a:ext>
            </a:extLst>
          </p:cNvPr>
          <p:cNvSpPr txBox="1"/>
          <p:nvPr/>
        </p:nvSpPr>
        <p:spPr>
          <a:xfrm>
            <a:off x="-15949" y="786903"/>
            <a:ext cx="12119344" cy="5196166"/>
          </a:xfrm>
          <a:prstGeom prst="rect">
            <a:avLst/>
          </a:prstGeom>
          <a:noFill/>
        </p:spPr>
        <p:txBody>
          <a:bodyPr wrap="square">
            <a:spAutoFit/>
          </a:bodyPr>
          <a:lstStyle/>
          <a:p>
            <a:pPr>
              <a:lnSpc>
                <a:spcPct val="150000"/>
              </a:lnSpc>
            </a:pPr>
            <a:r>
              <a:rPr lang="en-US" sz="2800" b="1" dirty="0">
                <a:latin typeface="+mj-lt"/>
              </a:rPr>
              <a:t>9. What to Do</a:t>
            </a:r>
          </a:p>
          <a:p>
            <a:pPr>
              <a:lnSpc>
                <a:spcPct val="150000"/>
              </a:lnSpc>
            </a:pPr>
            <a:r>
              <a:rPr lang="en-US" sz="2800" dirty="0">
                <a:latin typeface="+mj-lt"/>
              </a:rPr>
              <a:t>Students should:</a:t>
            </a:r>
          </a:p>
          <a:p>
            <a:pPr marL="542925" indent="-342900">
              <a:lnSpc>
                <a:spcPct val="150000"/>
              </a:lnSpc>
              <a:buFont typeface="Arial" panose="020B0604020202020204" pitchFamily="34" charset="0"/>
              <a:buChar char="•"/>
            </a:pPr>
            <a:r>
              <a:rPr lang="en-US" sz="2800" dirty="0">
                <a:latin typeface="+mj-lt"/>
              </a:rPr>
              <a:t>Start early </a:t>
            </a:r>
          </a:p>
          <a:p>
            <a:pPr marL="542925" indent="-342900">
              <a:lnSpc>
                <a:spcPct val="150000"/>
              </a:lnSpc>
              <a:buFont typeface="Arial" panose="020B0604020202020204" pitchFamily="34" charset="0"/>
              <a:buChar char="•"/>
            </a:pPr>
            <a:r>
              <a:rPr lang="en-US" sz="2800" dirty="0">
                <a:latin typeface="+mj-lt"/>
              </a:rPr>
              <a:t>Use at least 10 academic sources </a:t>
            </a:r>
          </a:p>
          <a:p>
            <a:pPr marL="542925" indent="-342900">
              <a:lnSpc>
                <a:spcPct val="150000"/>
              </a:lnSpc>
              <a:buFont typeface="Arial" panose="020B0604020202020204" pitchFamily="34" charset="0"/>
              <a:buChar char="•"/>
            </a:pPr>
            <a:r>
              <a:rPr lang="en-US" sz="2800" dirty="0">
                <a:latin typeface="+mj-lt"/>
              </a:rPr>
              <a:t>Read the papers carefully </a:t>
            </a:r>
          </a:p>
          <a:p>
            <a:pPr marL="542925" indent="-342900">
              <a:lnSpc>
                <a:spcPct val="150000"/>
              </a:lnSpc>
              <a:buFont typeface="Arial" panose="020B0604020202020204" pitchFamily="34" charset="0"/>
              <a:buChar char="•"/>
            </a:pPr>
            <a:r>
              <a:rPr lang="en-US" sz="2800" dirty="0">
                <a:latin typeface="+mj-lt"/>
              </a:rPr>
              <a:t>Use proper in-text citations </a:t>
            </a:r>
          </a:p>
          <a:p>
            <a:pPr marL="542925" indent="-342900">
              <a:lnSpc>
                <a:spcPct val="150000"/>
              </a:lnSpc>
              <a:buFont typeface="Arial" panose="020B0604020202020204" pitchFamily="34" charset="0"/>
              <a:buChar char="•"/>
            </a:pPr>
            <a:r>
              <a:rPr lang="en-US" sz="2800" dirty="0">
                <a:latin typeface="+mj-lt"/>
              </a:rPr>
              <a:t>Compare and critique sources </a:t>
            </a:r>
          </a:p>
          <a:p>
            <a:pPr marL="542925" indent="-342900">
              <a:lnSpc>
                <a:spcPct val="150000"/>
              </a:lnSpc>
              <a:buFont typeface="Arial" panose="020B0604020202020204" pitchFamily="34" charset="0"/>
              <a:buChar char="•"/>
            </a:pPr>
            <a:r>
              <a:rPr lang="en-US" sz="2800" dirty="0">
                <a:latin typeface="+mj-lt"/>
              </a:rPr>
              <a:t>Use clear numbered headings</a:t>
            </a:r>
          </a:p>
        </p:txBody>
      </p:sp>
    </p:spTree>
    <p:extLst>
      <p:ext uri="{BB962C8B-B14F-4D97-AF65-F5344CB8AC3E}">
        <p14:creationId xmlns:p14="http://schemas.microsoft.com/office/powerpoint/2010/main" val="4180104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01B07-6B99-47C8-50D8-DAF355B8ED5C}"/>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2FCAA795-1AE4-C511-1763-BFA7FC7604FD}"/>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9C7B81F2-7F4A-1A0C-5740-13ABAE3326AC}"/>
              </a:ext>
            </a:extLst>
          </p:cNvPr>
          <p:cNvSpPr txBox="1"/>
          <p:nvPr/>
        </p:nvSpPr>
        <p:spPr>
          <a:xfrm>
            <a:off x="-15949" y="786903"/>
            <a:ext cx="12119344" cy="2610843"/>
          </a:xfrm>
          <a:prstGeom prst="rect">
            <a:avLst/>
          </a:prstGeom>
          <a:noFill/>
        </p:spPr>
        <p:txBody>
          <a:bodyPr wrap="square">
            <a:spAutoFit/>
          </a:bodyPr>
          <a:lstStyle/>
          <a:p>
            <a:pPr marL="542925" indent="-342900">
              <a:lnSpc>
                <a:spcPct val="150000"/>
              </a:lnSpc>
              <a:buFont typeface="Arial" panose="020B0604020202020204" pitchFamily="34" charset="0"/>
              <a:buChar char="•"/>
            </a:pPr>
            <a:r>
              <a:rPr lang="en-US" sz="2800" dirty="0">
                <a:latin typeface="+mj-lt"/>
              </a:rPr>
              <a:t>Keep the topic focused </a:t>
            </a:r>
          </a:p>
          <a:p>
            <a:pPr marL="542925" indent="-342900">
              <a:lnSpc>
                <a:spcPct val="150000"/>
              </a:lnSpc>
              <a:buFont typeface="Arial" panose="020B0604020202020204" pitchFamily="34" charset="0"/>
              <a:buChar char="•"/>
            </a:pPr>
            <a:r>
              <a:rPr lang="en-US" sz="2800" dirty="0">
                <a:latin typeface="+mj-lt"/>
              </a:rPr>
              <a:t>Proofread before submission </a:t>
            </a:r>
          </a:p>
          <a:p>
            <a:pPr marL="542925" indent="-342900">
              <a:lnSpc>
                <a:spcPct val="150000"/>
              </a:lnSpc>
              <a:buFont typeface="Arial" panose="020B0604020202020204" pitchFamily="34" charset="0"/>
              <a:buChar char="•"/>
            </a:pPr>
            <a:r>
              <a:rPr lang="en-US" sz="2800" dirty="0">
                <a:latin typeface="+mj-lt"/>
              </a:rPr>
              <a:t>Check similarity before final upload </a:t>
            </a:r>
          </a:p>
          <a:p>
            <a:pPr marL="542925" indent="-342900">
              <a:lnSpc>
                <a:spcPct val="150000"/>
              </a:lnSpc>
              <a:buFont typeface="Arial" panose="020B0604020202020204" pitchFamily="34" charset="0"/>
              <a:buChar char="•"/>
            </a:pPr>
            <a:r>
              <a:rPr lang="en-US" sz="2800" dirty="0">
                <a:latin typeface="+mj-lt"/>
              </a:rPr>
              <a:t>Submit before 12 June 2026, 11:59 pm</a:t>
            </a:r>
          </a:p>
        </p:txBody>
      </p:sp>
    </p:spTree>
    <p:extLst>
      <p:ext uri="{BB962C8B-B14F-4D97-AF65-F5344CB8AC3E}">
        <p14:creationId xmlns:p14="http://schemas.microsoft.com/office/powerpoint/2010/main" val="3720277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2560E-79F5-410B-8C16-2601E965CE15}"/>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9A465BCA-0858-D867-9165-A7DA8B68C4B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2633DF3-AFBC-084B-16AB-6A4C85A734ED}"/>
              </a:ext>
            </a:extLst>
          </p:cNvPr>
          <p:cNvSpPr txBox="1"/>
          <p:nvPr/>
        </p:nvSpPr>
        <p:spPr>
          <a:xfrm>
            <a:off x="-15949" y="786903"/>
            <a:ext cx="12119344" cy="5196166"/>
          </a:xfrm>
          <a:prstGeom prst="rect">
            <a:avLst/>
          </a:prstGeom>
          <a:noFill/>
        </p:spPr>
        <p:txBody>
          <a:bodyPr wrap="square">
            <a:spAutoFit/>
          </a:bodyPr>
          <a:lstStyle/>
          <a:p>
            <a:pPr>
              <a:lnSpc>
                <a:spcPct val="150000"/>
              </a:lnSpc>
            </a:pPr>
            <a:r>
              <a:rPr lang="en-US" sz="2800" b="1" dirty="0">
                <a:latin typeface="+mj-lt"/>
              </a:rPr>
              <a:t>10. What to Avoid</a:t>
            </a:r>
          </a:p>
          <a:p>
            <a:pPr>
              <a:lnSpc>
                <a:spcPct val="150000"/>
              </a:lnSpc>
            </a:pPr>
            <a:r>
              <a:rPr lang="en-US" sz="2800" dirty="0">
                <a:latin typeface="+mj-lt"/>
              </a:rPr>
              <a:t>Avoid:</a:t>
            </a:r>
          </a:p>
          <a:p>
            <a:pPr marL="627063" lvl="1" indent="-342900">
              <a:lnSpc>
                <a:spcPct val="150000"/>
              </a:lnSpc>
              <a:buFont typeface="Arial" panose="020B0604020202020204" pitchFamily="34" charset="0"/>
              <a:buChar char="•"/>
            </a:pPr>
            <a:r>
              <a:rPr lang="en-US" sz="2800" dirty="0">
                <a:latin typeface="+mj-lt"/>
              </a:rPr>
              <a:t>Writing a general essay about AI only </a:t>
            </a:r>
          </a:p>
          <a:p>
            <a:pPr marL="627063" lvl="1" indent="-342900">
              <a:lnSpc>
                <a:spcPct val="150000"/>
              </a:lnSpc>
              <a:buFont typeface="Arial" panose="020B0604020202020204" pitchFamily="34" charset="0"/>
              <a:buChar char="•"/>
            </a:pPr>
            <a:r>
              <a:rPr lang="en-US" sz="2800" dirty="0">
                <a:latin typeface="+mj-lt"/>
              </a:rPr>
              <a:t>Ignoring enterprise systems </a:t>
            </a:r>
          </a:p>
          <a:p>
            <a:pPr marL="627063" lvl="1" indent="-342900">
              <a:lnSpc>
                <a:spcPct val="150000"/>
              </a:lnSpc>
              <a:buFont typeface="Arial" panose="020B0604020202020204" pitchFamily="34" charset="0"/>
              <a:buChar char="•"/>
            </a:pPr>
            <a:r>
              <a:rPr lang="en-US" sz="2800" dirty="0">
                <a:latin typeface="+mj-lt"/>
              </a:rPr>
              <a:t>Using fewer than 10 academic papers </a:t>
            </a:r>
          </a:p>
          <a:p>
            <a:pPr marL="627063" lvl="1" indent="-342900">
              <a:lnSpc>
                <a:spcPct val="150000"/>
              </a:lnSpc>
              <a:buFont typeface="Arial" panose="020B0604020202020204" pitchFamily="34" charset="0"/>
              <a:buChar char="•"/>
            </a:pPr>
            <a:r>
              <a:rPr lang="en-US" sz="2800" dirty="0">
                <a:latin typeface="+mj-lt"/>
              </a:rPr>
              <a:t>Using fake or inaccessible references </a:t>
            </a:r>
          </a:p>
          <a:p>
            <a:pPr marL="627063" lvl="1" indent="-342900">
              <a:lnSpc>
                <a:spcPct val="150000"/>
              </a:lnSpc>
              <a:buFont typeface="Arial" panose="020B0604020202020204" pitchFamily="34" charset="0"/>
              <a:buChar char="•"/>
            </a:pPr>
            <a:r>
              <a:rPr lang="en-US" sz="2800" dirty="0">
                <a:latin typeface="+mj-lt"/>
              </a:rPr>
              <a:t>Copying text from sources </a:t>
            </a:r>
          </a:p>
          <a:p>
            <a:pPr marL="627063" lvl="1" indent="-342900">
              <a:lnSpc>
                <a:spcPct val="150000"/>
              </a:lnSpc>
              <a:buFont typeface="Arial" panose="020B0604020202020204" pitchFamily="34" charset="0"/>
              <a:buChar char="•"/>
            </a:pPr>
            <a:r>
              <a:rPr lang="en-US" sz="2800" dirty="0">
                <a:latin typeface="+mj-lt"/>
              </a:rPr>
              <a:t>Overusing direct quotations</a:t>
            </a:r>
          </a:p>
        </p:txBody>
      </p:sp>
    </p:spTree>
    <p:extLst>
      <p:ext uri="{BB962C8B-B14F-4D97-AF65-F5344CB8AC3E}">
        <p14:creationId xmlns:p14="http://schemas.microsoft.com/office/powerpoint/2010/main" val="314923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2F85A-86DB-77F9-52BC-35442E46E11F}"/>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346C705E-0FC2-B03F-F80E-F4B088E43A5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DD3664C9-A902-C00C-2742-FD8069DDA4DD}"/>
              </a:ext>
            </a:extLst>
          </p:cNvPr>
          <p:cNvSpPr txBox="1"/>
          <p:nvPr/>
        </p:nvSpPr>
        <p:spPr>
          <a:xfrm>
            <a:off x="-15949" y="786903"/>
            <a:ext cx="12119344" cy="3257174"/>
          </a:xfrm>
          <a:prstGeom prst="rect">
            <a:avLst/>
          </a:prstGeom>
          <a:noFill/>
        </p:spPr>
        <p:txBody>
          <a:bodyPr wrap="square">
            <a:spAutoFit/>
          </a:bodyPr>
          <a:lstStyle/>
          <a:p>
            <a:pPr marL="627063" lvl="1" indent="-342900">
              <a:lnSpc>
                <a:spcPct val="150000"/>
              </a:lnSpc>
              <a:buFont typeface="Arial" panose="020B0604020202020204" pitchFamily="34" charset="0"/>
              <a:buChar char="•"/>
            </a:pPr>
            <a:r>
              <a:rPr lang="en-US" sz="2800" dirty="0">
                <a:latin typeface="+mj-lt"/>
              </a:rPr>
              <a:t>Submitting AI-generated content without checking and rewriting </a:t>
            </a:r>
          </a:p>
          <a:p>
            <a:pPr marL="627063" lvl="1" indent="-342900">
              <a:lnSpc>
                <a:spcPct val="150000"/>
              </a:lnSpc>
              <a:buFont typeface="Arial" panose="020B0604020202020204" pitchFamily="34" charset="0"/>
              <a:buChar char="•"/>
            </a:pPr>
            <a:r>
              <a:rPr lang="en-US" sz="2800" dirty="0">
                <a:latin typeface="+mj-lt"/>
              </a:rPr>
              <a:t>Using blogs as main evidence </a:t>
            </a:r>
          </a:p>
          <a:p>
            <a:pPr marL="627063" lvl="1" indent="-342900">
              <a:lnSpc>
                <a:spcPct val="150000"/>
              </a:lnSpc>
              <a:buFont typeface="Arial" panose="020B0604020202020204" pitchFamily="34" charset="0"/>
              <a:buChar char="•"/>
            </a:pPr>
            <a:r>
              <a:rPr lang="en-US" sz="2800" dirty="0">
                <a:latin typeface="+mj-lt"/>
              </a:rPr>
              <a:t>Writing without page and paragraph citations </a:t>
            </a:r>
          </a:p>
          <a:p>
            <a:pPr marL="627063" lvl="1" indent="-342900">
              <a:lnSpc>
                <a:spcPct val="150000"/>
              </a:lnSpc>
              <a:buFont typeface="Arial" panose="020B0604020202020204" pitchFamily="34" charset="0"/>
              <a:buChar char="•"/>
            </a:pPr>
            <a:r>
              <a:rPr lang="en-US" sz="2800" dirty="0">
                <a:latin typeface="+mj-lt"/>
              </a:rPr>
              <a:t>Leaving the conclusion too short </a:t>
            </a:r>
          </a:p>
          <a:p>
            <a:pPr marL="627063" lvl="1" indent="-342900">
              <a:lnSpc>
                <a:spcPct val="150000"/>
              </a:lnSpc>
              <a:buFont typeface="Arial" panose="020B0604020202020204" pitchFamily="34" charset="0"/>
              <a:buChar char="•"/>
            </a:pPr>
            <a:r>
              <a:rPr lang="en-US" sz="2800" dirty="0">
                <a:latin typeface="+mj-lt"/>
              </a:rPr>
              <a:t>Submitting late</a:t>
            </a:r>
          </a:p>
        </p:txBody>
      </p:sp>
    </p:spTree>
    <p:extLst>
      <p:ext uri="{BB962C8B-B14F-4D97-AF65-F5344CB8AC3E}">
        <p14:creationId xmlns:p14="http://schemas.microsoft.com/office/powerpoint/2010/main" val="2721402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0C8F5-09ED-B38B-D43F-0AED48E35115}"/>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8B0BAAE-CEE4-D66C-BAEB-DF49C805AE94}"/>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99DBB99-E931-109E-4D8F-943296561158}"/>
              </a:ext>
            </a:extLst>
          </p:cNvPr>
          <p:cNvSpPr txBox="1"/>
          <p:nvPr/>
        </p:nvSpPr>
        <p:spPr>
          <a:xfrm>
            <a:off x="-15949" y="786903"/>
            <a:ext cx="12119344" cy="5196166"/>
          </a:xfrm>
          <a:prstGeom prst="rect">
            <a:avLst/>
          </a:prstGeom>
          <a:noFill/>
        </p:spPr>
        <p:txBody>
          <a:bodyPr wrap="square">
            <a:spAutoFit/>
          </a:bodyPr>
          <a:lstStyle/>
          <a:p>
            <a:pPr>
              <a:lnSpc>
                <a:spcPct val="150000"/>
              </a:lnSpc>
            </a:pPr>
            <a:r>
              <a:rPr lang="en-US" sz="2800" b="1" dirty="0">
                <a:latin typeface="+mj-lt"/>
              </a:rPr>
              <a:t>11. Useful Hints</a:t>
            </a:r>
          </a:p>
          <a:p>
            <a:pPr>
              <a:lnSpc>
                <a:spcPct val="150000"/>
              </a:lnSpc>
            </a:pPr>
            <a:r>
              <a:rPr lang="en-US" sz="2800" dirty="0">
                <a:latin typeface="+mj-lt"/>
              </a:rPr>
              <a:t>A strong paper should show that:</a:t>
            </a:r>
          </a:p>
          <a:p>
            <a:pPr marL="712788" indent="-457200">
              <a:lnSpc>
                <a:spcPct val="150000"/>
              </a:lnSpc>
              <a:buFont typeface="Arial" panose="020B0604020202020204" pitchFamily="34" charset="0"/>
              <a:buChar char="•"/>
            </a:pPr>
            <a:r>
              <a:rPr lang="en-US" sz="2800" dirty="0">
                <a:latin typeface="+mj-lt"/>
              </a:rPr>
              <a:t>You understand enterprise systems </a:t>
            </a:r>
          </a:p>
          <a:p>
            <a:pPr marL="712788" indent="-457200">
              <a:lnSpc>
                <a:spcPct val="150000"/>
              </a:lnSpc>
              <a:buFont typeface="Arial" panose="020B0604020202020204" pitchFamily="34" charset="0"/>
              <a:buChar char="•"/>
            </a:pPr>
            <a:r>
              <a:rPr lang="en-US" sz="2800" dirty="0">
                <a:latin typeface="+mj-lt"/>
              </a:rPr>
              <a:t>You understand how AI changes business processes </a:t>
            </a:r>
          </a:p>
          <a:p>
            <a:pPr marL="712788" indent="-457200">
              <a:lnSpc>
                <a:spcPct val="150000"/>
              </a:lnSpc>
              <a:buFont typeface="Arial" panose="020B0604020202020204" pitchFamily="34" charset="0"/>
              <a:buChar char="•"/>
            </a:pPr>
            <a:r>
              <a:rPr lang="en-US" sz="2800" dirty="0">
                <a:latin typeface="+mj-lt"/>
              </a:rPr>
              <a:t>You can explain both benefits and risks </a:t>
            </a:r>
          </a:p>
          <a:p>
            <a:pPr marL="712788" indent="-457200">
              <a:lnSpc>
                <a:spcPct val="150000"/>
              </a:lnSpc>
              <a:buFont typeface="Arial" panose="020B0604020202020204" pitchFamily="34" charset="0"/>
              <a:buChar char="•"/>
            </a:pPr>
            <a:r>
              <a:rPr lang="en-US" sz="2800" dirty="0">
                <a:latin typeface="+mj-lt"/>
              </a:rPr>
              <a:t>You can compare different academic views </a:t>
            </a:r>
          </a:p>
          <a:p>
            <a:pPr marL="712788" indent="-457200">
              <a:lnSpc>
                <a:spcPct val="150000"/>
              </a:lnSpc>
              <a:buFont typeface="Arial" panose="020B0604020202020204" pitchFamily="34" charset="0"/>
              <a:buChar char="•"/>
            </a:pPr>
            <a:r>
              <a:rPr lang="en-US" sz="2800" dirty="0">
                <a:latin typeface="+mj-lt"/>
              </a:rPr>
              <a:t>You can connect theory with real </a:t>
            </a:r>
            <a:r>
              <a:rPr lang="en-US" sz="2800" dirty="0" err="1">
                <a:latin typeface="+mj-lt"/>
              </a:rPr>
              <a:t>organisational</a:t>
            </a:r>
            <a:r>
              <a:rPr lang="en-US" sz="2800" dirty="0">
                <a:latin typeface="+mj-lt"/>
              </a:rPr>
              <a:t> examples </a:t>
            </a:r>
          </a:p>
          <a:p>
            <a:pPr marL="712788" indent="-457200">
              <a:lnSpc>
                <a:spcPct val="150000"/>
              </a:lnSpc>
              <a:buFont typeface="Arial" panose="020B0604020202020204" pitchFamily="34" charset="0"/>
              <a:buChar char="•"/>
            </a:pPr>
            <a:r>
              <a:rPr lang="en-US" sz="2800" dirty="0">
                <a:latin typeface="+mj-lt"/>
              </a:rPr>
              <a:t>You can write professionally and reference correctly</a:t>
            </a:r>
          </a:p>
        </p:txBody>
      </p:sp>
    </p:spTree>
    <p:extLst>
      <p:ext uri="{BB962C8B-B14F-4D97-AF65-F5344CB8AC3E}">
        <p14:creationId xmlns:p14="http://schemas.microsoft.com/office/powerpoint/2010/main" val="2633537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3687-4D8C-EF2F-2996-777A1515FA9A}"/>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52AC264-7F58-18A6-D7B1-CD91B964EF82}"/>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5502C10C-7147-A78C-D6BE-677E5D4F00EF}"/>
              </a:ext>
            </a:extLst>
          </p:cNvPr>
          <p:cNvSpPr txBox="1"/>
          <p:nvPr/>
        </p:nvSpPr>
        <p:spPr>
          <a:xfrm>
            <a:off x="-15949" y="786903"/>
            <a:ext cx="12119344" cy="2610843"/>
          </a:xfrm>
          <a:prstGeom prst="rect">
            <a:avLst/>
          </a:prstGeom>
          <a:noFill/>
        </p:spPr>
        <p:txBody>
          <a:bodyPr wrap="square">
            <a:spAutoFit/>
          </a:bodyPr>
          <a:lstStyle/>
          <a:p>
            <a:pPr>
              <a:lnSpc>
                <a:spcPct val="150000"/>
              </a:lnSpc>
            </a:pPr>
            <a:r>
              <a:rPr lang="en-US" sz="2800" dirty="0">
                <a:latin typeface="+mj-lt"/>
              </a:rPr>
              <a:t>A good argument might be:</a:t>
            </a:r>
          </a:p>
          <a:p>
            <a:pPr>
              <a:lnSpc>
                <a:spcPct val="150000"/>
              </a:lnSpc>
            </a:pPr>
            <a:r>
              <a:rPr lang="en-US" sz="2800" dirty="0">
                <a:latin typeface="+mj-lt"/>
              </a:rPr>
              <a:t>AI-enabled enterprise systems can improve </a:t>
            </a:r>
            <a:r>
              <a:rPr lang="en-US" sz="2800" dirty="0" err="1">
                <a:latin typeface="+mj-lt"/>
              </a:rPr>
              <a:t>organisational</a:t>
            </a:r>
            <a:r>
              <a:rPr lang="en-US" sz="2800" dirty="0">
                <a:latin typeface="+mj-lt"/>
              </a:rPr>
              <a:t> agility and decision intelligence, but only when </a:t>
            </a:r>
            <a:r>
              <a:rPr lang="en-US" sz="2800" dirty="0" err="1">
                <a:latin typeface="+mj-lt"/>
              </a:rPr>
              <a:t>organisations</a:t>
            </a:r>
            <a:r>
              <a:rPr lang="en-US" sz="2800" dirty="0">
                <a:latin typeface="+mj-lt"/>
              </a:rPr>
              <a:t> manage data quality, governance, user adoption, ethical risks, and system integration effectively.</a:t>
            </a:r>
          </a:p>
        </p:txBody>
      </p:sp>
    </p:spTree>
    <p:extLst>
      <p:ext uri="{BB962C8B-B14F-4D97-AF65-F5344CB8AC3E}">
        <p14:creationId xmlns:p14="http://schemas.microsoft.com/office/powerpoint/2010/main" val="4071606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35373-68B7-0D4A-F5F6-5D84387F956F}"/>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DC620702-3080-044D-3F11-5F68CBDEA7C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FA980F0D-6CB9-66AD-A034-3E6B3E8E2D2D}"/>
              </a:ext>
            </a:extLst>
          </p:cNvPr>
          <p:cNvSpPr txBox="1"/>
          <p:nvPr/>
        </p:nvSpPr>
        <p:spPr>
          <a:xfrm>
            <a:off x="-15949" y="786903"/>
            <a:ext cx="12119344" cy="4549835"/>
          </a:xfrm>
          <a:prstGeom prst="rect">
            <a:avLst/>
          </a:prstGeom>
          <a:noFill/>
        </p:spPr>
        <p:txBody>
          <a:bodyPr wrap="square">
            <a:spAutoFit/>
          </a:bodyPr>
          <a:lstStyle/>
          <a:p>
            <a:pPr>
              <a:lnSpc>
                <a:spcPct val="150000"/>
              </a:lnSpc>
            </a:pPr>
            <a:r>
              <a:rPr lang="en-US" sz="2800" b="1" dirty="0">
                <a:latin typeface="+mj-lt"/>
              </a:rPr>
              <a:t>12. Final Checklist Before Submission</a:t>
            </a:r>
          </a:p>
          <a:p>
            <a:pPr>
              <a:lnSpc>
                <a:spcPct val="150000"/>
              </a:lnSpc>
            </a:pPr>
            <a:r>
              <a:rPr lang="en-US" sz="2800" dirty="0">
                <a:latin typeface="+mj-lt"/>
              </a:rPr>
              <a:t>Before submitting, check:</a:t>
            </a:r>
          </a:p>
          <a:p>
            <a:pPr marL="712788" indent="-457200">
              <a:lnSpc>
                <a:spcPct val="150000"/>
              </a:lnSpc>
              <a:buFont typeface="Arial" panose="020B0604020202020204" pitchFamily="34" charset="0"/>
              <a:buChar char="•"/>
            </a:pPr>
            <a:r>
              <a:rPr lang="en-US" sz="2800" dirty="0">
                <a:latin typeface="+mj-lt"/>
              </a:rPr>
              <a:t>Table of contents included </a:t>
            </a:r>
          </a:p>
          <a:p>
            <a:pPr marL="712788" indent="-457200">
              <a:lnSpc>
                <a:spcPct val="150000"/>
              </a:lnSpc>
              <a:buFont typeface="Arial" panose="020B0604020202020204" pitchFamily="34" charset="0"/>
              <a:buChar char="•"/>
            </a:pPr>
            <a:r>
              <a:rPr lang="en-US" sz="2800" dirty="0">
                <a:latin typeface="+mj-lt"/>
              </a:rPr>
              <a:t>Introduction clearly explains topic and purpose </a:t>
            </a:r>
          </a:p>
          <a:p>
            <a:pPr marL="712788" indent="-457200">
              <a:lnSpc>
                <a:spcPct val="150000"/>
              </a:lnSpc>
              <a:buFont typeface="Arial" panose="020B0604020202020204" pitchFamily="34" charset="0"/>
              <a:buChar char="•"/>
            </a:pPr>
            <a:r>
              <a:rPr lang="en-US" sz="2800" dirty="0">
                <a:latin typeface="+mj-lt"/>
              </a:rPr>
              <a:t>Discussion uses numbered subheadings </a:t>
            </a:r>
          </a:p>
          <a:p>
            <a:pPr marL="712788" indent="-457200">
              <a:lnSpc>
                <a:spcPct val="150000"/>
              </a:lnSpc>
              <a:buFont typeface="Arial" panose="020B0604020202020204" pitchFamily="34" charset="0"/>
              <a:buChar char="•"/>
            </a:pPr>
            <a:r>
              <a:rPr lang="en-US" sz="2800" dirty="0">
                <a:latin typeface="+mj-lt"/>
              </a:rPr>
              <a:t>At least 10 academic references included </a:t>
            </a:r>
          </a:p>
          <a:p>
            <a:pPr marL="712788" indent="-457200">
              <a:lnSpc>
                <a:spcPct val="150000"/>
              </a:lnSpc>
              <a:buFont typeface="Arial" panose="020B0604020202020204" pitchFamily="34" charset="0"/>
              <a:buChar char="•"/>
            </a:pPr>
            <a:r>
              <a:rPr lang="en-US" sz="2800" dirty="0">
                <a:latin typeface="+mj-lt"/>
              </a:rPr>
              <a:t>Every reference has in-text citations</a:t>
            </a:r>
          </a:p>
        </p:txBody>
      </p:sp>
    </p:spTree>
    <p:extLst>
      <p:ext uri="{BB962C8B-B14F-4D97-AF65-F5344CB8AC3E}">
        <p14:creationId xmlns:p14="http://schemas.microsoft.com/office/powerpoint/2010/main" val="1135076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74F26-4BA5-3CF5-8CC5-B492F54C3015}"/>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BE9A138F-8757-FA4D-7613-CB7E04863D10}"/>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Preparation and Guideline: Individual Assignment</a:t>
            </a:r>
            <a:endParaRPr lang="en-US" sz="1900" dirty="0"/>
          </a:p>
        </p:txBody>
      </p:sp>
      <p:sp>
        <p:nvSpPr>
          <p:cNvPr id="3" name="TextBox 2">
            <a:extLst>
              <a:ext uri="{FF2B5EF4-FFF2-40B4-BE49-F238E27FC236}">
                <a16:creationId xmlns:a16="http://schemas.microsoft.com/office/drawing/2014/main" id="{64D858DB-42B0-0475-2A60-115AC6C70D6E}"/>
              </a:ext>
            </a:extLst>
          </p:cNvPr>
          <p:cNvSpPr txBox="1"/>
          <p:nvPr/>
        </p:nvSpPr>
        <p:spPr>
          <a:xfrm>
            <a:off x="-15949" y="786903"/>
            <a:ext cx="12119344" cy="4549835"/>
          </a:xfrm>
          <a:prstGeom prst="rect">
            <a:avLst/>
          </a:prstGeom>
          <a:noFill/>
        </p:spPr>
        <p:txBody>
          <a:bodyPr wrap="square">
            <a:spAutoFit/>
          </a:bodyPr>
          <a:lstStyle/>
          <a:p>
            <a:pPr marL="712788" indent="-457200">
              <a:lnSpc>
                <a:spcPct val="150000"/>
              </a:lnSpc>
              <a:buFont typeface="Arial" panose="020B0604020202020204" pitchFamily="34" charset="0"/>
              <a:buChar char="•"/>
            </a:pPr>
            <a:r>
              <a:rPr lang="en-US" sz="2800" dirty="0">
                <a:latin typeface="+mj-lt"/>
              </a:rPr>
              <a:t>Citations include page and paragraph numbers </a:t>
            </a:r>
          </a:p>
          <a:p>
            <a:pPr marL="712788" indent="-457200">
              <a:lnSpc>
                <a:spcPct val="150000"/>
              </a:lnSpc>
              <a:buFont typeface="Arial" panose="020B0604020202020204" pitchFamily="34" charset="0"/>
              <a:buChar char="•"/>
            </a:pPr>
            <a:r>
              <a:rPr lang="en-US" sz="2800" dirty="0">
                <a:latin typeface="+mj-lt"/>
              </a:rPr>
              <a:t>Reference list is </a:t>
            </a:r>
            <a:r>
              <a:rPr lang="en-US" sz="2800" dirty="0" err="1">
                <a:latin typeface="+mj-lt"/>
              </a:rPr>
              <a:t>alphabetised</a:t>
            </a:r>
            <a:r>
              <a:rPr lang="en-US" sz="2800" dirty="0">
                <a:latin typeface="+mj-lt"/>
              </a:rPr>
              <a:t> and numbered </a:t>
            </a:r>
          </a:p>
          <a:p>
            <a:pPr marL="712788" indent="-457200">
              <a:lnSpc>
                <a:spcPct val="150000"/>
              </a:lnSpc>
              <a:buFont typeface="Arial" panose="020B0604020202020204" pitchFamily="34" charset="0"/>
              <a:buChar char="•"/>
            </a:pPr>
            <a:r>
              <a:rPr lang="en-US" sz="2800" dirty="0">
                <a:latin typeface="+mj-lt"/>
              </a:rPr>
              <a:t>Hyperlinks are included for full-text sources </a:t>
            </a:r>
          </a:p>
          <a:p>
            <a:pPr marL="712788" indent="-457200">
              <a:lnSpc>
                <a:spcPct val="150000"/>
              </a:lnSpc>
              <a:buFont typeface="Arial" panose="020B0604020202020204" pitchFamily="34" charset="0"/>
              <a:buChar char="•"/>
            </a:pPr>
            <a:r>
              <a:rPr lang="en-US" sz="2800" dirty="0">
                <a:latin typeface="+mj-lt"/>
              </a:rPr>
              <a:t>Conclusion </a:t>
            </a:r>
            <a:r>
              <a:rPr lang="en-US" sz="2800" dirty="0" err="1">
                <a:latin typeface="+mj-lt"/>
              </a:rPr>
              <a:t>summarises</a:t>
            </a:r>
            <a:r>
              <a:rPr lang="en-US" sz="2800" dirty="0">
                <a:latin typeface="+mj-lt"/>
              </a:rPr>
              <a:t> key findings </a:t>
            </a:r>
          </a:p>
          <a:p>
            <a:pPr marL="712788" indent="-457200">
              <a:lnSpc>
                <a:spcPct val="150000"/>
              </a:lnSpc>
              <a:buFont typeface="Arial" panose="020B0604020202020204" pitchFamily="34" charset="0"/>
              <a:buChar char="•"/>
            </a:pPr>
            <a:r>
              <a:rPr lang="en-US" sz="2800" dirty="0">
                <a:latin typeface="+mj-lt"/>
              </a:rPr>
              <a:t>Word count is at least 2500 words </a:t>
            </a:r>
          </a:p>
          <a:p>
            <a:pPr marL="712788" indent="-457200">
              <a:lnSpc>
                <a:spcPct val="150000"/>
              </a:lnSpc>
              <a:buFont typeface="Arial" panose="020B0604020202020204" pitchFamily="34" charset="0"/>
              <a:buChar char="•"/>
            </a:pPr>
            <a:r>
              <a:rPr lang="en-US" sz="2800" dirty="0">
                <a:latin typeface="+mj-lt"/>
              </a:rPr>
              <a:t>Work is proofread and professionally formatted </a:t>
            </a:r>
          </a:p>
          <a:p>
            <a:pPr marL="712788" indent="-457200">
              <a:lnSpc>
                <a:spcPct val="150000"/>
              </a:lnSpc>
              <a:buFont typeface="Arial" panose="020B0604020202020204" pitchFamily="34" charset="0"/>
              <a:buChar char="•"/>
            </a:pPr>
            <a:r>
              <a:rPr lang="en-US" sz="2800" dirty="0">
                <a:latin typeface="+mj-lt"/>
              </a:rPr>
              <a:t>Submission is made before 12 June 2026, 11:59 pm</a:t>
            </a:r>
          </a:p>
        </p:txBody>
      </p:sp>
    </p:spTree>
    <p:extLst>
      <p:ext uri="{BB962C8B-B14F-4D97-AF65-F5344CB8AC3E}">
        <p14:creationId xmlns:p14="http://schemas.microsoft.com/office/powerpoint/2010/main" val="1827730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385A-30EC-A78F-1A17-E55CFB157BEB}"/>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742DEEDD-C880-CC4A-810B-A14D8DE790F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Encourage Draft Submission (Highly Recommended)</a:t>
            </a:r>
            <a:endParaRPr lang="en-US" sz="1900" dirty="0"/>
          </a:p>
        </p:txBody>
      </p:sp>
      <p:sp>
        <p:nvSpPr>
          <p:cNvPr id="3" name="TextBox 2">
            <a:extLst>
              <a:ext uri="{FF2B5EF4-FFF2-40B4-BE49-F238E27FC236}">
                <a16:creationId xmlns:a16="http://schemas.microsoft.com/office/drawing/2014/main" id="{0367C43B-E07C-F45F-AB8E-E15984B2E23D}"/>
              </a:ext>
            </a:extLst>
          </p:cNvPr>
          <p:cNvSpPr txBox="1"/>
          <p:nvPr/>
        </p:nvSpPr>
        <p:spPr>
          <a:xfrm>
            <a:off x="0" y="685800"/>
            <a:ext cx="12119344" cy="6488828"/>
          </a:xfrm>
          <a:prstGeom prst="rect">
            <a:avLst/>
          </a:prstGeom>
          <a:noFill/>
        </p:spPr>
        <p:txBody>
          <a:bodyPr wrap="square">
            <a:spAutoFit/>
          </a:bodyPr>
          <a:lstStyle/>
          <a:p>
            <a:pPr>
              <a:lnSpc>
                <a:spcPct val="150000"/>
              </a:lnSpc>
            </a:pPr>
            <a:r>
              <a:rPr lang="en-US" sz="2700" dirty="0">
                <a:latin typeface="+mj-lt"/>
              </a:rPr>
              <a:t>This is very helpful because students often go in the wrong direction early.</a:t>
            </a:r>
          </a:p>
          <a:p>
            <a:pPr>
              <a:lnSpc>
                <a:spcPct val="150000"/>
              </a:lnSpc>
            </a:pPr>
            <a:r>
              <a:rPr lang="en-US" sz="2700" dirty="0">
                <a:latin typeface="+mj-lt"/>
              </a:rPr>
              <a:t>Keep it informal and supportive.</a:t>
            </a:r>
          </a:p>
          <a:p>
            <a:pPr>
              <a:lnSpc>
                <a:spcPct val="150000"/>
              </a:lnSpc>
            </a:pPr>
            <a:r>
              <a:rPr lang="en-US" sz="2700" dirty="0">
                <a:latin typeface="+mj-lt"/>
              </a:rPr>
              <a:t>You can write something like:</a:t>
            </a:r>
          </a:p>
          <a:p>
            <a:pPr>
              <a:lnSpc>
                <a:spcPct val="150000"/>
              </a:lnSpc>
            </a:pPr>
            <a:r>
              <a:rPr lang="en-US" sz="2700" dirty="0">
                <a:latin typeface="+mj-lt"/>
              </a:rPr>
              <a:t>Students are encouraged to send a draft or partial draft before the due date for informal feedback.</a:t>
            </a:r>
          </a:p>
          <a:p>
            <a:pPr>
              <a:lnSpc>
                <a:spcPct val="150000"/>
              </a:lnSpc>
            </a:pPr>
            <a:r>
              <a:rPr lang="en-US" sz="2700" dirty="0">
                <a:latin typeface="+mj-lt"/>
              </a:rPr>
              <a:t>This feedback is intended to help improve structure, critical discussion, referencing, and overall direction. It is NOT a final grade prediction and does not guarantee marks in the final submission.</a:t>
            </a:r>
          </a:p>
          <a:p>
            <a:pPr>
              <a:lnSpc>
                <a:spcPct val="150000"/>
              </a:lnSpc>
            </a:pPr>
            <a:r>
              <a:rPr lang="en-US" sz="2700" dirty="0">
                <a:latin typeface="+mj-lt"/>
              </a:rPr>
              <a:t>Students are encouraged to submit drafts early rather than waiting until the last week.</a:t>
            </a:r>
          </a:p>
        </p:txBody>
      </p:sp>
    </p:spTree>
    <p:extLst>
      <p:ext uri="{BB962C8B-B14F-4D97-AF65-F5344CB8AC3E}">
        <p14:creationId xmlns:p14="http://schemas.microsoft.com/office/powerpoint/2010/main" val="3385911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E36FA-C63F-330B-A71A-2D385169D51E}"/>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D8B8712E-F041-4306-D2CB-09D95B85DBF1}"/>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Encourage Draft Submission (Highly Recommended)</a:t>
            </a:r>
            <a:endParaRPr lang="en-US" sz="1900" dirty="0"/>
          </a:p>
        </p:txBody>
      </p:sp>
      <p:sp>
        <p:nvSpPr>
          <p:cNvPr id="3" name="TextBox 2">
            <a:extLst>
              <a:ext uri="{FF2B5EF4-FFF2-40B4-BE49-F238E27FC236}">
                <a16:creationId xmlns:a16="http://schemas.microsoft.com/office/drawing/2014/main" id="{6539DE0E-F545-03BE-A953-65292D4A1698}"/>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dirty="0">
                <a:latin typeface="+mj-lt"/>
              </a:rPr>
              <a:t>This helps:</a:t>
            </a:r>
          </a:p>
          <a:p>
            <a:pPr marL="712788" indent="-457200">
              <a:lnSpc>
                <a:spcPct val="150000"/>
              </a:lnSpc>
              <a:buFont typeface="Arial" panose="020B0604020202020204" pitchFamily="34" charset="0"/>
              <a:buChar char="•"/>
            </a:pPr>
            <a:r>
              <a:rPr lang="en-US" sz="2800" dirty="0">
                <a:latin typeface="+mj-lt"/>
              </a:rPr>
              <a:t>reduce plagiarism, </a:t>
            </a:r>
          </a:p>
          <a:p>
            <a:pPr marL="712788" indent="-457200">
              <a:lnSpc>
                <a:spcPct val="150000"/>
              </a:lnSpc>
              <a:buFont typeface="Arial" panose="020B0604020202020204" pitchFamily="34" charset="0"/>
              <a:buChar char="•"/>
            </a:pPr>
            <a:r>
              <a:rPr lang="en-US" sz="2800" dirty="0">
                <a:latin typeface="+mj-lt"/>
              </a:rPr>
              <a:t>improve academic writing, </a:t>
            </a:r>
          </a:p>
          <a:p>
            <a:pPr marL="712788" indent="-457200">
              <a:lnSpc>
                <a:spcPct val="150000"/>
              </a:lnSpc>
              <a:buFont typeface="Arial" panose="020B0604020202020204" pitchFamily="34" charset="0"/>
              <a:buChar char="•"/>
            </a:pPr>
            <a:r>
              <a:rPr lang="en-US" sz="2800" dirty="0">
                <a:latin typeface="+mj-lt"/>
              </a:rPr>
              <a:t>reduce stress, </a:t>
            </a:r>
          </a:p>
          <a:p>
            <a:pPr marL="712788" indent="-457200">
              <a:lnSpc>
                <a:spcPct val="150000"/>
              </a:lnSpc>
              <a:buFont typeface="Arial" panose="020B0604020202020204" pitchFamily="34" charset="0"/>
              <a:buChar char="•"/>
            </a:pPr>
            <a:r>
              <a:rPr lang="en-US" sz="2800" dirty="0">
                <a:latin typeface="+mj-lt"/>
              </a:rPr>
              <a:t>encourage engagement, </a:t>
            </a:r>
          </a:p>
          <a:p>
            <a:pPr marL="712788" indent="-457200">
              <a:lnSpc>
                <a:spcPct val="150000"/>
              </a:lnSpc>
              <a:buFont typeface="Arial" panose="020B0604020202020204" pitchFamily="34" charset="0"/>
              <a:buChar char="•"/>
            </a:pPr>
            <a:r>
              <a:rPr lang="en-US" sz="2800" dirty="0">
                <a:latin typeface="+mj-lt"/>
              </a:rPr>
              <a:t>and improve weaker students’ confidence.</a:t>
            </a:r>
          </a:p>
        </p:txBody>
      </p:sp>
    </p:spTree>
    <p:extLst>
      <p:ext uri="{BB962C8B-B14F-4D97-AF65-F5344CB8AC3E}">
        <p14:creationId xmlns:p14="http://schemas.microsoft.com/office/powerpoint/2010/main" val="2993897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CCEB-504A-8D1F-477A-4919B5445686}"/>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D1AF8C7D-CC35-69DE-3941-AF7F912AB564}"/>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Sample Discussion Questions</a:t>
            </a:r>
            <a:endParaRPr lang="en-US" sz="1900" dirty="0"/>
          </a:p>
        </p:txBody>
      </p:sp>
      <p:sp>
        <p:nvSpPr>
          <p:cNvPr id="3" name="TextBox 2">
            <a:extLst>
              <a:ext uri="{FF2B5EF4-FFF2-40B4-BE49-F238E27FC236}">
                <a16:creationId xmlns:a16="http://schemas.microsoft.com/office/drawing/2014/main" id="{8E630CD1-B75C-36EF-BD65-A209C44B3C1D}"/>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1</a:t>
            </a:r>
          </a:p>
          <a:p>
            <a:pPr>
              <a:lnSpc>
                <a:spcPct val="150000"/>
              </a:lnSpc>
            </a:pPr>
            <a:r>
              <a:rPr lang="en-US" sz="2800" dirty="0">
                <a:latin typeface="+mj-lt"/>
              </a:rPr>
              <a:t>How can AI-enabled ERP systems improve </a:t>
            </a:r>
            <a:r>
              <a:rPr lang="en-US" sz="2800" dirty="0" err="1">
                <a:latin typeface="+mj-lt"/>
              </a:rPr>
              <a:t>organisational</a:t>
            </a:r>
            <a:r>
              <a:rPr lang="en-US" sz="2800" dirty="0">
                <a:latin typeface="+mj-lt"/>
              </a:rPr>
              <a:t> agility?</a:t>
            </a:r>
          </a:p>
          <a:p>
            <a:pPr>
              <a:lnSpc>
                <a:spcPct val="150000"/>
              </a:lnSpc>
            </a:pPr>
            <a:r>
              <a:rPr lang="en-US" sz="2800" b="1" dirty="0">
                <a:latin typeface="+mj-lt"/>
              </a:rPr>
              <a:t>Sample Answer</a:t>
            </a:r>
          </a:p>
          <a:p>
            <a:pPr>
              <a:lnSpc>
                <a:spcPct val="150000"/>
              </a:lnSpc>
            </a:pPr>
            <a:r>
              <a:rPr lang="en-US" sz="2800" dirty="0">
                <a:latin typeface="+mj-lt"/>
              </a:rPr>
              <a:t>AI-enabled ERP systems can help </a:t>
            </a:r>
            <a:r>
              <a:rPr lang="en-US" sz="2800" dirty="0" err="1">
                <a:latin typeface="+mj-lt"/>
              </a:rPr>
              <a:t>organisations</a:t>
            </a:r>
            <a:r>
              <a:rPr lang="en-US" sz="2800" dirty="0">
                <a:latin typeface="+mj-lt"/>
              </a:rPr>
              <a:t> respond faster to changes by providing real-time data, predictive analytics, and automation. This helps managers make quicker decisions and improve operational efficiency.</a:t>
            </a:r>
          </a:p>
        </p:txBody>
      </p:sp>
    </p:spTree>
    <p:extLst>
      <p:ext uri="{BB962C8B-B14F-4D97-AF65-F5344CB8AC3E}">
        <p14:creationId xmlns:p14="http://schemas.microsoft.com/office/powerpoint/2010/main" val="313718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61B58-E760-2B6E-D399-BC1269FEB048}"/>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C6FABAF-7CF1-8B2A-F625-2BE423BA409C}"/>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Sample Discussion Questions</a:t>
            </a:r>
            <a:endParaRPr lang="en-US" sz="1900" dirty="0"/>
          </a:p>
        </p:txBody>
      </p:sp>
      <p:sp>
        <p:nvSpPr>
          <p:cNvPr id="3" name="TextBox 2">
            <a:extLst>
              <a:ext uri="{FF2B5EF4-FFF2-40B4-BE49-F238E27FC236}">
                <a16:creationId xmlns:a16="http://schemas.microsoft.com/office/drawing/2014/main" id="{543C2321-E46C-1A7A-BEC7-37F45212D392}"/>
              </a:ext>
            </a:extLst>
          </p:cNvPr>
          <p:cNvSpPr txBox="1"/>
          <p:nvPr/>
        </p:nvSpPr>
        <p:spPr>
          <a:xfrm>
            <a:off x="7088" y="1477248"/>
            <a:ext cx="12119344" cy="4549835"/>
          </a:xfrm>
          <a:prstGeom prst="rect">
            <a:avLst/>
          </a:prstGeom>
          <a:noFill/>
        </p:spPr>
        <p:txBody>
          <a:bodyPr wrap="square">
            <a:spAutoFit/>
          </a:bodyPr>
          <a:lstStyle/>
          <a:p>
            <a:pPr>
              <a:lnSpc>
                <a:spcPct val="150000"/>
              </a:lnSpc>
            </a:pPr>
            <a:r>
              <a:rPr lang="en-US" sz="2800" b="1" dirty="0">
                <a:latin typeface="+mj-lt"/>
              </a:rPr>
              <a:t>Question 2</a:t>
            </a:r>
          </a:p>
          <a:p>
            <a:pPr>
              <a:lnSpc>
                <a:spcPct val="150000"/>
              </a:lnSpc>
            </a:pPr>
            <a:r>
              <a:rPr lang="en-US" sz="2800" dirty="0">
                <a:latin typeface="+mj-lt"/>
              </a:rPr>
              <a:t>What are some challenges </a:t>
            </a:r>
            <a:r>
              <a:rPr lang="en-US" sz="2800" dirty="0" err="1">
                <a:latin typeface="+mj-lt"/>
              </a:rPr>
              <a:t>organisations</a:t>
            </a:r>
            <a:r>
              <a:rPr lang="en-US" sz="2800" dirty="0">
                <a:latin typeface="+mj-lt"/>
              </a:rPr>
              <a:t> face when implementing AI in enterprise systems?</a:t>
            </a:r>
          </a:p>
          <a:p>
            <a:pPr>
              <a:lnSpc>
                <a:spcPct val="150000"/>
              </a:lnSpc>
            </a:pPr>
            <a:r>
              <a:rPr lang="en-US" sz="2800" b="1" dirty="0">
                <a:latin typeface="+mj-lt"/>
              </a:rPr>
              <a:t>Sample Answer</a:t>
            </a:r>
          </a:p>
          <a:p>
            <a:pPr>
              <a:lnSpc>
                <a:spcPct val="150000"/>
              </a:lnSpc>
            </a:pPr>
            <a:r>
              <a:rPr lang="en-US" sz="2800" dirty="0">
                <a:latin typeface="+mj-lt"/>
              </a:rPr>
              <a:t>Common challenges include poor data quality, employee resistance, high implementation costs, integration with old systems, and concerns about privacy and ethics.</a:t>
            </a:r>
          </a:p>
        </p:txBody>
      </p:sp>
    </p:spTree>
    <p:extLst>
      <p:ext uri="{BB962C8B-B14F-4D97-AF65-F5344CB8AC3E}">
        <p14:creationId xmlns:p14="http://schemas.microsoft.com/office/powerpoint/2010/main" val="322580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DC350-AA3D-21D5-E533-12C245CFE3DB}"/>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5028F32F-1F69-9252-FC06-2AF29D2F2007}"/>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Sample Discussion Questions</a:t>
            </a:r>
            <a:endParaRPr lang="en-US" sz="1900" dirty="0"/>
          </a:p>
        </p:txBody>
      </p:sp>
      <p:sp>
        <p:nvSpPr>
          <p:cNvPr id="3" name="TextBox 2">
            <a:extLst>
              <a:ext uri="{FF2B5EF4-FFF2-40B4-BE49-F238E27FC236}">
                <a16:creationId xmlns:a16="http://schemas.microsoft.com/office/drawing/2014/main" id="{D6B00956-C6C3-272B-83C9-C1928DDDCDEA}"/>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3</a:t>
            </a:r>
          </a:p>
          <a:p>
            <a:pPr>
              <a:lnSpc>
                <a:spcPct val="150000"/>
              </a:lnSpc>
            </a:pPr>
            <a:r>
              <a:rPr lang="en-US" sz="2800" dirty="0">
                <a:latin typeface="+mj-lt"/>
              </a:rPr>
              <a:t>Why is data governance important in AI-enabled enterprise systems?</a:t>
            </a:r>
          </a:p>
          <a:p>
            <a:pPr>
              <a:lnSpc>
                <a:spcPct val="150000"/>
              </a:lnSpc>
            </a:pPr>
            <a:r>
              <a:rPr lang="en-US" sz="2800" b="1" dirty="0">
                <a:latin typeface="+mj-lt"/>
              </a:rPr>
              <a:t>Sample Answer</a:t>
            </a:r>
          </a:p>
          <a:p>
            <a:pPr>
              <a:lnSpc>
                <a:spcPct val="150000"/>
              </a:lnSpc>
            </a:pPr>
            <a:r>
              <a:rPr lang="en-US" sz="2800" dirty="0">
                <a:latin typeface="+mj-lt"/>
              </a:rPr>
              <a:t>Data governance is important because AI systems depend on accurate and reliable data. Poor governance may lead to incorrect predictions, security risks, and unfair decisions.</a:t>
            </a:r>
          </a:p>
        </p:txBody>
      </p:sp>
    </p:spTree>
    <p:extLst>
      <p:ext uri="{BB962C8B-B14F-4D97-AF65-F5344CB8AC3E}">
        <p14:creationId xmlns:p14="http://schemas.microsoft.com/office/powerpoint/2010/main" val="113725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8F96-45DF-F2FC-AA29-329812127762}"/>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2D08C59C-7EA2-92A5-F4C5-B5E8F17D05C0}"/>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Sample Discussion Questions</a:t>
            </a:r>
            <a:endParaRPr lang="en-US" sz="1900" dirty="0"/>
          </a:p>
        </p:txBody>
      </p:sp>
      <p:sp>
        <p:nvSpPr>
          <p:cNvPr id="3" name="TextBox 2">
            <a:extLst>
              <a:ext uri="{FF2B5EF4-FFF2-40B4-BE49-F238E27FC236}">
                <a16:creationId xmlns:a16="http://schemas.microsoft.com/office/drawing/2014/main" id="{45EC6A0E-4BF3-A747-05B5-FE34E5171445}"/>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4</a:t>
            </a:r>
          </a:p>
          <a:p>
            <a:pPr>
              <a:lnSpc>
                <a:spcPct val="150000"/>
              </a:lnSpc>
            </a:pPr>
            <a:r>
              <a:rPr lang="en-US" sz="2800" dirty="0">
                <a:latin typeface="+mj-lt"/>
              </a:rPr>
              <a:t>How does AI support managerial decision-making?</a:t>
            </a:r>
          </a:p>
          <a:p>
            <a:pPr>
              <a:lnSpc>
                <a:spcPct val="150000"/>
              </a:lnSpc>
            </a:pPr>
            <a:r>
              <a:rPr lang="en-US" sz="2800" b="1" dirty="0">
                <a:latin typeface="+mj-lt"/>
              </a:rPr>
              <a:t>Sample Answer</a:t>
            </a:r>
          </a:p>
          <a:p>
            <a:pPr>
              <a:lnSpc>
                <a:spcPct val="150000"/>
              </a:lnSpc>
            </a:pPr>
            <a:r>
              <a:rPr lang="en-US" sz="2800" dirty="0">
                <a:latin typeface="+mj-lt"/>
              </a:rPr>
              <a:t>AI supports decision-making through predictive analytics, automated reporting, pattern recognition, and forecasting. This allows managers to make more informed decisions faster.</a:t>
            </a:r>
          </a:p>
        </p:txBody>
      </p:sp>
    </p:spTree>
    <p:extLst>
      <p:ext uri="{BB962C8B-B14F-4D97-AF65-F5344CB8AC3E}">
        <p14:creationId xmlns:p14="http://schemas.microsoft.com/office/powerpoint/2010/main" val="293251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4100-198E-C659-A5E4-8860C8AA3B74}"/>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6BB1DFC4-2CA7-C220-9999-5BAB2CB0802F}"/>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Sample Discussion Questions</a:t>
            </a:r>
            <a:endParaRPr lang="en-US" sz="1900" dirty="0"/>
          </a:p>
        </p:txBody>
      </p:sp>
      <p:sp>
        <p:nvSpPr>
          <p:cNvPr id="3" name="TextBox 2">
            <a:extLst>
              <a:ext uri="{FF2B5EF4-FFF2-40B4-BE49-F238E27FC236}">
                <a16:creationId xmlns:a16="http://schemas.microsoft.com/office/drawing/2014/main" id="{90BFB3DE-A976-8CD3-C36B-B56D16588975}"/>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5</a:t>
            </a:r>
          </a:p>
          <a:p>
            <a:pPr>
              <a:lnSpc>
                <a:spcPct val="150000"/>
              </a:lnSpc>
            </a:pPr>
            <a:r>
              <a:rPr lang="en-US" sz="2800" dirty="0">
                <a:latin typeface="+mj-lt"/>
              </a:rPr>
              <a:t>Why is change management important during ERP implementation?</a:t>
            </a:r>
          </a:p>
          <a:p>
            <a:pPr>
              <a:lnSpc>
                <a:spcPct val="150000"/>
              </a:lnSpc>
            </a:pPr>
            <a:r>
              <a:rPr lang="en-US" sz="2800" b="1" dirty="0">
                <a:latin typeface="+mj-lt"/>
              </a:rPr>
              <a:t>Sample Answer</a:t>
            </a:r>
          </a:p>
          <a:p>
            <a:pPr>
              <a:lnSpc>
                <a:spcPct val="150000"/>
              </a:lnSpc>
            </a:pPr>
            <a:r>
              <a:rPr lang="en-US" sz="2800" dirty="0">
                <a:latin typeface="+mj-lt"/>
              </a:rPr>
              <a:t>Change management helps employees adapt to new systems and processes. Without proper training and communication, users may resist the system, reducing implementation success.</a:t>
            </a:r>
          </a:p>
        </p:txBody>
      </p:sp>
    </p:spTree>
    <p:extLst>
      <p:ext uri="{BB962C8B-B14F-4D97-AF65-F5344CB8AC3E}">
        <p14:creationId xmlns:p14="http://schemas.microsoft.com/office/powerpoint/2010/main" val="77182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1EA0A-BDD8-0199-F443-C799DFE7F99D}"/>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652AB3AE-FD4C-1275-3561-E28F509BBB29}"/>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21CD726C-8DAE-F377-5B51-32154EBD88B0}"/>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1</a:t>
            </a:r>
          </a:p>
          <a:p>
            <a:pPr>
              <a:lnSpc>
                <a:spcPct val="150000"/>
              </a:lnSpc>
            </a:pPr>
            <a:r>
              <a:rPr lang="en-US" sz="2800" dirty="0">
                <a:latin typeface="+mj-lt"/>
              </a:rPr>
              <a:t>What is the main purpose of an enterprise system?</a:t>
            </a:r>
          </a:p>
          <a:p>
            <a:pPr>
              <a:lnSpc>
                <a:spcPct val="150000"/>
              </a:lnSpc>
            </a:pPr>
            <a:r>
              <a:rPr lang="en-US" sz="2800" dirty="0">
                <a:latin typeface="+mj-lt"/>
              </a:rPr>
              <a:t>A. Entertainment</a:t>
            </a:r>
            <a:br>
              <a:rPr lang="en-US" sz="2800" dirty="0">
                <a:latin typeface="+mj-lt"/>
              </a:rPr>
            </a:br>
            <a:r>
              <a:rPr lang="en-US" sz="2800" dirty="0">
                <a:latin typeface="+mj-lt"/>
              </a:rPr>
              <a:t>B. Managing </a:t>
            </a:r>
            <a:r>
              <a:rPr lang="en-US" sz="2800" dirty="0" err="1">
                <a:latin typeface="+mj-lt"/>
              </a:rPr>
              <a:t>organisational</a:t>
            </a:r>
            <a:r>
              <a:rPr lang="en-US" sz="2800" dirty="0">
                <a:latin typeface="+mj-lt"/>
              </a:rPr>
              <a:t> processes and data</a:t>
            </a:r>
            <a:br>
              <a:rPr lang="en-US" sz="2800" dirty="0">
                <a:latin typeface="+mj-lt"/>
              </a:rPr>
            </a:br>
            <a:r>
              <a:rPr lang="en-US" sz="2800" dirty="0">
                <a:latin typeface="+mj-lt"/>
              </a:rPr>
              <a:t>C. Social networking</a:t>
            </a:r>
            <a:br>
              <a:rPr lang="en-US" sz="2800" dirty="0">
                <a:latin typeface="+mj-lt"/>
              </a:rPr>
            </a:br>
            <a:r>
              <a:rPr lang="en-US" sz="2800" dirty="0">
                <a:latin typeface="+mj-lt"/>
              </a:rPr>
              <a:t>D. Gaming</a:t>
            </a:r>
          </a:p>
        </p:txBody>
      </p:sp>
      <p:sp>
        <p:nvSpPr>
          <p:cNvPr id="2" name="Rectangle: Rounded Corners 1">
            <a:extLst>
              <a:ext uri="{FF2B5EF4-FFF2-40B4-BE49-F238E27FC236}">
                <a16:creationId xmlns:a16="http://schemas.microsoft.com/office/drawing/2014/main" id="{F14459C1-14A9-B1F8-13D4-801DB3FBB5EA}"/>
              </a:ext>
            </a:extLst>
          </p:cNvPr>
          <p:cNvSpPr/>
          <p:nvPr/>
        </p:nvSpPr>
        <p:spPr>
          <a:xfrm>
            <a:off x="0" y="3615070"/>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8767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38C0F-341E-8D3D-0D85-A30B92B72AAE}"/>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8560EF19-1AE6-6864-F3DC-4BA0AED78B9B}"/>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E67876BE-85AF-5EB3-C609-907279E7B83E}"/>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2</a:t>
            </a:r>
          </a:p>
          <a:p>
            <a:pPr>
              <a:lnSpc>
                <a:spcPct val="150000"/>
              </a:lnSpc>
            </a:pPr>
            <a:r>
              <a:rPr lang="en-US" sz="2800" dirty="0">
                <a:latin typeface="+mj-lt"/>
              </a:rPr>
              <a:t>Which of the following is an example of an enterprise system?</a:t>
            </a:r>
          </a:p>
          <a:p>
            <a:pPr>
              <a:lnSpc>
                <a:spcPct val="150000"/>
              </a:lnSpc>
            </a:pPr>
            <a:r>
              <a:rPr lang="en-US" sz="2800" dirty="0">
                <a:latin typeface="+mj-lt"/>
              </a:rPr>
              <a:t>A. Instagram</a:t>
            </a:r>
            <a:br>
              <a:rPr lang="en-US" sz="2800" dirty="0">
                <a:latin typeface="+mj-lt"/>
              </a:rPr>
            </a:br>
            <a:r>
              <a:rPr lang="en-US" sz="2800" dirty="0">
                <a:latin typeface="+mj-lt"/>
              </a:rPr>
              <a:t>B. TikTok</a:t>
            </a:r>
            <a:br>
              <a:rPr lang="en-US" sz="2800" dirty="0">
                <a:latin typeface="+mj-lt"/>
              </a:rPr>
            </a:br>
            <a:r>
              <a:rPr lang="en-US" sz="2800" dirty="0">
                <a:latin typeface="+mj-lt"/>
              </a:rPr>
              <a:t>C. SAP S/4HANA</a:t>
            </a:r>
            <a:br>
              <a:rPr lang="en-US" sz="2800" dirty="0">
                <a:latin typeface="+mj-lt"/>
              </a:rPr>
            </a:br>
            <a:r>
              <a:rPr lang="en-US" sz="2800" dirty="0">
                <a:latin typeface="+mj-lt"/>
              </a:rPr>
              <a:t>D. Netflix</a:t>
            </a:r>
          </a:p>
        </p:txBody>
      </p:sp>
      <p:sp>
        <p:nvSpPr>
          <p:cNvPr id="2" name="Rectangle: Rounded Corners 1">
            <a:extLst>
              <a:ext uri="{FF2B5EF4-FFF2-40B4-BE49-F238E27FC236}">
                <a16:creationId xmlns:a16="http://schemas.microsoft.com/office/drawing/2014/main" id="{67B97241-3D8F-982C-8A7F-C0AFA2EC26E4}"/>
              </a:ext>
            </a:extLst>
          </p:cNvPr>
          <p:cNvSpPr/>
          <p:nvPr/>
        </p:nvSpPr>
        <p:spPr>
          <a:xfrm>
            <a:off x="7088" y="4267200"/>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059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C5C4-ECB1-81DD-9D16-48D01066200D}"/>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C6EB4F1-66B6-7B11-7896-03098904AA0E}"/>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4625F588-70AD-7169-ADE5-48F4DF2BA003}"/>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3</a:t>
            </a:r>
          </a:p>
          <a:p>
            <a:pPr>
              <a:lnSpc>
                <a:spcPct val="150000"/>
              </a:lnSpc>
            </a:pPr>
            <a:r>
              <a:rPr lang="en-US" sz="2800" dirty="0">
                <a:latin typeface="+mj-lt"/>
              </a:rPr>
              <a:t>What is one benefit of AI-enabled enterprise systems?</a:t>
            </a:r>
          </a:p>
          <a:p>
            <a:pPr>
              <a:lnSpc>
                <a:spcPct val="150000"/>
              </a:lnSpc>
            </a:pPr>
            <a:r>
              <a:rPr lang="en-US" sz="2800" dirty="0">
                <a:latin typeface="+mj-lt"/>
              </a:rPr>
              <a:t>A. Increased manual paperwork</a:t>
            </a:r>
            <a:br>
              <a:rPr lang="en-US" sz="2800" dirty="0">
                <a:latin typeface="+mj-lt"/>
              </a:rPr>
            </a:br>
            <a:r>
              <a:rPr lang="en-US" sz="2800" dirty="0">
                <a:latin typeface="+mj-lt"/>
              </a:rPr>
              <a:t>B. Slower communication</a:t>
            </a:r>
            <a:br>
              <a:rPr lang="en-US" sz="2800" dirty="0">
                <a:latin typeface="+mj-lt"/>
              </a:rPr>
            </a:br>
            <a:r>
              <a:rPr lang="en-US" sz="2800" dirty="0">
                <a:latin typeface="+mj-lt"/>
              </a:rPr>
              <a:t>C. Improved decision-making</a:t>
            </a:r>
            <a:br>
              <a:rPr lang="en-US" sz="2800" dirty="0">
                <a:latin typeface="+mj-lt"/>
              </a:rPr>
            </a:br>
            <a:r>
              <a:rPr lang="en-US" sz="2800" dirty="0">
                <a:latin typeface="+mj-lt"/>
              </a:rPr>
              <a:t>D. Reduced data access</a:t>
            </a:r>
          </a:p>
        </p:txBody>
      </p:sp>
      <p:sp>
        <p:nvSpPr>
          <p:cNvPr id="2" name="Rectangle: Rounded Corners 1">
            <a:extLst>
              <a:ext uri="{FF2B5EF4-FFF2-40B4-BE49-F238E27FC236}">
                <a16:creationId xmlns:a16="http://schemas.microsoft.com/office/drawing/2014/main" id="{48CE2AA2-4DD2-D59A-1E1D-734B75CB7CBD}"/>
              </a:ext>
            </a:extLst>
          </p:cNvPr>
          <p:cNvSpPr/>
          <p:nvPr/>
        </p:nvSpPr>
        <p:spPr>
          <a:xfrm>
            <a:off x="7088" y="4267200"/>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248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29D0A-757A-CFE4-D637-302B4EBA1C6A}"/>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B4F2A46A-491A-4DDE-C260-F95A1A783A0D}"/>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24DEA255-D96B-9057-F71A-C8D6AD6D2E5B}"/>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4</a:t>
            </a:r>
          </a:p>
          <a:p>
            <a:pPr>
              <a:lnSpc>
                <a:spcPct val="150000"/>
              </a:lnSpc>
            </a:pPr>
            <a:r>
              <a:rPr lang="en-US" sz="2800" dirty="0">
                <a:latin typeface="+mj-lt"/>
              </a:rPr>
              <a:t>Which issue is commonly associated with AI implementation?</a:t>
            </a:r>
          </a:p>
          <a:p>
            <a:pPr>
              <a:lnSpc>
                <a:spcPct val="150000"/>
              </a:lnSpc>
            </a:pPr>
            <a:r>
              <a:rPr lang="en-US" sz="2800" dirty="0">
                <a:latin typeface="+mj-lt"/>
              </a:rPr>
              <a:t>A. Improved weather forecasting</a:t>
            </a:r>
            <a:br>
              <a:rPr lang="en-US" sz="2800" dirty="0">
                <a:latin typeface="+mj-lt"/>
              </a:rPr>
            </a:br>
            <a:r>
              <a:rPr lang="en-US" sz="2800" dirty="0">
                <a:latin typeface="+mj-lt"/>
              </a:rPr>
              <a:t>B. Data quality problems</a:t>
            </a:r>
            <a:br>
              <a:rPr lang="en-US" sz="2800" dirty="0">
                <a:latin typeface="+mj-lt"/>
              </a:rPr>
            </a:br>
            <a:r>
              <a:rPr lang="en-US" sz="2800" dirty="0">
                <a:latin typeface="+mj-lt"/>
              </a:rPr>
              <a:t>C. Better handwriting</a:t>
            </a:r>
            <a:br>
              <a:rPr lang="en-US" sz="2800" dirty="0">
                <a:latin typeface="+mj-lt"/>
              </a:rPr>
            </a:br>
            <a:r>
              <a:rPr lang="en-US" sz="2800" dirty="0">
                <a:latin typeface="+mj-lt"/>
              </a:rPr>
              <a:t>D. Reduced electricity use</a:t>
            </a:r>
          </a:p>
        </p:txBody>
      </p:sp>
      <p:sp>
        <p:nvSpPr>
          <p:cNvPr id="2" name="Rectangle: Rounded Corners 1">
            <a:extLst>
              <a:ext uri="{FF2B5EF4-FFF2-40B4-BE49-F238E27FC236}">
                <a16:creationId xmlns:a16="http://schemas.microsoft.com/office/drawing/2014/main" id="{2DCBEE1C-B116-2C36-91CF-EE63C8C33A67}"/>
              </a:ext>
            </a:extLst>
          </p:cNvPr>
          <p:cNvSpPr/>
          <p:nvPr/>
        </p:nvSpPr>
        <p:spPr>
          <a:xfrm>
            <a:off x="-3545" y="3576084"/>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274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082D7-8811-F204-F7FE-4B13E57B9CDB}"/>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6B48CBA8-BB01-7D6E-911A-881609956224}"/>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A548ADA6-C5C1-796B-1540-069439A54DA9}"/>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5</a:t>
            </a:r>
          </a:p>
          <a:p>
            <a:pPr>
              <a:lnSpc>
                <a:spcPct val="150000"/>
              </a:lnSpc>
            </a:pPr>
            <a:r>
              <a:rPr lang="en-US" sz="2800" dirty="0">
                <a:latin typeface="+mj-lt"/>
              </a:rPr>
              <a:t>Which section of the paper should </a:t>
            </a:r>
            <a:r>
              <a:rPr lang="en-US" sz="2800" dirty="0" err="1">
                <a:latin typeface="+mj-lt"/>
              </a:rPr>
              <a:t>summarise</a:t>
            </a:r>
            <a:r>
              <a:rPr lang="en-US" sz="2800" dirty="0">
                <a:latin typeface="+mj-lt"/>
              </a:rPr>
              <a:t> the main findings?</a:t>
            </a:r>
          </a:p>
          <a:p>
            <a:pPr>
              <a:lnSpc>
                <a:spcPct val="150000"/>
              </a:lnSpc>
            </a:pPr>
            <a:r>
              <a:rPr lang="en-US" sz="2800" dirty="0">
                <a:latin typeface="+mj-lt"/>
              </a:rPr>
              <a:t>A. Introduction</a:t>
            </a:r>
            <a:br>
              <a:rPr lang="en-US" sz="2800" dirty="0">
                <a:latin typeface="+mj-lt"/>
              </a:rPr>
            </a:br>
            <a:r>
              <a:rPr lang="en-US" sz="2800" dirty="0">
                <a:latin typeface="+mj-lt"/>
              </a:rPr>
              <a:t>B. References</a:t>
            </a:r>
            <a:br>
              <a:rPr lang="en-US" sz="2800" dirty="0">
                <a:latin typeface="+mj-lt"/>
              </a:rPr>
            </a:br>
            <a:r>
              <a:rPr lang="en-US" sz="2800" dirty="0">
                <a:latin typeface="+mj-lt"/>
              </a:rPr>
              <a:t>C. Conclusion</a:t>
            </a:r>
            <a:br>
              <a:rPr lang="en-US" sz="2800" dirty="0">
                <a:latin typeface="+mj-lt"/>
              </a:rPr>
            </a:br>
            <a:r>
              <a:rPr lang="en-US" sz="2800" dirty="0">
                <a:latin typeface="+mj-lt"/>
              </a:rPr>
              <a:t>D. Appendix</a:t>
            </a:r>
          </a:p>
        </p:txBody>
      </p:sp>
      <p:sp>
        <p:nvSpPr>
          <p:cNvPr id="2" name="Rectangle: Rounded Corners 1">
            <a:extLst>
              <a:ext uri="{FF2B5EF4-FFF2-40B4-BE49-F238E27FC236}">
                <a16:creationId xmlns:a16="http://schemas.microsoft.com/office/drawing/2014/main" id="{F41370FA-D06D-04C2-0E3E-4C1852093DF6}"/>
              </a:ext>
            </a:extLst>
          </p:cNvPr>
          <p:cNvSpPr/>
          <p:nvPr/>
        </p:nvSpPr>
        <p:spPr>
          <a:xfrm>
            <a:off x="7087" y="4214037"/>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1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4FCA6-6744-94B2-084E-B6EDE112030F}"/>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946C3858-2FAD-96DD-EF9A-44DBC44E471E}"/>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DEA41C78-FD29-739E-45A9-A6693B74153B}"/>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6</a:t>
            </a:r>
          </a:p>
          <a:p>
            <a:pPr>
              <a:lnSpc>
                <a:spcPct val="150000"/>
              </a:lnSpc>
            </a:pPr>
            <a:r>
              <a:rPr lang="en-US" sz="2800" dirty="0">
                <a:latin typeface="+mj-lt"/>
              </a:rPr>
              <a:t>How many academic references are required at minimum?</a:t>
            </a:r>
          </a:p>
          <a:p>
            <a:pPr>
              <a:lnSpc>
                <a:spcPct val="150000"/>
              </a:lnSpc>
            </a:pPr>
            <a:r>
              <a:rPr lang="en-US" sz="2800" dirty="0">
                <a:latin typeface="+mj-lt"/>
              </a:rPr>
              <a:t>A. 3</a:t>
            </a:r>
            <a:br>
              <a:rPr lang="en-US" sz="2800" dirty="0">
                <a:latin typeface="+mj-lt"/>
              </a:rPr>
            </a:br>
            <a:r>
              <a:rPr lang="en-US" sz="2800" dirty="0">
                <a:latin typeface="+mj-lt"/>
              </a:rPr>
              <a:t>B. 5</a:t>
            </a:r>
            <a:br>
              <a:rPr lang="en-US" sz="2800" dirty="0">
                <a:latin typeface="+mj-lt"/>
              </a:rPr>
            </a:br>
            <a:r>
              <a:rPr lang="en-US" sz="2800" dirty="0">
                <a:latin typeface="+mj-lt"/>
              </a:rPr>
              <a:t>C. 8</a:t>
            </a:r>
            <a:br>
              <a:rPr lang="en-US" sz="2800" dirty="0">
                <a:latin typeface="+mj-lt"/>
              </a:rPr>
            </a:br>
            <a:r>
              <a:rPr lang="en-US" sz="2800" dirty="0">
                <a:latin typeface="+mj-lt"/>
              </a:rPr>
              <a:t>D. 10</a:t>
            </a:r>
          </a:p>
        </p:txBody>
      </p:sp>
      <p:sp>
        <p:nvSpPr>
          <p:cNvPr id="2" name="Rectangle: Rounded Corners 1">
            <a:extLst>
              <a:ext uri="{FF2B5EF4-FFF2-40B4-BE49-F238E27FC236}">
                <a16:creationId xmlns:a16="http://schemas.microsoft.com/office/drawing/2014/main" id="{8EA6CFB5-C09C-B6A2-7EB4-067FFD05A800}"/>
              </a:ext>
            </a:extLst>
          </p:cNvPr>
          <p:cNvSpPr/>
          <p:nvPr/>
        </p:nvSpPr>
        <p:spPr>
          <a:xfrm>
            <a:off x="-14178" y="4894521"/>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37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19DA9-07C9-6334-21AC-5A11FAFD4DC7}"/>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258FBDA-F9B2-959D-0DC8-60F5EFF1447E}"/>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D7CE7609-0E91-57D4-E163-E665A3F41A05}"/>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7</a:t>
            </a:r>
          </a:p>
          <a:p>
            <a:pPr>
              <a:lnSpc>
                <a:spcPct val="150000"/>
              </a:lnSpc>
            </a:pPr>
            <a:r>
              <a:rPr lang="en-US" sz="2800" dirty="0">
                <a:latin typeface="+mj-lt"/>
              </a:rPr>
              <a:t>Which source is MOST suitable for this assignment?</a:t>
            </a:r>
          </a:p>
          <a:p>
            <a:pPr>
              <a:lnSpc>
                <a:spcPct val="150000"/>
              </a:lnSpc>
            </a:pPr>
            <a:r>
              <a:rPr lang="en-US" sz="2800" dirty="0">
                <a:latin typeface="+mj-lt"/>
              </a:rPr>
              <a:t>A. Wikipedia</a:t>
            </a:r>
            <a:br>
              <a:rPr lang="en-US" sz="2800" dirty="0">
                <a:latin typeface="+mj-lt"/>
              </a:rPr>
            </a:br>
            <a:r>
              <a:rPr lang="en-US" sz="2800" dirty="0">
                <a:latin typeface="+mj-lt"/>
              </a:rPr>
              <a:t>B. Academic journal paper</a:t>
            </a:r>
            <a:br>
              <a:rPr lang="en-US" sz="2800" dirty="0">
                <a:latin typeface="+mj-lt"/>
              </a:rPr>
            </a:br>
            <a:r>
              <a:rPr lang="en-US" sz="2800" dirty="0">
                <a:latin typeface="+mj-lt"/>
              </a:rPr>
              <a:t>C. Random blog</a:t>
            </a:r>
            <a:br>
              <a:rPr lang="en-US" sz="2800" dirty="0">
                <a:latin typeface="+mj-lt"/>
              </a:rPr>
            </a:br>
            <a:r>
              <a:rPr lang="en-US" sz="2800" dirty="0">
                <a:latin typeface="+mj-lt"/>
              </a:rPr>
              <a:t>D. Social media post</a:t>
            </a:r>
          </a:p>
        </p:txBody>
      </p:sp>
      <p:sp>
        <p:nvSpPr>
          <p:cNvPr id="2" name="Rectangle: Rounded Corners 1">
            <a:extLst>
              <a:ext uri="{FF2B5EF4-FFF2-40B4-BE49-F238E27FC236}">
                <a16:creationId xmlns:a16="http://schemas.microsoft.com/office/drawing/2014/main" id="{464541C4-18A8-3A8F-5BF7-9C5BA2FF6866}"/>
              </a:ext>
            </a:extLst>
          </p:cNvPr>
          <p:cNvSpPr/>
          <p:nvPr/>
        </p:nvSpPr>
        <p:spPr>
          <a:xfrm>
            <a:off x="-14178" y="3618614"/>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741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479F-E77C-C1BF-174A-FE2795210900}"/>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DA3E09FA-A69F-FBF9-37AC-6B54B8A9A3D3}"/>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6F79F0A7-25C0-DBA3-F80F-FF8596F47ACA}"/>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8</a:t>
            </a:r>
          </a:p>
          <a:p>
            <a:pPr>
              <a:lnSpc>
                <a:spcPct val="150000"/>
              </a:lnSpc>
            </a:pPr>
            <a:r>
              <a:rPr lang="en-US" sz="2800" dirty="0">
                <a:latin typeface="+mj-lt"/>
              </a:rPr>
              <a:t>What should students avoid in academic writing?</a:t>
            </a:r>
          </a:p>
          <a:p>
            <a:pPr>
              <a:lnSpc>
                <a:spcPct val="150000"/>
              </a:lnSpc>
            </a:pPr>
            <a:r>
              <a:rPr lang="en-US" sz="2800" dirty="0">
                <a:latin typeface="+mj-lt"/>
              </a:rPr>
              <a:t>A. Critical analysis</a:t>
            </a:r>
            <a:br>
              <a:rPr lang="en-US" sz="2800" dirty="0">
                <a:latin typeface="+mj-lt"/>
              </a:rPr>
            </a:br>
            <a:r>
              <a:rPr lang="en-US" sz="2800" dirty="0">
                <a:latin typeface="+mj-lt"/>
              </a:rPr>
              <a:t>B. In-text citations</a:t>
            </a:r>
            <a:br>
              <a:rPr lang="en-US" sz="2800" dirty="0">
                <a:latin typeface="+mj-lt"/>
              </a:rPr>
            </a:br>
            <a:r>
              <a:rPr lang="en-US" sz="2800" dirty="0">
                <a:latin typeface="+mj-lt"/>
              </a:rPr>
              <a:t>C. Copying without referencing</a:t>
            </a:r>
            <a:br>
              <a:rPr lang="en-US" sz="2800" dirty="0">
                <a:latin typeface="+mj-lt"/>
              </a:rPr>
            </a:br>
            <a:r>
              <a:rPr lang="en-US" sz="2800" dirty="0">
                <a:latin typeface="+mj-lt"/>
              </a:rPr>
              <a:t>D. Academic journal articles</a:t>
            </a:r>
          </a:p>
        </p:txBody>
      </p:sp>
      <p:sp>
        <p:nvSpPr>
          <p:cNvPr id="2" name="Rectangle: Rounded Corners 1">
            <a:extLst>
              <a:ext uri="{FF2B5EF4-FFF2-40B4-BE49-F238E27FC236}">
                <a16:creationId xmlns:a16="http://schemas.microsoft.com/office/drawing/2014/main" id="{8526992B-C14A-0145-F936-3149ACD78072}"/>
              </a:ext>
            </a:extLst>
          </p:cNvPr>
          <p:cNvSpPr/>
          <p:nvPr/>
        </p:nvSpPr>
        <p:spPr>
          <a:xfrm>
            <a:off x="17720" y="4245935"/>
            <a:ext cx="7634177" cy="44656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584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A819-B991-A908-3169-CBBE6ED88C0A}"/>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4176696D-F326-9CF7-C034-C79A2C055908}"/>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AEFDCF35-0F51-8FAC-E7CF-63ADC005963B}"/>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9</a:t>
            </a:r>
          </a:p>
          <a:p>
            <a:pPr>
              <a:lnSpc>
                <a:spcPct val="150000"/>
              </a:lnSpc>
            </a:pPr>
            <a:r>
              <a:rPr lang="en-US" sz="2800" dirty="0">
                <a:latin typeface="+mj-lt"/>
              </a:rPr>
              <a:t>What is the purpose of the introduction section in the research paper?</a:t>
            </a:r>
          </a:p>
          <a:p>
            <a:pPr>
              <a:lnSpc>
                <a:spcPct val="150000"/>
              </a:lnSpc>
            </a:pPr>
            <a:r>
              <a:rPr lang="en-US" sz="2800" dirty="0">
                <a:latin typeface="+mj-lt"/>
              </a:rPr>
              <a:t>A. To list all references</a:t>
            </a:r>
            <a:br>
              <a:rPr lang="en-US" sz="2800" dirty="0">
                <a:latin typeface="+mj-lt"/>
              </a:rPr>
            </a:br>
            <a:r>
              <a:rPr lang="en-US" sz="2800" dirty="0">
                <a:latin typeface="+mj-lt"/>
              </a:rPr>
              <a:t>B. To explain the topic, purpose, and structure of the paper</a:t>
            </a:r>
            <a:br>
              <a:rPr lang="en-US" sz="2800" dirty="0">
                <a:latin typeface="+mj-lt"/>
              </a:rPr>
            </a:br>
            <a:r>
              <a:rPr lang="en-US" sz="2800" dirty="0">
                <a:latin typeface="+mj-lt"/>
              </a:rPr>
              <a:t>C. To provide detailed case study results</a:t>
            </a:r>
            <a:br>
              <a:rPr lang="en-US" sz="2800" dirty="0">
                <a:latin typeface="+mj-lt"/>
              </a:rPr>
            </a:br>
            <a:r>
              <a:rPr lang="en-US" sz="2800" dirty="0">
                <a:latin typeface="+mj-lt"/>
              </a:rPr>
              <a:t>D. To include appendices and tables</a:t>
            </a:r>
          </a:p>
        </p:txBody>
      </p:sp>
      <p:sp>
        <p:nvSpPr>
          <p:cNvPr id="2" name="Rectangle: Rounded Corners 1">
            <a:extLst>
              <a:ext uri="{FF2B5EF4-FFF2-40B4-BE49-F238E27FC236}">
                <a16:creationId xmlns:a16="http://schemas.microsoft.com/office/drawing/2014/main" id="{9DF2E858-9D2A-BFAA-4D16-40F01DA08580}"/>
              </a:ext>
            </a:extLst>
          </p:cNvPr>
          <p:cNvSpPr/>
          <p:nvPr/>
        </p:nvSpPr>
        <p:spPr>
          <a:xfrm>
            <a:off x="-26581" y="3581400"/>
            <a:ext cx="8789581" cy="4572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498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9467D-1C22-8E60-8FF2-B07F8978BEC6}"/>
            </a:ext>
          </a:extLst>
        </p:cNvPr>
        <p:cNvGrpSpPr/>
        <p:nvPr/>
      </p:nvGrpSpPr>
      <p:grpSpPr>
        <a:xfrm>
          <a:off x="0" y="0"/>
          <a:ext cx="0" cy="0"/>
          <a:chOff x="0" y="0"/>
          <a:chExt cx="0" cy="0"/>
        </a:xfrm>
      </p:grpSpPr>
      <p:sp>
        <p:nvSpPr>
          <p:cNvPr id="4" name="object 6">
            <a:extLst>
              <a:ext uri="{FF2B5EF4-FFF2-40B4-BE49-F238E27FC236}">
                <a16:creationId xmlns:a16="http://schemas.microsoft.com/office/drawing/2014/main" id="{F165AE59-4A6A-277A-BB7B-48685B925973}"/>
              </a:ext>
            </a:extLst>
          </p:cNvPr>
          <p:cNvSpPr txBox="1">
            <a:spLocks/>
          </p:cNvSpPr>
          <p:nvPr/>
        </p:nvSpPr>
        <p:spPr>
          <a:xfrm>
            <a:off x="2667000" y="228600"/>
            <a:ext cx="10744199" cy="305212"/>
          </a:xfrm>
          <a:prstGeom prst="rect">
            <a:avLst/>
          </a:prstGeom>
        </p:spPr>
        <p:txBody>
          <a:bodyPr vert="horz" wrap="square" lIns="0" tIns="12700" rIns="0" bIns="0" rtlCol="0">
            <a:spAutoFit/>
          </a:bodyPr>
          <a:lstStyle>
            <a:lvl1pPr>
              <a:defRPr sz="3600" b="1" i="0">
                <a:solidFill>
                  <a:srgbClr val="AE230D"/>
                </a:solidFill>
                <a:latin typeface="Arial"/>
                <a:ea typeface="+mj-ea"/>
                <a:cs typeface="Arial"/>
              </a:defRPr>
            </a:lvl1pPr>
          </a:lstStyle>
          <a:p>
            <a:pPr marL="12700">
              <a:spcBef>
                <a:spcPts val="100"/>
              </a:spcBef>
            </a:pPr>
            <a:r>
              <a:rPr lang="en-US" sz="1900" spc="-10" dirty="0">
                <a:solidFill>
                  <a:srgbClr val="FFFFFF"/>
                </a:solidFill>
              </a:rPr>
              <a:t>Multiple Choice Questions (Excellent for Learning)</a:t>
            </a:r>
            <a:endParaRPr lang="en-US" sz="1900" dirty="0"/>
          </a:p>
        </p:txBody>
      </p:sp>
      <p:sp>
        <p:nvSpPr>
          <p:cNvPr id="3" name="TextBox 2">
            <a:extLst>
              <a:ext uri="{FF2B5EF4-FFF2-40B4-BE49-F238E27FC236}">
                <a16:creationId xmlns:a16="http://schemas.microsoft.com/office/drawing/2014/main" id="{DF6D45B9-5E86-2340-4096-ED386D131C31}"/>
              </a:ext>
            </a:extLst>
          </p:cNvPr>
          <p:cNvSpPr txBox="1"/>
          <p:nvPr/>
        </p:nvSpPr>
        <p:spPr>
          <a:xfrm>
            <a:off x="7088" y="1477248"/>
            <a:ext cx="12119344" cy="3903504"/>
          </a:xfrm>
          <a:prstGeom prst="rect">
            <a:avLst/>
          </a:prstGeom>
          <a:noFill/>
        </p:spPr>
        <p:txBody>
          <a:bodyPr wrap="square">
            <a:spAutoFit/>
          </a:bodyPr>
          <a:lstStyle/>
          <a:p>
            <a:pPr>
              <a:lnSpc>
                <a:spcPct val="150000"/>
              </a:lnSpc>
            </a:pPr>
            <a:r>
              <a:rPr lang="en-US" sz="2800" b="1" dirty="0">
                <a:latin typeface="+mj-lt"/>
              </a:rPr>
              <a:t>Question 10</a:t>
            </a:r>
          </a:p>
          <a:p>
            <a:pPr>
              <a:lnSpc>
                <a:spcPct val="150000"/>
              </a:lnSpc>
            </a:pPr>
            <a:r>
              <a:rPr lang="en-US" sz="2800" dirty="0">
                <a:latin typeface="+mj-lt"/>
              </a:rPr>
              <a:t>Which of the following is the BEST example of critical analysis?</a:t>
            </a:r>
          </a:p>
          <a:p>
            <a:pPr>
              <a:lnSpc>
                <a:spcPct val="150000"/>
              </a:lnSpc>
            </a:pPr>
            <a:r>
              <a:rPr lang="en-US" sz="2800" dirty="0">
                <a:latin typeface="+mj-lt"/>
              </a:rPr>
              <a:t>A. Listing information from one article only</a:t>
            </a:r>
            <a:br>
              <a:rPr lang="en-US" sz="2800" dirty="0">
                <a:latin typeface="+mj-lt"/>
              </a:rPr>
            </a:br>
            <a:r>
              <a:rPr lang="en-US" sz="2800" dirty="0">
                <a:latin typeface="+mj-lt"/>
              </a:rPr>
              <a:t>B. Copying definitions from websites</a:t>
            </a:r>
            <a:br>
              <a:rPr lang="en-US" sz="2800" dirty="0">
                <a:latin typeface="+mj-lt"/>
              </a:rPr>
            </a:br>
            <a:r>
              <a:rPr lang="en-US" sz="2800" dirty="0">
                <a:latin typeface="+mj-lt"/>
              </a:rPr>
              <a:t>C. Comparing different research findings and discussing strengths and weaknesses</a:t>
            </a:r>
            <a:br>
              <a:rPr lang="en-US" sz="2800" dirty="0">
                <a:latin typeface="+mj-lt"/>
              </a:rPr>
            </a:br>
            <a:r>
              <a:rPr lang="en-US" sz="2800" dirty="0">
                <a:latin typeface="+mj-lt"/>
              </a:rPr>
              <a:t>D. Writing personal opinions without evidence</a:t>
            </a:r>
          </a:p>
        </p:txBody>
      </p:sp>
      <p:sp>
        <p:nvSpPr>
          <p:cNvPr id="2" name="Rectangle: Rounded Corners 1">
            <a:extLst>
              <a:ext uri="{FF2B5EF4-FFF2-40B4-BE49-F238E27FC236}">
                <a16:creationId xmlns:a16="http://schemas.microsoft.com/office/drawing/2014/main" id="{03A3E076-F853-5DC0-9544-0DAB23C19409}"/>
              </a:ext>
            </a:extLst>
          </p:cNvPr>
          <p:cNvSpPr/>
          <p:nvPr/>
        </p:nvSpPr>
        <p:spPr>
          <a:xfrm>
            <a:off x="5317" y="4219352"/>
            <a:ext cx="12186683" cy="50504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548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2895600" y="171826"/>
            <a:ext cx="9144000" cy="577517"/>
          </a:xfrm>
        </p:spPr>
        <p:txBody>
          <a:bodyPr>
            <a:noAutofit/>
          </a:bodyPr>
          <a:lstStyle/>
          <a:p>
            <a:r>
              <a:rPr lang="en-US" sz="3500" dirty="0">
                <a:solidFill>
                  <a:schemeClr val="bg1"/>
                </a:solidFill>
                <a:latin typeface="Calibri" panose="020F0502020204030204" pitchFamily="34" charset="0"/>
                <a:cs typeface="Calibri" panose="020F0502020204030204" pitchFamily="34" charset="0"/>
              </a:rPr>
              <a:t>Let’s Answer Your Questions</a:t>
            </a:r>
            <a:endParaRPr lang="en-AU" sz="3500" dirty="0">
              <a:solidFill>
                <a:schemeClr val="bg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540727" y="3429000"/>
            <a:ext cx="9144000" cy="3257174"/>
          </a:xfrm>
          <a:prstGeom prst="rect">
            <a:avLst/>
          </a:prstGeom>
          <a:noFill/>
        </p:spPr>
        <p:txBody>
          <a:bodyPr wrap="square" rtlCol="0">
            <a:spAutoFit/>
          </a:bodyPr>
          <a:lstStyle/>
          <a:p>
            <a:pPr marL="385763" indent="-385763" algn="l" defTabSz="68580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Live during class</a:t>
            </a:r>
            <a:r>
              <a:rPr lang="en-US" altLang="en-US" sz="2800" kern="1200" dirty="0">
                <a:solidFill>
                  <a:prstClr val="black"/>
                </a:solidFill>
                <a:latin typeface="Calibri" panose="020F0502020204030204" pitchFamily="34" charset="0"/>
                <a:ea typeface="+mn-ea"/>
                <a:cs typeface="Calibri" panose="020F0502020204030204" pitchFamily="34" charset="0"/>
              </a:rPr>
              <a:t> – Ask directly during sessions.</a:t>
            </a:r>
          </a:p>
          <a:p>
            <a:pPr marL="385763" indent="-385763" algn="l" defTabSz="68580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Canvas Inbox</a:t>
            </a:r>
            <a:r>
              <a:rPr lang="en-US" altLang="en-US" sz="2800" kern="1200" dirty="0">
                <a:solidFill>
                  <a:prstClr val="black"/>
                </a:solidFill>
                <a:latin typeface="Calibri" panose="020F0502020204030204" pitchFamily="34" charset="0"/>
                <a:ea typeface="+mn-ea"/>
                <a:cs typeface="Calibri" panose="020F0502020204030204" pitchFamily="34" charset="0"/>
              </a:rPr>
              <a:t> – For structured academic queries.</a:t>
            </a:r>
          </a:p>
          <a:p>
            <a:pPr marL="385763" indent="-385763" algn="l" defTabSz="68580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Email</a:t>
            </a:r>
            <a:r>
              <a:rPr lang="en-US" altLang="en-US" sz="2800" kern="1200" dirty="0">
                <a:solidFill>
                  <a:prstClr val="black"/>
                </a:solidFill>
                <a:latin typeface="Calibri" panose="020F0502020204030204" pitchFamily="34" charset="0"/>
                <a:ea typeface="+mn-ea"/>
                <a:cs typeface="Calibri" panose="020F0502020204030204" pitchFamily="34" charset="0"/>
              </a:rPr>
              <a:t> – For formal communications or attachments.</a:t>
            </a:r>
          </a:p>
          <a:p>
            <a:pPr marL="385763" indent="-385763" algn="l" defTabSz="685800" rtl="0" eaLnBrk="0" fontAlgn="base" hangingPunct="0">
              <a:lnSpc>
                <a:spcPct val="150000"/>
              </a:lnSpc>
              <a:spcBef>
                <a:spcPct val="0"/>
              </a:spcBef>
              <a:spcAft>
                <a:spcPct val="0"/>
              </a:spcAft>
              <a:buFont typeface="+mj-lt"/>
              <a:buAutoNum type="arabicPeriod"/>
              <a:defRPr/>
            </a:pPr>
            <a:r>
              <a:rPr lang="en-US" altLang="en-US" sz="2800" b="1" kern="1200" dirty="0">
                <a:solidFill>
                  <a:prstClr val="black"/>
                </a:solidFill>
                <a:latin typeface="Calibri" panose="020F0502020204030204" pitchFamily="34" charset="0"/>
                <a:ea typeface="+mn-ea"/>
                <a:cs typeface="Calibri" panose="020F0502020204030204" pitchFamily="34" charset="0"/>
              </a:rPr>
              <a:t>Canvas Discussion Forum </a:t>
            </a:r>
            <a:r>
              <a:rPr lang="en-US" altLang="en-US" sz="2800" kern="1200" dirty="0">
                <a:solidFill>
                  <a:prstClr val="black"/>
                </a:solidFill>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24753639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1730930" y="1420349"/>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154430" y="1594466"/>
            <a:ext cx="4513571" cy="4543576"/>
          </a:xfrm>
          <a:prstGeom prst="rect">
            <a:avLst/>
          </a:prstGeom>
        </p:spPr>
        <p:txBody>
          <a:bodyPr vert="horz" lIns="68580" tIns="34290" rIns="68580" bIns="34290" rtlCol="0" anchor="t">
            <a:noAutofit/>
          </a:bodyPr>
          <a:lstStyle/>
          <a:p>
            <a:pPr defTabSz="685800">
              <a:lnSpc>
                <a:spcPct val="150000"/>
              </a:lnSpc>
              <a:spcAft>
                <a:spcPts val="450"/>
              </a:spcAft>
              <a:defRPr/>
            </a:pPr>
            <a:r>
              <a:rPr lang="en-US" sz="2400" spc="-20" dirty="0">
                <a:latin typeface="Calibri" panose="020F0502020204030204" pitchFamily="34" charset="0"/>
                <a:cs typeface="Calibri" panose="020F0502020204030204" pitchFamily="34" charset="0"/>
              </a:rPr>
              <a:t>Happy Learning and Bright Futures Ahead!</a:t>
            </a:r>
          </a:p>
          <a:p>
            <a:pPr defTabSz="685800">
              <a:lnSpc>
                <a:spcPct val="150000"/>
              </a:lnSpc>
              <a:spcAft>
                <a:spcPts val="450"/>
              </a:spcAft>
              <a:defRPr/>
            </a:pPr>
            <a:r>
              <a:rPr lang="en-US" sz="2400" b="1" kern="1200" dirty="0">
                <a:solidFill>
                  <a:prstClr val="black">
                    <a:alpha val="80000"/>
                  </a:prstClr>
                </a:solidFill>
                <a:latin typeface="Calibri" panose="020F0502020204030204" pitchFamily="34" charset="0"/>
                <a:cs typeface="Calibri" panose="020F0502020204030204" pitchFamily="34" charset="0"/>
              </a:rPr>
              <a:t>Stay Connected:</a:t>
            </a:r>
            <a:br>
              <a:rPr lang="en-US" sz="2400" kern="1200" dirty="0">
                <a:solidFill>
                  <a:prstClr val="black">
                    <a:alpha val="80000"/>
                  </a:prstClr>
                </a:solidFill>
                <a:latin typeface="Calibri" panose="020F0502020204030204" pitchFamily="34" charset="0"/>
                <a:cs typeface="Calibri" panose="020F0502020204030204" pitchFamily="34" charset="0"/>
              </a:rPr>
            </a:br>
            <a:r>
              <a:rPr lang="en-US" sz="2400" kern="1200" dirty="0">
                <a:solidFill>
                  <a:prstClr val="black">
                    <a:alpha val="80000"/>
                  </a:prstClr>
                </a:solidFill>
                <a:latin typeface="Calibri" panose="020F0502020204030204" pitchFamily="34" charset="0"/>
                <a:cs typeface="Calibri" panose="020F0502020204030204" pitchFamily="34" charset="0"/>
                <a:hlinkClick r:id="rId3"/>
              </a:rPr>
              <a:t>linkedin.com/in/farshid-keivanian</a:t>
            </a:r>
            <a:r>
              <a:rPr lang="en-US" sz="2400" kern="1200" dirty="0">
                <a:solidFill>
                  <a:prstClr val="black">
                    <a:alpha val="80000"/>
                  </a:prstClr>
                </a:solidFill>
                <a:latin typeface="Calibri" panose="020F0502020204030204" pitchFamily="34" charset="0"/>
                <a:cs typeface="Calibri" panose="020F0502020204030204" pitchFamily="34" charset="0"/>
              </a:rPr>
              <a:t> </a:t>
            </a:r>
            <a:br>
              <a:rPr lang="en-US" sz="2400" kern="1200" dirty="0">
                <a:solidFill>
                  <a:prstClr val="black">
                    <a:alpha val="80000"/>
                  </a:prstClr>
                </a:solidFill>
                <a:latin typeface="Calibri" panose="020F0502020204030204" pitchFamily="34" charset="0"/>
                <a:cs typeface="Calibri" panose="020F0502020204030204" pitchFamily="34" charset="0"/>
              </a:rPr>
            </a:br>
            <a:r>
              <a:rPr lang="en-US" sz="2400" kern="1200" dirty="0">
                <a:solidFill>
                  <a:prstClr val="black">
                    <a:alpha val="80000"/>
                  </a:prstClr>
                </a:solidFill>
                <a:latin typeface="Calibri" panose="020F0502020204030204" pitchFamily="34" charset="0"/>
                <a:cs typeface="Calibri" panose="020F0502020204030204" pitchFamily="34" charset="0"/>
                <a:hlinkClick r:id="rId4"/>
              </a:rPr>
              <a:t>github.com/FarshidKeivanian</a:t>
            </a:r>
            <a:r>
              <a:rPr lang="en-US" sz="2400" kern="1200" dirty="0">
                <a:solidFill>
                  <a:prstClr val="black">
                    <a:alpha val="80000"/>
                  </a:prstClr>
                </a:solidFill>
                <a:latin typeface="Calibri" panose="020F0502020204030204" pitchFamily="34" charset="0"/>
                <a:cs typeface="Calibri" panose="020F0502020204030204" pitchFamily="34" charset="0"/>
              </a:rPr>
              <a:t> </a:t>
            </a:r>
          </a:p>
          <a:p>
            <a:pPr indent="-171450" algn="l" defTabSz="685800" rtl="0">
              <a:lnSpc>
                <a:spcPct val="150000"/>
              </a:lnSpc>
              <a:spcAft>
                <a:spcPts val="450"/>
              </a:spcAft>
              <a:buFont typeface="Arial" panose="020B0604020202020204" pitchFamily="34" charset="0"/>
              <a:buChar char="•"/>
              <a:defRPr/>
            </a:pPr>
            <a:r>
              <a:rPr lang="en-US" sz="2400" i="1" kern="1200" dirty="0">
                <a:solidFill>
                  <a:prstClr val="black">
                    <a:alpha val="80000"/>
                  </a:prstClr>
                </a:solidFill>
                <a:latin typeface="Calibri" panose="020F0502020204030204" pitchFamily="34" charset="0"/>
                <a:cs typeface="Calibri" panose="020F0502020204030204" pitchFamily="34" charset="0"/>
              </a:rPr>
              <a:t>Education is the most powerful weapon you can use to change the world. </a:t>
            </a:r>
            <a:r>
              <a:rPr lang="en-US" sz="2400" kern="1200" dirty="0">
                <a:solidFill>
                  <a:prstClr val="black">
                    <a:alpha val="80000"/>
                  </a:prstClr>
                </a:solidFill>
                <a:latin typeface="Calibri" panose="020F0502020204030204" pitchFamily="34" charset="0"/>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2895600" y="-152400"/>
            <a:ext cx="6920865" cy="800732"/>
          </a:xfrm>
          <a:prstGeom prst="rect">
            <a:avLst/>
          </a:prstGeom>
        </p:spPr>
        <p:txBody>
          <a:bodyPr vert="horz" wrap="square" lIns="0" tIns="259588" rIns="0" bIns="0" rtlCol="0">
            <a:spAutoFit/>
          </a:bodyPr>
          <a:lstStyle/>
          <a:p>
            <a:pPr marL="123825">
              <a:spcBef>
                <a:spcPts val="100"/>
              </a:spcBef>
            </a:pPr>
            <a:r>
              <a:rPr lang="en-US" sz="3500" spc="-20" dirty="0">
                <a:solidFill>
                  <a:schemeClr val="bg1"/>
                </a:solidFill>
                <a:latin typeface="Calibri" panose="020F0502020204030204" pitchFamily="34" charset="0"/>
                <a:cs typeface="Calibri" panose="020F0502020204030204" pitchFamily="34" charset="0"/>
              </a:rPr>
              <a:t>Thank You</a:t>
            </a:r>
            <a:endParaRPr sz="3500" spc="-2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215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1077</TotalTime>
  <Words>2452</Words>
  <Application>Microsoft Office PowerPoint</Application>
  <PresentationFormat>Widescreen</PresentationFormat>
  <Paragraphs>278</Paragraphs>
  <Slides>49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Arial</vt:lpstr>
      <vt:lpstr>Calibir</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Guidelines</dc:title>
  <dc:creator>Ali</dc:creator>
  <cp:lastModifiedBy>Farshid Keivanian</cp:lastModifiedBy>
  <cp:revision>353</cp:revision>
  <dcterms:created xsi:type="dcterms:W3CDTF">2024-05-06T19:11:32Z</dcterms:created>
  <dcterms:modified xsi:type="dcterms:W3CDTF">2026-05-13T19:37:17Z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2024-04-20T00:00:00Z</vt:filetime>
  </property>
  <property fmtid="{D5CDD505-2E9C-101B-9397-08002B2CF9AE}" pid="3" name="Creator">
    <vt:lpwstr>Microsoft® PowerPoint® for Microsoft 365</vt:lpwstr>
  </property>
  <property fmtid="{D5CDD505-2E9C-101B-9397-08002B2CF9AE}" pid="4" name="LastSaved">
    <vt:filetime>2024-05-06T00:00:00Z</vt:filetime>
  </property>
  <property fmtid="{D5CDD505-2E9C-101B-9397-08002B2CF9AE}" pid="5" name="Producer">
    <vt:lpwstr>Microsoft® PowerPoint® for Microsoft 365</vt:lpwstr>
  </property>
</Properties>
</file>