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9" r:id="rId54"/>
    <p:sldId id="308" r:id="rId55"/>
    <p:sldId id="310" r:id="rId56"/>
    <p:sldId id="311" r:id="rId57"/>
    <p:sldId id="312" r:id="rId58"/>
    <p:sldId id="314" r:id="rId59"/>
    <p:sldId id="315" r:id="rId60"/>
    <p:sldId id="313"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0" d="100"/>
          <a:sy n="50" d="100"/>
        </p:scale>
        <p:origin x="1221" y="41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53BBB-F907-4623-65DB-FC3156B63C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4D4CD2-2F0E-4232-0771-6C58ADBC1C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E16003-E5BD-FEBA-3F09-15903EFE492B}"/>
              </a:ext>
            </a:extLst>
          </p:cNvPr>
          <p:cNvSpPr>
            <a:spLocks noGrp="1"/>
          </p:cNvSpPr>
          <p:nvPr>
            <p:ph type="dt" sz="half" idx="10"/>
          </p:nvPr>
        </p:nvSpPr>
        <p:spPr/>
        <p:txBody>
          <a:bodyPr/>
          <a:lstStyle/>
          <a:p>
            <a:fld id="{6C5FC939-4E48-422B-85CF-AE5DFF0E5B8E}" type="datetimeFigureOut">
              <a:rPr lang="en-US" smtClean="0"/>
              <a:t>5/28/2026</a:t>
            </a:fld>
            <a:endParaRPr lang="en-US"/>
          </a:p>
        </p:txBody>
      </p:sp>
      <p:sp>
        <p:nvSpPr>
          <p:cNvPr id="5" name="Footer Placeholder 4">
            <a:extLst>
              <a:ext uri="{FF2B5EF4-FFF2-40B4-BE49-F238E27FC236}">
                <a16:creationId xmlns:a16="http://schemas.microsoft.com/office/drawing/2014/main" id="{330DAAF6-9D4F-1019-FF4B-B113159689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DF9AF1-5889-CBF6-6AEB-C2F585F1C357}"/>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2163095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76708-107A-3241-B99D-8453599E17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B9C831-91F0-F852-B92D-B0155B8E7D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232821-BCBD-7EB2-5FAF-1D0148354636}"/>
              </a:ext>
            </a:extLst>
          </p:cNvPr>
          <p:cNvSpPr>
            <a:spLocks noGrp="1"/>
          </p:cNvSpPr>
          <p:nvPr>
            <p:ph type="dt" sz="half" idx="10"/>
          </p:nvPr>
        </p:nvSpPr>
        <p:spPr/>
        <p:txBody>
          <a:bodyPr/>
          <a:lstStyle/>
          <a:p>
            <a:fld id="{6C5FC939-4E48-422B-85CF-AE5DFF0E5B8E}" type="datetimeFigureOut">
              <a:rPr lang="en-US" smtClean="0"/>
              <a:t>5/28/2026</a:t>
            </a:fld>
            <a:endParaRPr lang="en-US"/>
          </a:p>
        </p:txBody>
      </p:sp>
      <p:sp>
        <p:nvSpPr>
          <p:cNvPr id="5" name="Footer Placeholder 4">
            <a:extLst>
              <a:ext uri="{FF2B5EF4-FFF2-40B4-BE49-F238E27FC236}">
                <a16:creationId xmlns:a16="http://schemas.microsoft.com/office/drawing/2014/main" id="{9F306B55-8DC4-5AD8-1F16-0ACBA2C757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44A9B3-319C-81C4-EDD1-5C3BE78C9025}"/>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2285625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A5BA4-8647-3C50-0A76-64A2D1BCAE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CB3448-A690-95C9-4301-907A89AAF3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AAA6B9-DB6A-1DF4-FE6F-B38E9B540F27}"/>
              </a:ext>
            </a:extLst>
          </p:cNvPr>
          <p:cNvSpPr>
            <a:spLocks noGrp="1"/>
          </p:cNvSpPr>
          <p:nvPr>
            <p:ph type="dt" sz="half" idx="10"/>
          </p:nvPr>
        </p:nvSpPr>
        <p:spPr/>
        <p:txBody>
          <a:bodyPr/>
          <a:lstStyle/>
          <a:p>
            <a:fld id="{6C5FC939-4E48-422B-85CF-AE5DFF0E5B8E}" type="datetimeFigureOut">
              <a:rPr lang="en-US" smtClean="0"/>
              <a:t>5/28/2026</a:t>
            </a:fld>
            <a:endParaRPr lang="en-US"/>
          </a:p>
        </p:txBody>
      </p:sp>
      <p:sp>
        <p:nvSpPr>
          <p:cNvPr id="5" name="Footer Placeholder 4">
            <a:extLst>
              <a:ext uri="{FF2B5EF4-FFF2-40B4-BE49-F238E27FC236}">
                <a16:creationId xmlns:a16="http://schemas.microsoft.com/office/drawing/2014/main" id="{CB75BC75-D78C-2078-BC5D-87351D6750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62B818-72F9-0944-CC38-7B1677A737AF}"/>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729255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C686F-8892-6282-0A39-3552C06271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316649-0016-2463-CE84-64AFCC2F93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E2178F-F9C8-C924-0056-9F17D93802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F2367C-521A-CFC2-1EF3-83C6626CDD53}"/>
              </a:ext>
            </a:extLst>
          </p:cNvPr>
          <p:cNvSpPr>
            <a:spLocks noGrp="1"/>
          </p:cNvSpPr>
          <p:nvPr>
            <p:ph type="dt" sz="half" idx="10"/>
          </p:nvPr>
        </p:nvSpPr>
        <p:spPr/>
        <p:txBody>
          <a:bodyPr/>
          <a:lstStyle/>
          <a:p>
            <a:fld id="{6C5FC939-4E48-422B-85CF-AE5DFF0E5B8E}" type="datetimeFigureOut">
              <a:rPr lang="en-US" smtClean="0"/>
              <a:t>5/28/2026</a:t>
            </a:fld>
            <a:endParaRPr lang="en-US"/>
          </a:p>
        </p:txBody>
      </p:sp>
      <p:sp>
        <p:nvSpPr>
          <p:cNvPr id="6" name="Footer Placeholder 5">
            <a:extLst>
              <a:ext uri="{FF2B5EF4-FFF2-40B4-BE49-F238E27FC236}">
                <a16:creationId xmlns:a16="http://schemas.microsoft.com/office/drawing/2014/main" id="{8AD15FF2-5DA4-8F78-DCC2-BE0529BA35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CAC27B-DE8E-C3F7-12BD-F20C1E1A540C}"/>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495357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02FB0-4653-6798-EFCD-B3622FCF8D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1AD336-0D48-E2AE-D21D-EFE04B35BA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2C510B-6C93-4C15-3CEA-C9D4EFCF58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C28684-2163-FF93-29BB-C5E87E139A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E4CD54-0510-D2EC-A91E-FBC423E003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0D320A-421D-3383-C89B-AE3DCB65B0C0}"/>
              </a:ext>
            </a:extLst>
          </p:cNvPr>
          <p:cNvSpPr>
            <a:spLocks noGrp="1"/>
          </p:cNvSpPr>
          <p:nvPr>
            <p:ph type="dt" sz="half" idx="10"/>
          </p:nvPr>
        </p:nvSpPr>
        <p:spPr/>
        <p:txBody>
          <a:bodyPr/>
          <a:lstStyle/>
          <a:p>
            <a:fld id="{6C5FC939-4E48-422B-85CF-AE5DFF0E5B8E}" type="datetimeFigureOut">
              <a:rPr lang="en-US" smtClean="0"/>
              <a:t>5/28/2026</a:t>
            </a:fld>
            <a:endParaRPr lang="en-US"/>
          </a:p>
        </p:txBody>
      </p:sp>
      <p:sp>
        <p:nvSpPr>
          <p:cNvPr id="8" name="Footer Placeholder 7">
            <a:extLst>
              <a:ext uri="{FF2B5EF4-FFF2-40B4-BE49-F238E27FC236}">
                <a16:creationId xmlns:a16="http://schemas.microsoft.com/office/drawing/2014/main" id="{66E27931-5194-2885-6D31-45A1667659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373AFD-94DE-778F-5291-5E44BB844A33}"/>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306392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CF888-1BCB-F571-E88C-C5940AAB15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A775AE-FAA8-2755-5806-41BE91463675}"/>
              </a:ext>
            </a:extLst>
          </p:cNvPr>
          <p:cNvSpPr>
            <a:spLocks noGrp="1"/>
          </p:cNvSpPr>
          <p:nvPr>
            <p:ph type="dt" sz="half" idx="10"/>
          </p:nvPr>
        </p:nvSpPr>
        <p:spPr/>
        <p:txBody>
          <a:bodyPr/>
          <a:lstStyle/>
          <a:p>
            <a:fld id="{6C5FC939-4E48-422B-85CF-AE5DFF0E5B8E}" type="datetimeFigureOut">
              <a:rPr lang="en-US" smtClean="0"/>
              <a:t>5/28/2026</a:t>
            </a:fld>
            <a:endParaRPr lang="en-US"/>
          </a:p>
        </p:txBody>
      </p:sp>
      <p:sp>
        <p:nvSpPr>
          <p:cNvPr id="4" name="Footer Placeholder 3">
            <a:extLst>
              <a:ext uri="{FF2B5EF4-FFF2-40B4-BE49-F238E27FC236}">
                <a16:creationId xmlns:a16="http://schemas.microsoft.com/office/drawing/2014/main" id="{219937DC-D40E-478F-475A-AF628E2C5E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D66E8A-44A4-8153-16F0-A8E881304AB8}"/>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407015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FE00FE-7152-CF7D-4CE2-188AC4E5EB3A}"/>
              </a:ext>
            </a:extLst>
          </p:cNvPr>
          <p:cNvSpPr>
            <a:spLocks noGrp="1"/>
          </p:cNvSpPr>
          <p:nvPr>
            <p:ph type="dt" sz="half" idx="10"/>
          </p:nvPr>
        </p:nvSpPr>
        <p:spPr/>
        <p:txBody>
          <a:bodyPr/>
          <a:lstStyle/>
          <a:p>
            <a:fld id="{6C5FC939-4E48-422B-85CF-AE5DFF0E5B8E}" type="datetimeFigureOut">
              <a:rPr lang="en-US" smtClean="0"/>
              <a:t>5/28/2026</a:t>
            </a:fld>
            <a:endParaRPr lang="en-US"/>
          </a:p>
        </p:txBody>
      </p:sp>
      <p:sp>
        <p:nvSpPr>
          <p:cNvPr id="3" name="Footer Placeholder 2">
            <a:extLst>
              <a:ext uri="{FF2B5EF4-FFF2-40B4-BE49-F238E27FC236}">
                <a16:creationId xmlns:a16="http://schemas.microsoft.com/office/drawing/2014/main" id="{5BB37CD6-01AC-7FAE-05EC-DC1017CE0F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D9B317-8FE8-27EF-7EC5-A5F47263A117}"/>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3810145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BADE7-643A-CECE-ACBA-8FF064621E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BC176C-E86C-6665-5804-0ECFA2EA8F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29C4DA-44AD-97B9-139F-3C79DF54B0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20240-A8CA-CF1A-CA8C-B93863D17D5A}"/>
              </a:ext>
            </a:extLst>
          </p:cNvPr>
          <p:cNvSpPr>
            <a:spLocks noGrp="1"/>
          </p:cNvSpPr>
          <p:nvPr>
            <p:ph type="dt" sz="half" idx="10"/>
          </p:nvPr>
        </p:nvSpPr>
        <p:spPr/>
        <p:txBody>
          <a:bodyPr/>
          <a:lstStyle/>
          <a:p>
            <a:fld id="{6C5FC939-4E48-422B-85CF-AE5DFF0E5B8E}" type="datetimeFigureOut">
              <a:rPr lang="en-US" smtClean="0"/>
              <a:t>5/28/2026</a:t>
            </a:fld>
            <a:endParaRPr lang="en-US"/>
          </a:p>
        </p:txBody>
      </p:sp>
      <p:sp>
        <p:nvSpPr>
          <p:cNvPr id="6" name="Footer Placeholder 5">
            <a:extLst>
              <a:ext uri="{FF2B5EF4-FFF2-40B4-BE49-F238E27FC236}">
                <a16:creationId xmlns:a16="http://schemas.microsoft.com/office/drawing/2014/main" id="{F256AE23-E171-4BFA-FEC1-25E29AF47A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A8F3AE-5D0B-C75D-16DE-ABA3075B49BD}"/>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3348431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FA6B1-9F43-1496-8502-A0CC9463DA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27132AA-6881-A90B-0BCD-D88658778C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929632-03A6-E0ED-8217-0821DA1CF1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C001C9-0B28-BD43-8AE9-4C8A3F0B0138}"/>
              </a:ext>
            </a:extLst>
          </p:cNvPr>
          <p:cNvSpPr>
            <a:spLocks noGrp="1"/>
          </p:cNvSpPr>
          <p:nvPr>
            <p:ph type="dt" sz="half" idx="10"/>
          </p:nvPr>
        </p:nvSpPr>
        <p:spPr/>
        <p:txBody>
          <a:bodyPr/>
          <a:lstStyle/>
          <a:p>
            <a:fld id="{6C5FC939-4E48-422B-85CF-AE5DFF0E5B8E}" type="datetimeFigureOut">
              <a:rPr lang="en-US" smtClean="0"/>
              <a:t>5/28/2026</a:t>
            </a:fld>
            <a:endParaRPr lang="en-US"/>
          </a:p>
        </p:txBody>
      </p:sp>
      <p:sp>
        <p:nvSpPr>
          <p:cNvPr id="6" name="Footer Placeholder 5">
            <a:extLst>
              <a:ext uri="{FF2B5EF4-FFF2-40B4-BE49-F238E27FC236}">
                <a16:creationId xmlns:a16="http://schemas.microsoft.com/office/drawing/2014/main" id="{C4B1E51E-2E4C-47F7-C0F0-6A1D66B2E4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40B6E2-B87C-1D9E-1F44-FBCE5295AE60}"/>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4258188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D43B9-BD2B-88C5-BD7A-7E444ADDE0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F76E4E-1665-81BD-53B1-538C0052F7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00F943-8C2F-4A39-B4FE-FBA133D13854}"/>
              </a:ext>
            </a:extLst>
          </p:cNvPr>
          <p:cNvSpPr>
            <a:spLocks noGrp="1"/>
          </p:cNvSpPr>
          <p:nvPr>
            <p:ph type="dt" sz="half" idx="10"/>
          </p:nvPr>
        </p:nvSpPr>
        <p:spPr/>
        <p:txBody>
          <a:bodyPr/>
          <a:lstStyle/>
          <a:p>
            <a:fld id="{6C5FC939-4E48-422B-85CF-AE5DFF0E5B8E}" type="datetimeFigureOut">
              <a:rPr lang="en-US" smtClean="0"/>
              <a:t>5/28/2026</a:t>
            </a:fld>
            <a:endParaRPr lang="en-US"/>
          </a:p>
        </p:txBody>
      </p:sp>
      <p:sp>
        <p:nvSpPr>
          <p:cNvPr id="5" name="Footer Placeholder 4">
            <a:extLst>
              <a:ext uri="{FF2B5EF4-FFF2-40B4-BE49-F238E27FC236}">
                <a16:creationId xmlns:a16="http://schemas.microsoft.com/office/drawing/2014/main" id="{8F4CA545-B06D-F09E-FEB0-F97FAA0DC8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C02BCC-540F-8FC7-2C00-322C12C89E32}"/>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1079312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9E605B-39B1-73CA-DBFB-3D22E68461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C68D13-B39C-4599-0A9B-2F481DA34A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FE1CD6-DE91-F27B-88F4-C4C69056F82F}"/>
              </a:ext>
            </a:extLst>
          </p:cNvPr>
          <p:cNvSpPr>
            <a:spLocks noGrp="1"/>
          </p:cNvSpPr>
          <p:nvPr>
            <p:ph type="dt" sz="half" idx="10"/>
          </p:nvPr>
        </p:nvSpPr>
        <p:spPr/>
        <p:txBody>
          <a:bodyPr/>
          <a:lstStyle/>
          <a:p>
            <a:fld id="{6C5FC939-4E48-422B-85CF-AE5DFF0E5B8E}" type="datetimeFigureOut">
              <a:rPr lang="en-US" smtClean="0"/>
              <a:t>5/28/2026</a:t>
            </a:fld>
            <a:endParaRPr lang="en-US"/>
          </a:p>
        </p:txBody>
      </p:sp>
      <p:sp>
        <p:nvSpPr>
          <p:cNvPr id="5" name="Footer Placeholder 4">
            <a:extLst>
              <a:ext uri="{FF2B5EF4-FFF2-40B4-BE49-F238E27FC236}">
                <a16:creationId xmlns:a16="http://schemas.microsoft.com/office/drawing/2014/main" id="{074FB462-01D3-9C97-104A-B2432398B8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9724D5-CDEA-BC38-C69A-770BC339918A}"/>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548040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8D1D20-0084-0FE3-26F8-5A2AEC255A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5D3070-A470-C925-5DC3-98EA4CF121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E021C6-0776-8AFF-C944-C209AEB2CE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C5FC939-4E48-422B-85CF-AE5DFF0E5B8E}" type="datetimeFigureOut">
              <a:rPr lang="en-US" smtClean="0"/>
              <a:t>5/28/2026</a:t>
            </a:fld>
            <a:endParaRPr lang="en-US"/>
          </a:p>
        </p:txBody>
      </p:sp>
      <p:sp>
        <p:nvSpPr>
          <p:cNvPr id="5" name="Footer Placeholder 4">
            <a:extLst>
              <a:ext uri="{FF2B5EF4-FFF2-40B4-BE49-F238E27FC236}">
                <a16:creationId xmlns:a16="http://schemas.microsoft.com/office/drawing/2014/main" id="{5E8606E3-E03F-0807-C17A-A25BC36207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D5AAFE-E4E3-B273-DB9F-B221B072DA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D507A6-8785-483D-BAF4-84DBECC94A15}" type="slidenum">
              <a:rPr lang="en-US" smtClean="0"/>
              <a:t>‹#›</a:t>
            </a:fld>
            <a:endParaRPr lang="en-US"/>
          </a:p>
        </p:txBody>
      </p:sp>
    </p:spTree>
    <p:extLst>
      <p:ext uri="{BB962C8B-B14F-4D97-AF65-F5344CB8AC3E}">
        <p14:creationId xmlns:p14="http://schemas.microsoft.com/office/powerpoint/2010/main" val="744914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hyperlink" Target="https://holmes.blackboard.com/webapps/blackboard/execute/courseMain?course_id=_7626_1" TargetMode="Externa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58C80A-61B1-E3FD-99E2-625B7EEC66F6}"/>
              </a:ext>
            </a:extLst>
          </p:cNvPr>
          <p:cNvSpPr txBox="1"/>
          <p:nvPr/>
        </p:nvSpPr>
        <p:spPr>
          <a:xfrm>
            <a:off x="0" y="73691"/>
            <a:ext cx="5954988" cy="3815137"/>
          </a:xfrm>
          <a:prstGeom prst="rect">
            <a:avLst/>
          </a:prstGeom>
        </p:spPr>
        <p:txBody>
          <a:bodyPr vert="horz" lIns="51434" tIns="25718" rIns="51434" bIns="25718" rtlCol="0" anchor="b">
            <a:noAutofit/>
          </a:bodyPr>
          <a:lstStyle/>
          <a:p>
            <a:pPr algn="ctr">
              <a:lnSpc>
                <a:spcPct val="90000"/>
              </a:lnSpc>
              <a:spcBef>
                <a:spcPct val="0"/>
              </a:spcBef>
              <a:spcAft>
                <a:spcPts val="338"/>
              </a:spcAft>
            </a:pPr>
            <a:r>
              <a:rPr lang="en-US" sz="3800" b="1" dirty="0">
                <a:solidFill>
                  <a:srgbClr val="595959"/>
                </a:solidFill>
                <a:latin typeface="Calibir"/>
                <a:ea typeface="+mj-ea"/>
                <a:cs typeface="+mj-cs"/>
              </a:rPr>
              <a:t>HI6034: Enterprise Information Systems</a:t>
            </a:r>
            <a:br>
              <a:rPr lang="en-US" sz="3800" b="1" dirty="0">
                <a:solidFill>
                  <a:srgbClr val="595959"/>
                </a:solidFill>
                <a:latin typeface="Calibir"/>
                <a:ea typeface="+mj-ea"/>
                <a:cs typeface="+mj-cs"/>
              </a:rPr>
            </a:br>
            <a:endParaRPr lang="en-US" sz="3800" b="1" dirty="0">
              <a:solidFill>
                <a:srgbClr val="595959"/>
              </a:solidFill>
              <a:latin typeface="Calibir"/>
              <a:ea typeface="+mj-ea"/>
              <a:cs typeface="+mj-cs"/>
            </a:endParaRPr>
          </a:p>
          <a:p>
            <a:pPr algn="ctr">
              <a:lnSpc>
                <a:spcPct val="90000"/>
              </a:lnSpc>
              <a:spcBef>
                <a:spcPct val="0"/>
              </a:spcBef>
              <a:spcAft>
                <a:spcPts val="338"/>
              </a:spcAft>
            </a:pPr>
            <a:r>
              <a:rPr lang="en-US" sz="3800" b="1" dirty="0">
                <a:solidFill>
                  <a:srgbClr val="595959"/>
                </a:solidFill>
                <a:latin typeface="Calibir"/>
                <a:ea typeface="+mj-ea"/>
                <a:cs typeface="+mj-cs"/>
              </a:rPr>
              <a:t>Preparation for Group Assignments (Week 5 and 6)</a:t>
            </a:r>
          </a:p>
          <a:p>
            <a:pPr algn="ctr">
              <a:lnSpc>
                <a:spcPct val="90000"/>
              </a:lnSpc>
              <a:spcBef>
                <a:spcPct val="0"/>
              </a:spcBef>
              <a:spcAft>
                <a:spcPts val="338"/>
              </a:spcAft>
            </a:pPr>
            <a:endParaRPr lang="en-US" sz="3800" b="1" dirty="0">
              <a:solidFill>
                <a:srgbClr val="595959"/>
              </a:solidFill>
              <a:latin typeface="Calibir"/>
              <a:ea typeface="+mj-ea"/>
              <a:cs typeface="+mj-cs"/>
            </a:endParaRPr>
          </a:p>
          <a:p>
            <a:pPr algn="ctr">
              <a:lnSpc>
                <a:spcPct val="90000"/>
              </a:lnSpc>
              <a:spcBef>
                <a:spcPct val="0"/>
              </a:spcBef>
              <a:spcAft>
                <a:spcPts val="338"/>
              </a:spcAft>
            </a:pPr>
            <a:r>
              <a:rPr lang="en-US" sz="3800" b="1" dirty="0">
                <a:solidFill>
                  <a:srgbClr val="595959"/>
                </a:solidFill>
                <a:latin typeface="Calibir"/>
                <a:ea typeface="+mj-ea"/>
                <a:cs typeface="+mj-cs"/>
              </a:rPr>
              <a:t>Dr. Farshid Keivanian</a:t>
            </a:r>
          </a:p>
        </p:txBody>
      </p:sp>
      <p:pic>
        <p:nvPicPr>
          <p:cNvPr id="5" name="Picture 4">
            <a:extLst>
              <a:ext uri="{FF2B5EF4-FFF2-40B4-BE49-F238E27FC236}">
                <a16:creationId xmlns:a16="http://schemas.microsoft.com/office/drawing/2014/main" id="{14B0392A-D22F-C20C-A44D-F9E3D906B6F8}"/>
              </a:ext>
            </a:extLst>
          </p:cNvPr>
          <p:cNvPicPr>
            <a:picLocks noChangeAspect="1"/>
          </p:cNvPicPr>
          <p:nvPr/>
        </p:nvPicPr>
        <p:blipFill>
          <a:blip r:embed="rId2" cstate="print">
            <a:extLst>
              <a:ext uri="{28A0092B-C50C-407E-A947-70E740481C1C}">
                <a14:useLocalDpi xmlns:a14="http://schemas.microsoft.com/office/drawing/2010/main" val="0"/>
              </a:ext>
            </a:extLst>
          </a:blip>
          <a:srcRect l="4968" r="24813" b="1"/>
          <a:stretch>
            <a:fillRect/>
          </a:stretch>
        </p:blipFill>
        <p:spPr>
          <a:xfrm>
            <a:off x="5954987" y="73691"/>
            <a:ext cx="4607570" cy="6852948"/>
          </a:xfrm>
          <a:prstGeom prst="rect">
            <a:avLst/>
          </a:prstGeom>
        </p:spPr>
      </p:pic>
      <p:pic>
        <p:nvPicPr>
          <p:cNvPr id="6" name="object 3">
            <a:extLst>
              <a:ext uri="{FF2B5EF4-FFF2-40B4-BE49-F238E27FC236}">
                <a16:creationId xmlns:a16="http://schemas.microsoft.com/office/drawing/2014/main" id="{5AA71B59-8A46-5F90-66ED-C66E07C8DB19}"/>
              </a:ext>
            </a:extLst>
          </p:cNvPr>
          <p:cNvPicPr/>
          <p:nvPr/>
        </p:nvPicPr>
        <p:blipFill>
          <a:blip r:embed="rId3" cstate="print"/>
          <a:srcRect l="24413" r="9390"/>
          <a:stretch>
            <a:fillRect/>
          </a:stretch>
        </p:blipFill>
        <p:spPr>
          <a:xfrm>
            <a:off x="10710041" y="73691"/>
            <a:ext cx="1481959" cy="1944414"/>
          </a:xfrm>
          <a:prstGeom prst="rect">
            <a:avLst/>
          </a:prstGeom>
        </p:spPr>
      </p:pic>
    </p:spTree>
    <p:extLst>
      <p:ext uri="{BB962C8B-B14F-4D97-AF65-F5344CB8AC3E}">
        <p14:creationId xmlns:p14="http://schemas.microsoft.com/office/powerpoint/2010/main" val="3752365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0F853-6397-54CC-F88E-804B971C8B4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4B3D4BE-5B43-A895-CAB8-571F098173C7}"/>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6220FA60-E67B-01D2-5754-2889E20813F4}"/>
              </a:ext>
            </a:extLst>
          </p:cNvPr>
          <p:cNvSpPr txBox="1"/>
          <p:nvPr/>
        </p:nvSpPr>
        <p:spPr>
          <a:xfrm>
            <a:off x="-10512" y="830917"/>
            <a:ext cx="12192000" cy="4549835"/>
          </a:xfrm>
          <a:prstGeom prst="rect">
            <a:avLst/>
          </a:prstGeom>
          <a:noFill/>
        </p:spPr>
        <p:txBody>
          <a:bodyPr wrap="square">
            <a:spAutoFit/>
          </a:bodyPr>
          <a:lstStyle/>
          <a:p>
            <a:pPr>
              <a:lnSpc>
                <a:spcPct val="150000"/>
              </a:lnSpc>
              <a:buNone/>
            </a:pPr>
            <a:r>
              <a:rPr lang="en-US" sz="2800" dirty="0">
                <a:latin typeface="Calibir"/>
              </a:rPr>
              <a:t>This assignment is mainly about correctly following SAP steps and submitting clear evidence with screenshots. The marking rubric shows that marks come from:</a:t>
            </a:r>
          </a:p>
          <a:p>
            <a:pPr marL="914400" lvl="1" indent="-457200">
              <a:lnSpc>
                <a:spcPct val="150000"/>
              </a:lnSpc>
              <a:buFont typeface="Arial" panose="020B0604020202020204" pitchFamily="34" charset="0"/>
              <a:buChar char="•"/>
            </a:pPr>
            <a:r>
              <a:rPr lang="en-US" sz="2800" dirty="0">
                <a:latin typeface="Calibir"/>
              </a:rPr>
              <a:t>following the required steps properly </a:t>
            </a:r>
          </a:p>
          <a:p>
            <a:pPr marL="914400" lvl="1" indent="-457200">
              <a:lnSpc>
                <a:spcPct val="150000"/>
              </a:lnSpc>
              <a:buFont typeface="Arial" panose="020B0604020202020204" pitchFamily="34" charset="0"/>
              <a:buChar char="•"/>
            </a:pPr>
            <a:r>
              <a:rPr lang="en-US" sz="2800" dirty="0">
                <a:latin typeface="Calibir"/>
              </a:rPr>
              <a:t>pasting the correct screenshots </a:t>
            </a:r>
          </a:p>
          <a:p>
            <a:pPr marL="914400" lvl="1" indent="-457200">
              <a:lnSpc>
                <a:spcPct val="150000"/>
              </a:lnSpc>
              <a:buFont typeface="Arial" panose="020B0604020202020204" pitchFamily="34" charset="0"/>
              <a:buChar char="•"/>
            </a:pPr>
            <a:r>
              <a:rPr lang="en-US" sz="2800" dirty="0">
                <a:latin typeface="Calibir"/>
              </a:rPr>
              <a:t>matching the instructions exactly </a:t>
            </a:r>
          </a:p>
          <a:p>
            <a:pPr>
              <a:lnSpc>
                <a:spcPct val="150000"/>
              </a:lnSpc>
              <a:buNone/>
            </a:pPr>
            <a:r>
              <a:rPr lang="en-US" sz="2800" dirty="0">
                <a:latin typeface="Calibir"/>
              </a:rPr>
              <a:t>That means this is not only about “getting something on screen.” It is about showing the right process, the right values, and the right proof.</a:t>
            </a:r>
          </a:p>
        </p:txBody>
      </p:sp>
    </p:spTree>
    <p:extLst>
      <p:ext uri="{BB962C8B-B14F-4D97-AF65-F5344CB8AC3E}">
        <p14:creationId xmlns:p14="http://schemas.microsoft.com/office/powerpoint/2010/main" val="612615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B955B-0D09-F816-A165-445E4C95F4F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953763A-9CB0-FABF-38D2-337253EAF685}"/>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CC509CF8-483C-95FD-77C8-B714AF31B623}"/>
              </a:ext>
            </a:extLst>
          </p:cNvPr>
          <p:cNvSpPr txBox="1"/>
          <p:nvPr/>
        </p:nvSpPr>
        <p:spPr>
          <a:xfrm>
            <a:off x="-10512" y="830917"/>
            <a:ext cx="12192000" cy="2610843"/>
          </a:xfrm>
          <a:prstGeom prst="rect">
            <a:avLst/>
          </a:prstGeom>
          <a:noFill/>
        </p:spPr>
        <p:txBody>
          <a:bodyPr wrap="square">
            <a:spAutoFit/>
          </a:bodyPr>
          <a:lstStyle/>
          <a:p>
            <a:pPr>
              <a:lnSpc>
                <a:spcPct val="150000"/>
              </a:lnSpc>
            </a:pPr>
            <a:r>
              <a:rPr lang="en-US" sz="2800" b="1" dirty="0">
                <a:latin typeface="Calibir"/>
              </a:rPr>
              <a:t>1. What students are doing in this assignment</a:t>
            </a:r>
          </a:p>
          <a:p>
            <a:pPr>
              <a:lnSpc>
                <a:spcPct val="150000"/>
              </a:lnSpc>
            </a:pPr>
            <a:r>
              <a:rPr lang="en-US" sz="2800" dirty="0">
                <a:latin typeface="Calibir"/>
              </a:rPr>
              <a:t>Students are using SAP Fiori Launchpad and completing tasks for their group case study assessment.</a:t>
            </a:r>
          </a:p>
          <a:p>
            <a:pPr>
              <a:lnSpc>
                <a:spcPct val="150000"/>
              </a:lnSpc>
            </a:pPr>
            <a:r>
              <a:rPr lang="en-US" sz="2800" dirty="0">
                <a:latin typeface="Calibir"/>
              </a:rPr>
              <a:t>From the appendix, one major task is:</a:t>
            </a:r>
          </a:p>
        </p:txBody>
      </p:sp>
    </p:spTree>
    <p:extLst>
      <p:ext uri="{BB962C8B-B14F-4D97-AF65-F5344CB8AC3E}">
        <p14:creationId xmlns:p14="http://schemas.microsoft.com/office/powerpoint/2010/main" val="2965362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518BB-9BB2-5CAF-C681-D0FBA0F1F1E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18645E-AAAC-1827-B45E-8F39FB0BFABC}"/>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F9CDD8D2-43D8-9303-C912-56CDEBCA5960}"/>
              </a:ext>
            </a:extLst>
          </p:cNvPr>
          <p:cNvSpPr txBox="1"/>
          <p:nvPr/>
        </p:nvSpPr>
        <p:spPr>
          <a:xfrm>
            <a:off x="-10512" y="830917"/>
            <a:ext cx="12192000" cy="6031908"/>
          </a:xfrm>
          <a:prstGeom prst="rect">
            <a:avLst/>
          </a:prstGeom>
          <a:noFill/>
        </p:spPr>
        <p:txBody>
          <a:bodyPr wrap="square">
            <a:spAutoFit/>
          </a:bodyPr>
          <a:lstStyle/>
          <a:p>
            <a:pPr>
              <a:lnSpc>
                <a:spcPct val="150000"/>
              </a:lnSpc>
            </a:pPr>
            <a:r>
              <a:rPr lang="en-US" sz="2600" b="1" dirty="0">
                <a:latin typeface="Calibir"/>
              </a:rPr>
              <a:t>Create Work Centre</a:t>
            </a:r>
            <a:endParaRPr lang="en-US" sz="2600" dirty="0">
              <a:latin typeface="Calibir"/>
            </a:endParaRPr>
          </a:p>
          <a:p>
            <a:pPr>
              <a:lnSpc>
                <a:spcPct val="150000"/>
              </a:lnSpc>
            </a:pPr>
            <a:r>
              <a:rPr lang="en-US" sz="2600" dirty="0">
                <a:latin typeface="Calibir"/>
              </a:rPr>
              <a:t>In SAP Fiori, students need to create work </a:t>
            </a:r>
            <a:r>
              <a:rPr lang="en-US" sz="2600" dirty="0" err="1">
                <a:latin typeface="Calibir"/>
              </a:rPr>
              <a:t>centres</a:t>
            </a:r>
            <a:r>
              <a:rPr lang="en-US" sz="2600" dirty="0">
                <a:latin typeface="Calibir"/>
              </a:rPr>
              <a:t> using a naming format like:</a:t>
            </a:r>
          </a:p>
          <a:p>
            <a:pPr marL="714375" indent="-457200">
              <a:lnSpc>
                <a:spcPct val="150000"/>
              </a:lnSpc>
              <a:buFont typeface="Arial" panose="020B0604020202020204" pitchFamily="34" charset="0"/>
              <a:buChar char="•"/>
            </a:pPr>
            <a:r>
              <a:rPr lang="en-US" sz="2600" dirty="0">
                <a:latin typeface="Calibir"/>
              </a:rPr>
              <a:t>WC1-### </a:t>
            </a:r>
          </a:p>
          <a:p>
            <a:pPr marL="714375" indent="-457200">
              <a:lnSpc>
                <a:spcPct val="150000"/>
              </a:lnSpc>
              <a:buFont typeface="Arial" panose="020B0604020202020204" pitchFamily="34" charset="0"/>
              <a:buChar char="•"/>
            </a:pPr>
            <a:r>
              <a:rPr lang="en-US" sz="2600" dirty="0">
                <a:latin typeface="Calibir"/>
              </a:rPr>
              <a:t>WC2-### </a:t>
            </a:r>
          </a:p>
          <a:p>
            <a:pPr marL="714375" indent="-457200">
              <a:lnSpc>
                <a:spcPct val="150000"/>
              </a:lnSpc>
              <a:buFont typeface="Arial" panose="020B0604020202020204" pitchFamily="34" charset="0"/>
              <a:buChar char="•"/>
            </a:pPr>
            <a:r>
              <a:rPr lang="en-US" sz="2600" dirty="0">
                <a:latin typeface="Calibir"/>
              </a:rPr>
              <a:t>WC3-### </a:t>
            </a:r>
          </a:p>
          <a:p>
            <a:pPr marL="714375" indent="-457200">
              <a:lnSpc>
                <a:spcPct val="150000"/>
              </a:lnSpc>
              <a:buFont typeface="Arial" panose="020B0604020202020204" pitchFamily="34" charset="0"/>
              <a:buChar char="•"/>
            </a:pPr>
            <a:r>
              <a:rPr lang="en-US" sz="2600" dirty="0">
                <a:latin typeface="Calibir"/>
              </a:rPr>
              <a:t>WC4-### </a:t>
            </a:r>
          </a:p>
          <a:p>
            <a:pPr marL="714375" indent="-457200">
              <a:lnSpc>
                <a:spcPct val="150000"/>
              </a:lnSpc>
              <a:buFont typeface="Arial" panose="020B0604020202020204" pitchFamily="34" charset="0"/>
              <a:buChar char="•"/>
            </a:pPr>
            <a:r>
              <a:rPr lang="en-US" sz="2600" dirty="0">
                <a:latin typeface="Calibir"/>
              </a:rPr>
              <a:t>WC5-### </a:t>
            </a:r>
          </a:p>
          <a:p>
            <a:pPr>
              <a:lnSpc>
                <a:spcPct val="150000"/>
              </a:lnSpc>
            </a:pPr>
            <a:r>
              <a:rPr lang="en-US" sz="2600" dirty="0">
                <a:latin typeface="Calibir"/>
              </a:rPr>
              <a:t>where ### is the student’s own login number.</a:t>
            </a:r>
          </a:p>
          <a:p>
            <a:pPr>
              <a:lnSpc>
                <a:spcPct val="150000"/>
              </a:lnSpc>
            </a:pPr>
            <a:r>
              <a:rPr lang="en-US" sz="2600" dirty="0">
                <a:latin typeface="Calibir"/>
              </a:rPr>
              <a:t>Example:</a:t>
            </a:r>
          </a:p>
          <a:p>
            <a:pPr marL="714375" lvl="1" indent="-457200">
              <a:lnSpc>
                <a:spcPct val="150000"/>
              </a:lnSpc>
              <a:buFont typeface="Arial" panose="020B0604020202020204" pitchFamily="34" charset="0"/>
              <a:buChar char="•"/>
            </a:pPr>
            <a:r>
              <a:rPr lang="en-US" sz="2600" dirty="0">
                <a:latin typeface="Calibir"/>
              </a:rPr>
              <a:t>if login number is 660, then the first work </a:t>
            </a:r>
            <a:r>
              <a:rPr lang="en-US" sz="2600" dirty="0" err="1">
                <a:latin typeface="Calibir"/>
              </a:rPr>
              <a:t>centre</a:t>
            </a:r>
            <a:r>
              <a:rPr lang="en-US" sz="2600" dirty="0">
                <a:latin typeface="Calibir"/>
              </a:rPr>
              <a:t> becomes WC1-660</a:t>
            </a:r>
          </a:p>
        </p:txBody>
      </p:sp>
    </p:spTree>
    <p:extLst>
      <p:ext uri="{BB962C8B-B14F-4D97-AF65-F5344CB8AC3E}">
        <p14:creationId xmlns:p14="http://schemas.microsoft.com/office/powerpoint/2010/main" val="3079343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61FC7-D88A-CA49-EA72-1087EE91768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A331052-934C-463A-0FFB-5DA0E9A3F19E}"/>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D0CBCC2B-435C-FCD5-FB1F-E9C0CD9926A9}"/>
              </a:ext>
            </a:extLst>
          </p:cNvPr>
          <p:cNvSpPr txBox="1"/>
          <p:nvPr/>
        </p:nvSpPr>
        <p:spPr>
          <a:xfrm>
            <a:off x="-10512" y="830917"/>
            <a:ext cx="12192000" cy="4554517"/>
          </a:xfrm>
          <a:prstGeom prst="rect">
            <a:avLst/>
          </a:prstGeom>
          <a:noFill/>
        </p:spPr>
        <p:txBody>
          <a:bodyPr wrap="square">
            <a:spAutoFit/>
          </a:bodyPr>
          <a:lstStyle/>
          <a:p>
            <a:pPr>
              <a:lnSpc>
                <a:spcPct val="150000"/>
              </a:lnSpc>
            </a:pPr>
            <a:r>
              <a:rPr lang="en-US" sz="2800" b="1" dirty="0">
                <a:latin typeface="Calibir"/>
              </a:rPr>
              <a:t>2. What students should understand before starting</a:t>
            </a:r>
          </a:p>
          <a:p>
            <a:pPr>
              <a:lnSpc>
                <a:spcPct val="150000"/>
              </a:lnSpc>
            </a:pPr>
            <a:r>
              <a:rPr lang="en-US" sz="2800" dirty="0">
                <a:latin typeface="Calibir"/>
              </a:rPr>
              <a:t>Before touching SAP, students should know:</a:t>
            </a:r>
          </a:p>
          <a:p>
            <a:pPr>
              <a:lnSpc>
                <a:spcPct val="150000"/>
              </a:lnSpc>
            </a:pPr>
            <a:r>
              <a:rPr lang="en-US" sz="2800" b="1" dirty="0">
                <a:latin typeface="Calibir"/>
              </a:rPr>
              <a:t>A. This is a process-based assignment</a:t>
            </a:r>
          </a:p>
          <a:p>
            <a:pPr>
              <a:lnSpc>
                <a:spcPct val="150000"/>
              </a:lnSpc>
            </a:pPr>
            <a:r>
              <a:rPr lang="en-US" sz="2800" dirty="0">
                <a:latin typeface="Calibir"/>
              </a:rPr>
              <a:t>They must show:</a:t>
            </a:r>
          </a:p>
          <a:p>
            <a:pPr marL="914400" lvl="1" indent="-457200">
              <a:lnSpc>
                <a:spcPct val="150000"/>
              </a:lnSpc>
              <a:buFont typeface="Arial" panose="020B0604020202020204" pitchFamily="34" charset="0"/>
              <a:buChar char="•"/>
            </a:pPr>
            <a:r>
              <a:rPr lang="en-US" sz="2800" dirty="0">
                <a:latin typeface="Calibir"/>
              </a:rPr>
              <a:t>where they clicked </a:t>
            </a:r>
          </a:p>
          <a:p>
            <a:pPr marL="914400" lvl="1" indent="-457200">
              <a:lnSpc>
                <a:spcPct val="150000"/>
              </a:lnSpc>
              <a:buFont typeface="Arial" panose="020B0604020202020204" pitchFamily="34" charset="0"/>
              <a:buChar char="•"/>
            </a:pPr>
            <a:r>
              <a:rPr lang="en-US" sz="2800" dirty="0">
                <a:latin typeface="Calibir"/>
              </a:rPr>
              <a:t>what values they entered </a:t>
            </a:r>
          </a:p>
          <a:p>
            <a:pPr marL="914400" lvl="1" indent="-457200">
              <a:lnSpc>
                <a:spcPct val="150000"/>
              </a:lnSpc>
              <a:buFont typeface="Arial" panose="020B0604020202020204" pitchFamily="34" charset="0"/>
              <a:buChar char="•"/>
            </a:pPr>
            <a:r>
              <a:rPr lang="en-US" sz="2800" dirty="0">
                <a:latin typeface="Calibir"/>
              </a:rPr>
              <a:t>that the record saved successfully</a:t>
            </a:r>
          </a:p>
        </p:txBody>
      </p:sp>
    </p:spTree>
    <p:extLst>
      <p:ext uri="{BB962C8B-B14F-4D97-AF65-F5344CB8AC3E}">
        <p14:creationId xmlns:p14="http://schemas.microsoft.com/office/powerpoint/2010/main" val="269643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50793-377A-4798-4320-0C8857FF5EC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C4836AF-838E-DA96-EA81-A78BD0FDD86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4B2E9616-2072-4D36-2FBB-E05F873B500E}"/>
              </a:ext>
            </a:extLst>
          </p:cNvPr>
          <p:cNvSpPr txBox="1"/>
          <p:nvPr/>
        </p:nvSpPr>
        <p:spPr>
          <a:xfrm>
            <a:off x="-10512" y="830917"/>
            <a:ext cx="12192000" cy="3261855"/>
          </a:xfrm>
          <a:prstGeom prst="rect">
            <a:avLst/>
          </a:prstGeom>
          <a:noFill/>
        </p:spPr>
        <p:txBody>
          <a:bodyPr wrap="square">
            <a:spAutoFit/>
          </a:bodyPr>
          <a:lstStyle/>
          <a:p>
            <a:pPr>
              <a:lnSpc>
                <a:spcPct val="150000"/>
              </a:lnSpc>
            </a:pPr>
            <a:r>
              <a:rPr lang="en-US" sz="2800" b="1" dirty="0">
                <a:latin typeface="Calibir"/>
              </a:rPr>
              <a:t>B. Screenshots matter</a:t>
            </a:r>
          </a:p>
          <a:p>
            <a:pPr>
              <a:lnSpc>
                <a:spcPct val="150000"/>
              </a:lnSpc>
            </a:pPr>
            <a:r>
              <a:rPr lang="en-US" sz="2800" dirty="0">
                <a:latin typeface="Calibir"/>
              </a:rPr>
              <a:t>The rubric repeats this many times. So students should assume:</a:t>
            </a:r>
          </a:p>
          <a:p>
            <a:pPr marL="914400" lvl="1" indent="-457200">
              <a:lnSpc>
                <a:spcPct val="150000"/>
              </a:lnSpc>
              <a:buFont typeface="Arial" panose="020B0604020202020204" pitchFamily="34" charset="0"/>
              <a:buChar char="•"/>
            </a:pPr>
            <a:r>
              <a:rPr lang="en-US" sz="2800" dirty="0">
                <a:latin typeface="Calibir"/>
              </a:rPr>
              <a:t>every important screen needs a screenshot </a:t>
            </a:r>
          </a:p>
          <a:p>
            <a:pPr marL="914400" lvl="1" indent="-457200">
              <a:lnSpc>
                <a:spcPct val="150000"/>
              </a:lnSpc>
              <a:buFont typeface="Arial" panose="020B0604020202020204" pitchFamily="34" charset="0"/>
              <a:buChar char="•"/>
            </a:pPr>
            <a:r>
              <a:rPr lang="en-US" sz="2800" dirty="0">
                <a:latin typeface="Calibir"/>
              </a:rPr>
              <a:t>screenshots must be readable </a:t>
            </a:r>
          </a:p>
          <a:p>
            <a:pPr marL="914400" lvl="1" indent="-457200">
              <a:lnSpc>
                <a:spcPct val="150000"/>
              </a:lnSpc>
              <a:buFont typeface="Arial" panose="020B0604020202020204" pitchFamily="34" charset="0"/>
              <a:buChar char="•"/>
            </a:pPr>
            <a:r>
              <a:rPr lang="en-US" sz="2800" dirty="0">
                <a:latin typeface="Calibir"/>
              </a:rPr>
              <a:t>screenshots must match the instruction steps</a:t>
            </a:r>
          </a:p>
        </p:txBody>
      </p:sp>
    </p:spTree>
    <p:extLst>
      <p:ext uri="{BB962C8B-B14F-4D97-AF65-F5344CB8AC3E}">
        <p14:creationId xmlns:p14="http://schemas.microsoft.com/office/powerpoint/2010/main" val="1281778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2B9A4-52DE-0D3D-DC98-6F08C39C64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EE34E32-EA59-67D6-A3DB-72EF4E4F879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E403AC09-FC2C-D224-90CF-7E91952002E9}"/>
              </a:ext>
            </a:extLst>
          </p:cNvPr>
          <p:cNvSpPr txBox="1"/>
          <p:nvPr/>
        </p:nvSpPr>
        <p:spPr>
          <a:xfrm>
            <a:off x="-10512" y="830917"/>
            <a:ext cx="12192000" cy="2615524"/>
          </a:xfrm>
          <a:prstGeom prst="rect">
            <a:avLst/>
          </a:prstGeom>
          <a:noFill/>
        </p:spPr>
        <p:txBody>
          <a:bodyPr wrap="square">
            <a:spAutoFit/>
          </a:bodyPr>
          <a:lstStyle/>
          <a:p>
            <a:pPr>
              <a:lnSpc>
                <a:spcPct val="150000"/>
              </a:lnSpc>
            </a:pPr>
            <a:r>
              <a:rPr lang="en-US" sz="2800" b="1" dirty="0">
                <a:latin typeface="Calibir"/>
              </a:rPr>
              <a:t>C. Use your own login number</a:t>
            </a:r>
          </a:p>
          <a:p>
            <a:pPr>
              <a:lnSpc>
                <a:spcPct val="150000"/>
              </a:lnSpc>
            </a:pPr>
            <a:r>
              <a:rPr lang="en-US" sz="2800" dirty="0">
                <a:latin typeface="Calibir"/>
              </a:rPr>
              <a:t>Do not copy another group’s numbers, names, or IDs.</a:t>
            </a:r>
          </a:p>
          <a:p>
            <a:pPr>
              <a:lnSpc>
                <a:spcPct val="150000"/>
              </a:lnSpc>
            </a:pPr>
            <a:r>
              <a:rPr lang="en-US" sz="2800" b="1" dirty="0">
                <a:latin typeface="Calibir"/>
              </a:rPr>
              <a:t>D. Do not invent data</a:t>
            </a:r>
          </a:p>
          <a:p>
            <a:pPr>
              <a:lnSpc>
                <a:spcPct val="150000"/>
              </a:lnSpc>
            </a:pPr>
            <a:r>
              <a:rPr lang="en-US" sz="2800" dirty="0">
                <a:latin typeface="Calibir"/>
              </a:rPr>
              <a:t>Only enter values given in the assessment or appendix.</a:t>
            </a:r>
          </a:p>
        </p:txBody>
      </p:sp>
    </p:spTree>
    <p:extLst>
      <p:ext uri="{BB962C8B-B14F-4D97-AF65-F5344CB8AC3E}">
        <p14:creationId xmlns:p14="http://schemas.microsoft.com/office/powerpoint/2010/main" val="1956256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0B95F-BD5C-BDDD-6660-132C96F65E4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A0E9F55-81D2-F6BE-3132-847259707B3B}"/>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DA7F35B1-802D-9357-D922-6FA2AAEAC2F0}"/>
              </a:ext>
            </a:extLst>
          </p:cNvPr>
          <p:cNvSpPr txBox="1"/>
          <p:nvPr/>
        </p:nvSpPr>
        <p:spPr>
          <a:xfrm>
            <a:off x="-10512" y="830917"/>
            <a:ext cx="12192000" cy="5847178"/>
          </a:xfrm>
          <a:prstGeom prst="rect">
            <a:avLst/>
          </a:prstGeom>
          <a:noFill/>
        </p:spPr>
        <p:txBody>
          <a:bodyPr wrap="square">
            <a:spAutoFit/>
          </a:bodyPr>
          <a:lstStyle/>
          <a:p>
            <a:pPr>
              <a:lnSpc>
                <a:spcPct val="150000"/>
              </a:lnSpc>
            </a:pPr>
            <a:r>
              <a:rPr lang="en-US" sz="2800" dirty="0">
                <a:latin typeface="Calibir"/>
              </a:rPr>
              <a:t>3. SAP details</a:t>
            </a:r>
          </a:p>
          <a:p>
            <a:pPr>
              <a:lnSpc>
                <a:spcPct val="150000"/>
              </a:lnSpc>
            </a:pPr>
            <a:r>
              <a:rPr lang="en-US" sz="2800" dirty="0">
                <a:latin typeface="Calibir"/>
              </a:rPr>
              <a:t>The system information may show:</a:t>
            </a:r>
          </a:p>
          <a:p>
            <a:pPr marL="914400" lvl="1" indent="-457200">
              <a:lnSpc>
                <a:spcPct val="150000"/>
              </a:lnSpc>
              <a:buFont typeface="Arial" panose="020B0604020202020204" pitchFamily="34" charset="0"/>
              <a:buChar char="•"/>
            </a:pPr>
            <a:r>
              <a:rPr lang="en-US" sz="2800" dirty="0">
                <a:latin typeface="Calibir"/>
              </a:rPr>
              <a:t>Application ID: LAUNCHPAD </a:t>
            </a:r>
          </a:p>
          <a:p>
            <a:pPr marL="914400" lvl="1" indent="-457200">
              <a:lnSpc>
                <a:spcPct val="150000"/>
              </a:lnSpc>
              <a:buFont typeface="Arial" panose="020B0604020202020204" pitchFamily="34" charset="0"/>
              <a:buChar char="•"/>
            </a:pPr>
            <a:r>
              <a:rPr lang="en-US" sz="2800" dirty="0">
                <a:latin typeface="Calibir"/>
              </a:rPr>
              <a:t>Version: 1.108.33 </a:t>
            </a:r>
          </a:p>
          <a:p>
            <a:pPr marL="914400" lvl="1" indent="-457200">
              <a:lnSpc>
                <a:spcPct val="150000"/>
              </a:lnSpc>
              <a:buFont typeface="Arial" panose="020B0604020202020204" pitchFamily="34" charset="0"/>
              <a:buChar char="•"/>
            </a:pPr>
            <a:r>
              <a:rPr lang="en-US" sz="2800" dirty="0">
                <a:latin typeface="Calibir"/>
              </a:rPr>
              <a:t>Component: CA-FLP-FE-COR </a:t>
            </a:r>
          </a:p>
          <a:p>
            <a:pPr marL="914400" lvl="1" indent="-457200">
              <a:lnSpc>
                <a:spcPct val="150000"/>
              </a:lnSpc>
              <a:buFont typeface="Arial" panose="020B0604020202020204" pitchFamily="34" charset="0"/>
              <a:buChar char="•"/>
            </a:pPr>
            <a:r>
              <a:rPr lang="en-US" sz="2800" dirty="0">
                <a:latin typeface="Calibir"/>
              </a:rPr>
              <a:t>Technical Component ID: </a:t>
            </a:r>
            <a:r>
              <a:rPr lang="en-US" sz="2800" dirty="0" err="1">
                <a:latin typeface="Calibir"/>
              </a:rPr>
              <a:t>sap.ushell.components.pages</a:t>
            </a:r>
            <a:r>
              <a:rPr lang="en-US" sz="2800" dirty="0">
                <a:latin typeface="Calibir"/>
              </a:rPr>
              <a:t> </a:t>
            </a:r>
          </a:p>
          <a:p>
            <a:pPr marL="914400" lvl="1" indent="-457200">
              <a:lnSpc>
                <a:spcPct val="150000"/>
              </a:lnSpc>
              <a:buFont typeface="Arial" panose="020B0604020202020204" pitchFamily="34" charset="0"/>
              <a:buChar char="•"/>
            </a:pPr>
            <a:r>
              <a:rPr lang="en-US" sz="2800" dirty="0">
                <a:latin typeface="Calibir"/>
              </a:rPr>
              <a:t>Framework ID: UI5 </a:t>
            </a:r>
          </a:p>
          <a:p>
            <a:pPr marL="914400" lvl="1" indent="-457200">
              <a:lnSpc>
                <a:spcPct val="150000"/>
              </a:lnSpc>
              <a:buFont typeface="Arial" panose="020B0604020202020204" pitchFamily="34" charset="0"/>
              <a:buChar char="•"/>
            </a:pPr>
            <a:r>
              <a:rPr lang="en-US" sz="2800" dirty="0">
                <a:latin typeface="Calibir"/>
              </a:rPr>
              <a:t>Framework Version: 1.108.33 </a:t>
            </a:r>
          </a:p>
          <a:p>
            <a:pPr>
              <a:lnSpc>
                <a:spcPct val="150000"/>
              </a:lnSpc>
            </a:pPr>
            <a:r>
              <a:rPr lang="en-US" sz="2800" dirty="0">
                <a:latin typeface="Calibir"/>
              </a:rPr>
              <a:t>This mainly tells you that you are working in SAP Fiori Launchpad.</a:t>
            </a:r>
          </a:p>
        </p:txBody>
      </p:sp>
    </p:spTree>
    <p:extLst>
      <p:ext uri="{BB962C8B-B14F-4D97-AF65-F5344CB8AC3E}">
        <p14:creationId xmlns:p14="http://schemas.microsoft.com/office/powerpoint/2010/main" val="428374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627F8-0A03-0844-64F4-4685199969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E40B84-8739-637C-BA10-63661D7D3FB9}"/>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7D662D01-8532-2738-B451-8DF5870ED6CF}"/>
              </a:ext>
            </a:extLst>
          </p:cNvPr>
          <p:cNvSpPr txBox="1"/>
          <p:nvPr/>
        </p:nvSpPr>
        <p:spPr>
          <a:xfrm>
            <a:off x="-10512" y="830917"/>
            <a:ext cx="12192000" cy="3257174"/>
          </a:xfrm>
          <a:prstGeom prst="rect">
            <a:avLst/>
          </a:prstGeom>
          <a:noFill/>
        </p:spPr>
        <p:txBody>
          <a:bodyPr wrap="square">
            <a:spAutoFit/>
          </a:bodyPr>
          <a:lstStyle/>
          <a:p>
            <a:pPr>
              <a:lnSpc>
                <a:spcPct val="150000"/>
              </a:lnSpc>
            </a:pPr>
            <a:r>
              <a:rPr lang="en-US" sz="2800" b="1" dirty="0">
                <a:latin typeface="Calibir"/>
              </a:rPr>
              <a:t>4. Step-by-step guide: Create Work Centre</a:t>
            </a:r>
          </a:p>
          <a:p>
            <a:pPr>
              <a:lnSpc>
                <a:spcPct val="150000"/>
              </a:lnSpc>
            </a:pPr>
            <a:r>
              <a:rPr lang="en-US" sz="2800" b="1" dirty="0">
                <a:latin typeface="Calibir"/>
              </a:rPr>
              <a:t>Task: Create Work Centre</a:t>
            </a:r>
          </a:p>
          <a:p>
            <a:pPr>
              <a:lnSpc>
                <a:spcPct val="150000"/>
              </a:lnSpc>
            </a:pPr>
            <a:r>
              <a:rPr lang="en-US" sz="2800" b="1" dirty="0">
                <a:latin typeface="Calibir"/>
              </a:rPr>
              <a:t>Step 1: Log into SAP Fiori</a:t>
            </a:r>
          </a:p>
          <a:p>
            <a:pPr>
              <a:lnSpc>
                <a:spcPct val="150000"/>
              </a:lnSpc>
            </a:pPr>
            <a:r>
              <a:rPr lang="en-US" sz="2800" dirty="0">
                <a:latin typeface="Calibir"/>
              </a:rPr>
              <a:t>Open the SAP Fiori Launchpad.</a:t>
            </a:r>
          </a:p>
          <a:p>
            <a:pPr>
              <a:lnSpc>
                <a:spcPct val="150000"/>
              </a:lnSpc>
            </a:pPr>
            <a:r>
              <a:rPr lang="en-US" sz="2800" dirty="0">
                <a:latin typeface="Calibir"/>
              </a:rPr>
              <a:t>You may see the home page first. If it looks empty, that is okay.</a:t>
            </a:r>
          </a:p>
        </p:txBody>
      </p:sp>
    </p:spTree>
    <p:extLst>
      <p:ext uri="{BB962C8B-B14F-4D97-AF65-F5344CB8AC3E}">
        <p14:creationId xmlns:p14="http://schemas.microsoft.com/office/powerpoint/2010/main" val="3502338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0A76F-5EE0-DE79-B43A-99BF15BCD9D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214CF76-BCFA-1865-58FB-52469B72F3D8}"/>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938DD234-0C59-7DCA-E8F4-1A762A27BFC4}"/>
              </a:ext>
            </a:extLst>
          </p:cNvPr>
          <p:cNvSpPr txBox="1"/>
          <p:nvPr/>
        </p:nvSpPr>
        <p:spPr>
          <a:xfrm>
            <a:off x="-10512" y="830917"/>
            <a:ext cx="12192000" cy="3908186"/>
          </a:xfrm>
          <a:prstGeom prst="rect">
            <a:avLst/>
          </a:prstGeom>
          <a:noFill/>
        </p:spPr>
        <p:txBody>
          <a:bodyPr wrap="square">
            <a:spAutoFit/>
          </a:bodyPr>
          <a:lstStyle/>
          <a:p>
            <a:pPr>
              <a:lnSpc>
                <a:spcPct val="150000"/>
              </a:lnSpc>
            </a:pPr>
            <a:r>
              <a:rPr lang="en-US" sz="2800" b="1" dirty="0">
                <a:latin typeface="Calibir"/>
              </a:rPr>
              <a:t>Step 2: Find the app</a:t>
            </a:r>
          </a:p>
          <a:p>
            <a:pPr>
              <a:lnSpc>
                <a:spcPct val="150000"/>
              </a:lnSpc>
            </a:pPr>
            <a:r>
              <a:rPr lang="en-US" sz="2800" dirty="0">
                <a:latin typeface="Calibir"/>
              </a:rPr>
              <a:t>Search for or open:</a:t>
            </a:r>
          </a:p>
          <a:p>
            <a:pPr>
              <a:lnSpc>
                <a:spcPct val="150000"/>
              </a:lnSpc>
            </a:pPr>
            <a:r>
              <a:rPr lang="en-US" sz="2800" b="1" dirty="0">
                <a:latin typeface="Calibir"/>
              </a:rPr>
              <a:t>Create Work Center</a:t>
            </a:r>
            <a:endParaRPr lang="en-US" sz="2800" dirty="0">
              <a:latin typeface="Calibir"/>
            </a:endParaRPr>
          </a:p>
          <a:p>
            <a:pPr>
              <a:lnSpc>
                <a:spcPct val="150000"/>
              </a:lnSpc>
            </a:pPr>
            <a:r>
              <a:rPr lang="en-US" sz="2800" dirty="0">
                <a:latin typeface="Calibir"/>
              </a:rPr>
              <a:t>Be careful:</a:t>
            </a:r>
          </a:p>
          <a:p>
            <a:pPr marL="914400" lvl="1" indent="-457200">
              <a:lnSpc>
                <a:spcPct val="150000"/>
              </a:lnSpc>
              <a:buFont typeface="Arial" panose="020B0604020202020204" pitchFamily="34" charset="0"/>
              <a:buChar char="•"/>
            </a:pPr>
            <a:r>
              <a:rPr lang="en-US" sz="2800" dirty="0">
                <a:latin typeface="Calibir"/>
              </a:rPr>
              <a:t>“Center” and “Centre” may differ depending on SAP wording </a:t>
            </a:r>
          </a:p>
          <a:p>
            <a:pPr marL="914400" lvl="1" indent="-457200">
              <a:lnSpc>
                <a:spcPct val="150000"/>
              </a:lnSpc>
              <a:buFont typeface="Arial" panose="020B0604020202020204" pitchFamily="34" charset="0"/>
              <a:buChar char="•"/>
            </a:pPr>
            <a:r>
              <a:rPr lang="en-US" sz="2800" dirty="0">
                <a:latin typeface="Calibir"/>
              </a:rPr>
              <a:t>use the exact app required by the assignment</a:t>
            </a:r>
          </a:p>
        </p:txBody>
      </p:sp>
    </p:spTree>
    <p:extLst>
      <p:ext uri="{BB962C8B-B14F-4D97-AF65-F5344CB8AC3E}">
        <p14:creationId xmlns:p14="http://schemas.microsoft.com/office/powerpoint/2010/main" val="1147817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08625-C80F-901D-1C7A-A185C482C50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35D346-C2FC-8C18-4BA5-B1F689FD8CEF}"/>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1F9F0CC3-42A3-A1D9-0597-D451446690ED}"/>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Step 3: Enter initial screen details</a:t>
            </a:r>
          </a:p>
          <a:p>
            <a:pPr>
              <a:lnSpc>
                <a:spcPct val="150000"/>
              </a:lnSpc>
            </a:pPr>
            <a:r>
              <a:rPr lang="en-US" sz="2800" dirty="0">
                <a:latin typeface="Calibir"/>
              </a:rPr>
              <a:t>On the initial screen, enter:</a:t>
            </a:r>
          </a:p>
          <a:p>
            <a:pPr marL="914400" lvl="1" indent="-457200">
              <a:lnSpc>
                <a:spcPct val="150000"/>
              </a:lnSpc>
              <a:buFont typeface="Arial" panose="020B0604020202020204" pitchFamily="34" charset="0"/>
              <a:buChar char="•"/>
            </a:pPr>
            <a:r>
              <a:rPr lang="en-US" sz="2800" b="1" dirty="0">
                <a:latin typeface="Calibir"/>
              </a:rPr>
              <a:t>Plant:</a:t>
            </a:r>
            <a:r>
              <a:rPr lang="en-US" sz="2800" dirty="0">
                <a:latin typeface="Calibir"/>
              </a:rPr>
              <a:t> DL00 </a:t>
            </a:r>
          </a:p>
          <a:p>
            <a:pPr marL="914400" lvl="1" indent="-457200">
              <a:lnSpc>
                <a:spcPct val="150000"/>
              </a:lnSpc>
              <a:buFont typeface="Arial" panose="020B0604020202020204" pitchFamily="34" charset="0"/>
              <a:buChar char="•"/>
            </a:pPr>
            <a:r>
              <a:rPr lang="en-US" sz="2800" b="1" dirty="0">
                <a:latin typeface="Calibir"/>
              </a:rPr>
              <a:t>Work center:</a:t>
            </a:r>
            <a:r>
              <a:rPr lang="en-US" sz="2800" dirty="0">
                <a:latin typeface="Calibir"/>
              </a:rPr>
              <a:t> WC1-###</a:t>
            </a:r>
            <a:br>
              <a:rPr lang="en-US" sz="2800" dirty="0">
                <a:latin typeface="Calibir"/>
              </a:rPr>
            </a:br>
            <a:r>
              <a:rPr lang="en-US" sz="2800" dirty="0">
                <a:latin typeface="Calibir"/>
              </a:rPr>
              <a:t>Example: WC1-660 </a:t>
            </a:r>
          </a:p>
          <a:p>
            <a:pPr marL="914400" lvl="1" indent="-457200">
              <a:lnSpc>
                <a:spcPct val="150000"/>
              </a:lnSpc>
              <a:buFont typeface="Arial" panose="020B0604020202020204" pitchFamily="34" charset="0"/>
              <a:buChar char="•"/>
            </a:pPr>
            <a:r>
              <a:rPr lang="en-US" sz="2800" b="1" dirty="0">
                <a:latin typeface="Calibir"/>
              </a:rPr>
              <a:t>Work Center Category:</a:t>
            </a:r>
            <a:r>
              <a:rPr lang="en-US" sz="2800" dirty="0">
                <a:latin typeface="Calibir"/>
              </a:rPr>
              <a:t> 0001 </a:t>
            </a:r>
          </a:p>
          <a:p>
            <a:pPr>
              <a:lnSpc>
                <a:spcPct val="150000"/>
              </a:lnSpc>
            </a:pPr>
            <a:r>
              <a:rPr lang="en-US" sz="2800" dirty="0">
                <a:latin typeface="Calibir"/>
              </a:rPr>
              <a:t>Leave “Copy from” blank unless the instructions say otherwise.</a:t>
            </a:r>
          </a:p>
        </p:txBody>
      </p:sp>
    </p:spTree>
    <p:extLst>
      <p:ext uri="{BB962C8B-B14F-4D97-AF65-F5344CB8AC3E}">
        <p14:creationId xmlns:p14="http://schemas.microsoft.com/office/powerpoint/2010/main" val="1021927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F47E9-305E-D427-8EC8-9DBA80B8C70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73F47B-BF0D-700C-54E4-BBA955756B12}"/>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A02ED38B-7CE1-AA59-1343-EA75336FAAF9}"/>
              </a:ext>
            </a:extLst>
          </p:cNvPr>
          <p:cNvSpPr txBox="1"/>
          <p:nvPr/>
        </p:nvSpPr>
        <p:spPr>
          <a:xfrm>
            <a:off x="-10512" y="830917"/>
            <a:ext cx="12192000" cy="2610843"/>
          </a:xfrm>
          <a:prstGeom prst="rect">
            <a:avLst/>
          </a:prstGeom>
          <a:noFill/>
        </p:spPr>
        <p:txBody>
          <a:bodyPr wrap="square">
            <a:spAutoFit/>
          </a:bodyPr>
          <a:lstStyle/>
          <a:p>
            <a:pPr>
              <a:lnSpc>
                <a:spcPct val="150000"/>
              </a:lnSpc>
            </a:pPr>
            <a:r>
              <a:rPr lang="en-US" sz="2800" dirty="0">
                <a:latin typeface="Calibir"/>
              </a:rPr>
              <a:t>So the first screen should look like this:</a:t>
            </a:r>
          </a:p>
          <a:p>
            <a:pPr marL="914400" lvl="1" indent="-457200">
              <a:lnSpc>
                <a:spcPct val="150000"/>
              </a:lnSpc>
              <a:buFont typeface="Arial" panose="020B0604020202020204" pitchFamily="34" charset="0"/>
              <a:buChar char="•"/>
            </a:pPr>
            <a:r>
              <a:rPr lang="en-US" sz="2800" dirty="0">
                <a:latin typeface="Calibir"/>
              </a:rPr>
              <a:t>Plant: DL00 </a:t>
            </a:r>
          </a:p>
          <a:p>
            <a:pPr marL="914400" lvl="1" indent="-457200">
              <a:lnSpc>
                <a:spcPct val="150000"/>
              </a:lnSpc>
              <a:buFont typeface="Arial" panose="020B0604020202020204" pitchFamily="34" charset="0"/>
              <a:buChar char="•"/>
            </a:pPr>
            <a:r>
              <a:rPr lang="en-US" sz="2800" dirty="0">
                <a:latin typeface="Calibir"/>
              </a:rPr>
              <a:t>Work center: WC1-660 for example </a:t>
            </a:r>
          </a:p>
          <a:p>
            <a:pPr marL="914400" lvl="1" indent="-457200">
              <a:lnSpc>
                <a:spcPct val="150000"/>
              </a:lnSpc>
              <a:buFont typeface="Arial" panose="020B0604020202020204" pitchFamily="34" charset="0"/>
              <a:buChar char="•"/>
            </a:pPr>
            <a:r>
              <a:rPr lang="en-US" sz="2800" dirty="0">
                <a:latin typeface="Calibir"/>
              </a:rPr>
              <a:t>Work Center Category: 0001</a:t>
            </a:r>
          </a:p>
        </p:txBody>
      </p:sp>
    </p:spTree>
    <p:extLst>
      <p:ext uri="{BB962C8B-B14F-4D97-AF65-F5344CB8AC3E}">
        <p14:creationId xmlns:p14="http://schemas.microsoft.com/office/powerpoint/2010/main" val="3296715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CEF09-B9B4-B6BF-364A-0C03DE7431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EF5FCF-4CA4-60EE-C943-ADF0DCB45A6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418C8D26-2161-2E87-DE93-3A15AA820E8C}"/>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Step 4: Go to the next screen</a:t>
            </a:r>
          </a:p>
          <a:p>
            <a:pPr>
              <a:lnSpc>
                <a:spcPct val="150000"/>
              </a:lnSpc>
            </a:pPr>
            <a:r>
              <a:rPr lang="en-US" sz="2800" dirty="0">
                <a:latin typeface="Calibir"/>
              </a:rPr>
              <a:t>Click </a:t>
            </a:r>
            <a:r>
              <a:rPr lang="en-US" sz="2800" b="1" dirty="0">
                <a:latin typeface="Calibir"/>
              </a:rPr>
              <a:t>Next</a:t>
            </a:r>
            <a:r>
              <a:rPr lang="en-US" sz="2800" dirty="0">
                <a:latin typeface="Calibir"/>
              </a:rPr>
              <a:t>.</a:t>
            </a:r>
          </a:p>
          <a:p>
            <a:pPr>
              <a:lnSpc>
                <a:spcPct val="150000"/>
              </a:lnSpc>
            </a:pPr>
            <a:r>
              <a:rPr lang="en-US" sz="2800" b="1" dirty="0">
                <a:latin typeface="Calibir"/>
              </a:rPr>
              <a:t>Step 5: Fill in the Basic Data screen</a:t>
            </a:r>
          </a:p>
          <a:p>
            <a:pPr>
              <a:lnSpc>
                <a:spcPct val="150000"/>
              </a:lnSpc>
            </a:pPr>
            <a:r>
              <a:rPr lang="en-US" sz="2800" dirty="0">
                <a:latin typeface="Calibir"/>
              </a:rPr>
              <a:t>Enter the details like this:</a:t>
            </a:r>
          </a:p>
          <a:p>
            <a:pPr marL="914400" lvl="1" indent="-457200">
              <a:lnSpc>
                <a:spcPct val="150000"/>
              </a:lnSpc>
              <a:buFont typeface="Arial" panose="020B0604020202020204" pitchFamily="34" charset="0"/>
              <a:buChar char="•"/>
            </a:pPr>
            <a:r>
              <a:rPr lang="en-US" sz="2800" b="1" dirty="0">
                <a:latin typeface="Calibir"/>
              </a:rPr>
              <a:t>Plant:</a:t>
            </a:r>
            <a:r>
              <a:rPr lang="en-US" sz="2800" dirty="0">
                <a:latin typeface="Calibir"/>
              </a:rPr>
              <a:t> DL00 </a:t>
            </a:r>
          </a:p>
          <a:p>
            <a:pPr marL="914400" lvl="1" indent="-457200">
              <a:lnSpc>
                <a:spcPct val="150000"/>
              </a:lnSpc>
              <a:buFont typeface="Arial" panose="020B0604020202020204" pitchFamily="34" charset="0"/>
              <a:buChar char="•"/>
            </a:pPr>
            <a:r>
              <a:rPr lang="en-US" sz="2800" b="1" dirty="0">
                <a:latin typeface="Calibir"/>
              </a:rPr>
              <a:t>Work center:</a:t>
            </a:r>
            <a:r>
              <a:rPr lang="en-US" sz="2800" dirty="0">
                <a:latin typeface="Calibir"/>
              </a:rPr>
              <a:t> WC1-### </a:t>
            </a:r>
          </a:p>
          <a:p>
            <a:pPr marL="914400" lvl="1" indent="-457200">
              <a:lnSpc>
                <a:spcPct val="150000"/>
              </a:lnSpc>
              <a:buFont typeface="Arial" panose="020B0604020202020204" pitchFamily="34" charset="0"/>
              <a:buChar char="•"/>
            </a:pPr>
            <a:r>
              <a:rPr lang="en-US" sz="2800" b="1" dirty="0">
                <a:latin typeface="Calibir"/>
              </a:rPr>
              <a:t>Description:</a:t>
            </a:r>
            <a:r>
              <a:rPr lang="en-US" sz="2800" dirty="0">
                <a:latin typeface="Calibir"/>
              </a:rPr>
              <a:t> Assemble Raw Materials</a:t>
            </a:r>
          </a:p>
        </p:txBody>
      </p:sp>
    </p:spTree>
    <p:extLst>
      <p:ext uri="{BB962C8B-B14F-4D97-AF65-F5344CB8AC3E}">
        <p14:creationId xmlns:p14="http://schemas.microsoft.com/office/powerpoint/2010/main" val="3285795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02490-BCC4-B7FE-1BCB-8EAA830C212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313559-7A98-E83E-E7E4-904736298E9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58963F8A-592B-87E6-D45C-02CA272FB20D}"/>
              </a:ext>
            </a:extLst>
          </p:cNvPr>
          <p:cNvSpPr txBox="1"/>
          <p:nvPr/>
        </p:nvSpPr>
        <p:spPr>
          <a:xfrm>
            <a:off x="-10512" y="830917"/>
            <a:ext cx="12192000" cy="3903504"/>
          </a:xfrm>
          <a:prstGeom prst="rect">
            <a:avLst/>
          </a:prstGeom>
          <a:noFill/>
        </p:spPr>
        <p:txBody>
          <a:bodyPr wrap="square">
            <a:spAutoFit/>
          </a:bodyPr>
          <a:lstStyle/>
          <a:p>
            <a:pPr>
              <a:lnSpc>
                <a:spcPct val="150000"/>
              </a:lnSpc>
            </a:pPr>
            <a:r>
              <a:rPr lang="en-US" sz="2800" dirty="0">
                <a:latin typeface="Calibir"/>
              </a:rPr>
              <a:t>Under General Data:</a:t>
            </a:r>
          </a:p>
          <a:p>
            <a:pPr marL="914400" lvl="1" indent="-457200">
              <a:lnSpc>
                <a:spcPct val="150000"/>
              </a:lnSpc>
              <a:buFont typeface="Arial" panose="020B0604020202020204" pitchFamily="34" charset="0"/>
              <a:buChar char="•"/>
            </a:pPr>
            <a:r>
              <a:rPr lang="en-US" sz="2800" b="1" dirty="0">
                <a:latin typeface="Calibir"/>
              </a:rPr>
              <a:t>Work Center Category:</a:t>
            </a:r>
            <a:r>
              <a:rPr lang="en-US" sz="2800" dirty="0">
                <a:latin typeface="Calibir"/>
              </a:rPr>
              <a:t> 0001 (Machine) </a:t>
            </a:r>
          </a:p>
          <a:p>
            <a:pPr marL="914400" lvl="1" indent="-457200">
              <a:lnSpc>
                <a:spcPct val="150000"/>
              </a:lnSpc>
              <a:buFont typeface="Arial" panose="020B0604020202020204" pitchFamily="34" charset="0"/>
              <a:buChar char="•"/>
            </a:pPr>
            <a:r>
              <a:rPr lang="en-US" sz="2800" b="1" dirty="0">
                <a:latin typeface="Calibir"/>
              </a:rPr>
              <a:t>Person Responsible:</a:t>
            </a:r>
            <a:r>
              <a:rPr lang="en-US" sz="2800" dirty="0">
                <a:latin typeface="Calibir"/>
              </a:rPr>
              <a:t> 000 (Steven Barton) </a:t>
            </a:r>
          </a:p>
          <a:p>
            <a:pPr marL="914400" lvl="1" indent="-457200">
              <a:lnSpc>
                <a:spcPct val="150000"/>
              </a:lnSpc>
              <a:buFont typeface="Arial" panose="020B0604020202020204" pitchFamily="34" charset="0"/>
              <a:buChar char="•"/>
            </a:pPr>
            <a:r>
              <a:rPr lang="en-US" sz="2800" b="1" dirty="0">
                <a:latin typeface="Calibir"/>
              </a:rPr>
              <a:t>Usage:</a:t>
            </a:r>
            <a:r>
              <a:rPr lang="en-US" sz="2800" dirty="0">
                <a:latin typeface="Calibir"/>
              </a:rPr>
              <a:t> 009 (All task list types) </a:t>
            </a:r>
          </a:p>
          <a:p>
            <a:pPr>
              <a:lnSpc>
                <a:spcPct val="150000"/>
              </a:lnSpc>
            </a:pPr>
            <a:r>
              <a:rPr lang="en-US" sz="2800" dirty="0">
                <a:latin typeface="Calibir"/>
              </a:rPr>
              <a:t>Under Standard Value Maintenance:</a:t>
            </a:r>
          </a:p>
          <a:p>
            <a:pPr marL="914400" lvl="1" indent="-457200">
              <a:lnSpc>
                <a:spcPct val="150000"/>
              </a:lnSpc>
              <a:buFont typeface="Arial" panose="020B0604020202020204" pitchFamily="34" charset="0"/>
              <a:buChar char="•"/>
            </a:pPr>
            <a:r>
              <a:rPr lang="en-US" sz="2800" b="1" dirty="0">
                <a:latin typeface="Calibir"/>
              </a:rPr>
              <a:t>Standard Value Key:</a:t>
            </a:r>
            <a:r>
              <a:rPr lang="en-US" sz="2800" dirty="0">
                <a:latin typeface="Calibir"/>
              </a:rPr>
              <a:t> SAP1</a:t>
            </a:r>
          </a:p>
        </p:txBody>
      </p:sp>
    </p:spTree>
    <p:extLst>
      <p:ext uri="{BB962C8B-B14F-4D97-AF65-F5344CB8AC3E}">
        <p14:creationId xmlns:p14="http://schemas.microsoft.com/office/powerpoint/2010/main" val="253650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9F5E-A590-B556-CE87-017A48C7C0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3CC6867-FB17-2BB9-4528-7B26CB00F9AF}"/>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08E3A600-11CF-A596-DEE6-F5424B5718EE}"/>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Important hint:</a:t>
            </a:r>
            <a:br>
              <a:rPr lang="en-US" sz="2800" dirty="0">
                <a:latin typeface="Calibir"/>
              </a:rPr>
            </a:br>
            <a:r>
              <a:rPr lang="en-US" sz="2800" dirty="0">
                <a:latin typeface="Calibir"/>
              </a:rPr>
              <a:t>After typing SAP1, press Enter.</a:t>
            </a:r>
            <a:br>
              <a:rPr lang="en-US" sz="2800" dirty="0">
                <a:latin typeface="Calibir"/>
              </a:rPr>
            </a:br>
            <a:r>
              <a:rPr lang="en-US" sz="2800" dirty="0">
                <a:latin typeface="Calibir"/>
              </a:rPr>
              <a:t>SAP may automatically fill the standard values table for you.</a:t>
            </a:r>
          </a:p>
          <a:p>
            <a:pPr>
              <a:lnSpc>
                <a:spcPct val="150000"/>
              </a:lnSpc>
            </a:pPr>
            <a:r>
              <a:rPr lang="en-US" sz="2800" dirty="0">
                <a:latin typeface="Calibir"/>
              </a:rPr>
              <a:t>You should then see something like:</a:t>
            </a:r>
          </a:p>
          <a:p>
            <a:pPr marL="914400" lvl="1" indent="-457200">
              <a:lnSpc>
                <a:spcPct val="150000"/>
              </a:lnSpc>
              <a:buFont typeface="Arial" panose="020B0604020202020204" pitchFamily="34" charset="0"/>
              <a:buChar char="•"/>
            </a:pPr>
            <a:r>
              <a:rPr lang="en-US" sz="2800" dirty="0">
                <a:latin typeface="Calibir"/>
              </a:rPr>
              <a:t>Setup </a:t>
            </a:r>
          </a:p>
          <a:p>
            <a:pPr marL="914400" lvl="1" indent="-457200">
              <a:lnSpc>
                <a:spcPct val="150000"/>
              </a:lnSpc>
              <a:buFont typeface="Arial" panose="020B0604020202020204" pitchFamily="34" charset="0"/>
              <a:buChar char="•"/>
            </a:pPr>
            <a:r>
              <a:rPr lang="en-US" sz="2800" dirty="0">
                <a:latin typeface="Calibir"/>
              </a:rPr>
              <a:t>Machine </a:t>
            </a:r>
          </a:p>
          <a:p>
            <a:pPr marL="914400" lvl="1" indent="-457200">
              <a:lnSpc>
                <a:spcPct val="150000"/>
              </a:lnSpc>
              <a:buFont typeface="Arial" panose="020B0604020202020204" pitchFamily="34" charset="0"/>
              <a:buChar char="•"/>
            </a:pPr>
            <a:r>
              <a:rPr lang="en-US" sz="2800" dirty="0">
                <a:latin typeface="Calibir"/>
              </a:rPr>
              <a:t>Labor</a:t>
            </a:r>
          </a:p>
        </p:txBody>
      </p:sp>
    </p:spTree>
    <p:extLst>
      <p:ext uri="{BB962C8B-B14F-4D97-AF65-F5344CB8AC3E}">
        <p14:creationId xmlns:p14="http://schemas.microsoft.com/office/powerpoint/2010/main" val="3289042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E286F-0E43-4CC1-7B09-BFF9D489893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772CB32-C2C7-1571-F2FF-10F67C4E9186}"/>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82EA7B0F-92E4-1276-E9DB-BABEDE04C5B5}"/>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Step 6: Save</a:t>
            </a:r>
          </a:p>
          <a:p>
            <a:pPr>
              <a:lnSpc>
                <a:spcPct val="150000"/>
              </a:lnSpc>
            </a:pPr>
            <a:r>
              <a:rPr lang="en-US" sz="2800" dirty="0">
                <a:latin typeface="Calibir"/>
              </a:rPr>
              <a:t>Click Save.</a:t>
            </a:r>
          </a:p>
          <a:p>
            <a:pPr>
              <a:lnSpc>
                <a:spcPct val="150000"/>
              </a:lnSpc>
            </a:pPr>
            <a:r>
              <a:rPr lang="en-US" sz="2800" dirty="0">
                <a:latin typeface="Calibir"/>
              </a:rPr>
              <a:t>Take a screenshot showing:</a:t>
            </a:r>
          </a:p>
          <a:p>
            <a:pPr marL="914400" lvl="1" indent="-457200">
              <a:lnSpc>
                <a:spcPct val="150000"/>
              </a:lnSpc>
              <a:buFont typeface="Arial" panose="020B0604020202020204" pitchFamily="34" charset="0"/>
              <a:buChar char="•"/>
            </a:pPr>
            <a:r>
              <a:rPr lang="en-US" sz="2800" dirty="0">
                <a:latin typeface="Calibir"/>
              </a:rPr>
              <a:t>the completed screen </a:t>
            </a:r>
          </a:p>
          <a:p>
            <a:pPr marL="914400" lvl="1" indent="-457200">
              <a:lnSpc>
                <a:spcPct val="150000"/>
              </a:lnSpc>
              <a:buFont typeface="Arial" panose="020B0604020202020204" pitchFamily="34" charset="0"/>
              <a:buChar char="•"/>
            </a:pPr>
            <a:r>
              <a:rPr lang="en-US" sz="2800" dirty="0">
                <a:latin typeface="Calibir"/>
              </a:rPr>
              <a:t>the work </a:t>
            </a:r>
            <a:r>
              <a:rPr lang="en-US" sz="2800" dirty="0" err="1">
                <a:latin typeface="Calibir"/>
              </a:rPr>
              <a:t>centre</a:t>
            </a:r>
            <a:r>
              <a:rPr lang="en-US" sz="2800" dirty="0">
                <a:latin typeface="Calibir"/>
              </a:rPr>
              <a:t> code </a:t>
            </a:r>
          </a:p>
          <a:p>
            <a:pPr marL="914400" lvl="1" indent="-457200">
              <a:lnSpc>
                <a:spcPct val="150000"/>
              </a:lnSpc>
              <a:buFont typeface="Arial" panose="020B0604020202020204" pitchFamily="34" charset="0"/>
              <a:buChar char="•"/>
            </a:pPr>
            <a:r>
              <a:rPr lang="en-US" sz="2800" dirty="0">
                <a:latin typeface="Calibir"/>
              </a:rPr>
              <a:t>the description </a:t>
            </a:r>
          </a:p>
          <a:p>
            <a:pPr marL="914400" lvl="1" indent="-457200">
              <a:lnSpc>
                <a:spcPct val="150000"/>
              </a:lnSpc>
              <a:buFont typeface="Arial" panose="020B0604020202020204" pitchFamily="34" charset="0"/>
              <a:buChar char="•"/>
            </a:pPr>
            <a:r>
              <a:rPr lang="en-US" sz="2800" dirty="0">
                <a:latin typeface="Calibir"/>
              </a:rPr>
              <a:t>ideally the save confirmation message if shown</a:t>
            </a:r>
          </a:p>
        </p:txBody>
      </p:sp>
    </p:spTree>
    <p:extLst>
      <p:ext uri="{BB962C8B-B14F-4D97-AF65-F5344CB8AC3E}">
        <p14:creationId xmlns:p14="http://schemas.microsoft.com/office/powerpoint/2010/main" val="2715067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1CEDF-4F14-3FB7-7891-0FCA98B5A8F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F0C49EC-A560-9E9A-4B56-096955F258EE}"/>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4246AC67-4296-23D8-CDA1-6B685A906F66}"/>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Step 7: Repeat for WC2 to WC5</a:t>
            </a:r>
          </a:p>
          <a:p>
            <a:pPr>
              <a:lnSpc>
                <a:spcPct val="150000"/>
              </a:lnSpc>
            </a:pPr>
            <a:r>
              <a:rPr lang="en-US" sz="2800" dirty="0">
                <a:latin typeface="Calibir"/>
              </a:rPr>
              <a:t>Repeat the same steps for:</a:t>
            </a:r>
          </a:p>
          <a:p>
            <a:pPr marL="914400" lvl="1" indent="-457200">
              <a:lnSpc>
                <a:spcPct val="150000"/>
              </a:lnSpc>
              <a:buFont typeface="Arial" panose="020B0604020202020204" pitchFamily="34" charset="0"/>
              <a:buChar char="•"/>
            </a:pPr>
            <a:r>
              <a:rPr lang="en-US" sz="2800" dirty="0">
                <a:latin typeface="Calibir"/>
              </a:rPr>
              <a:t>WC2-### </a:t>
            </a:r>
          </a:p>
          <a:p>
            <a:pPr marL="914400" lvl="1" indent="-457200">
              <a:lnSpc>
                <a:spcPct val="150000"/>
              </a:lnSpc>
              <a:buFont typeface="Arial" panose="020B0604020202020204" pitchFamily="34" charset="0"/>
              <a:buChar char="•"/>
            </a:pPr>
            <a:r>
              <a:rPr lang="en-US" sz="2800" dirty="0">
                <a:latin typeface="Calibir"/>
              </a:rPr>
              <a:t>WC3-### </a:t>
            </a:r>
          </a:p>
          <a:p>
            <a:pPr marL="914400" lvl="1" indent="-457200">
              <a:lnSpc>
                <a:spcPct val="150000"/>
              </a:lnSpc>
              <a:buFont typeface="Arial" panose="020B0604020202020204" pitchFamily="34" charset="0"/>
              <a:buChar char="•"/>
            </a:pPr>
            <a:r>
              <a:rPr lang="en-US" sz="2800" dirty="0">
                <a:latin typeface="Calibir"/>
              </a:rPr>
              <a:t>WC4-### </a:t>
            </a:r>
          </a:p>
          <a:p>
            <a:pPr marL="914400" lvl="1" indent="-457200">
              <a:lnSpc>
                <a:spcPct val="150000"/>
              </a:lnSpc>
              <a:buFont typeface="Arial" panose="020B0604020202020204" pitchFamily="34" charset="0"/>
              <a:buChar char="•"/>
            </a:pPr>
            <a:r>
              <a:rPr lang="en-US" sz="2800" dirty="0">
                <a:latin typeface="Calibir"/>
              </a:rPr>
              <a:t>WC5-### </a:t>
            </a:r>
          </a:p>
          <a:p>
            <a:pPr>
              <a:lnSpc>
                <a:spcPct val="150000"/>
              </a:lnSpc>
            </a:pPr>
            <a:r>
              <a:rPr lang="en-US" sz="2800" dirty="0">
                <a:latin typeface="Calibir"/>
              </a:rPr>
              <a:t>Only change what the assignment tells you to change.</a:t>
            </a:r>
          </a:p>
        </p:txBody>
      </p:sp>
    </p:spTree>
    <p:extLst>
      <p:ext uri="{BB962C8B-B14F-4D97-AF65-F5344CB8AC3E}">
        <p14:creationId xmlns:p14="http://schemas.microsoft.com/office/powerpoint/2010/main" val="3934908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4FF5E-46B5-FED0-8EE4-78E9E22E792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A0A027B-F2AC-613A-10A2-E41075D518DF}"/>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C1C35D53-17EB-3C7A-9B45-9DD0AAE3A98D}"/>
              </a:ext>
            </a:extLst>
          </p:cNvPr>
          <p:cNvSpPr txBox="1"/>
          <p:nvPr/>
        </p:nvSpPr>
        <p:spPr>
          <a:xfrm>
            <a:off x="-10512" y="830917"/>
            <a:ext cx="12192000" cy="5842497"/>
          </a:xfrm>
          <a:prstGeom prst="rect">
            <a:avLst/>
          </a:prstGeom>
          <a:noFill/>
        </p:spPr>
        <p:txBody>
          <a:bodyPr wrap="square">
            <a:spAutoFit/>
          </a:bodyPr>
          <a:lstStyle/>
          <a:p>
            <a:pPr>
              <a:lnSpc>
                <a:spcPct val="150000"/>
              </a:lnSpc>
            </a:pPr>
            <a:r>
              <a:rPr lang="en-US" sz="2800" dirty="0">
                <a:latin typeface="Calibir"/>
              </a:rPr>
              <a:t>The appendix says:</a:t>
            </a:r>
          </a:p>
          <a:p>
            <a:pPr marL="914400" lvl="1" indent="-457200">
              <a:lnSpc>
                <a:spcPct val="150000"/>
              </a:lnSpc>
              <a:buFont typeface="Arial" panose="020B0604020202020204" pitchFamily="34" charset="0"/>
              <a:buChar char="•"/>
            </a:pPr>
            <a:r>
              <a:rPr lang="en-US" sz="2800" dirty="0">
                <a:latin typeface="Calibir"/>
              </a:rPr>
              <a:t>keep the numbering format </a:t>
            </a:r>
          </a:p>
          <a:p>
            <a:pPr marL="914400" lvl="1" indent="-457200">
              <a:lnSpc>
                <a:spcPct val="150000"/>
              </a:lnSpc>
              <a:buFont typeface="Arial" panose="020B0604020202020204" pitchFamily="34" charset="0"/>
              <a:buChar char="•"/>
            </a:pPr>
            <a:r>
              <a:rPr lang="en-US" sz="2800" dirty="0">
                <a:latin typeface="Calibir"/>
              </a:rPr>
              <a:t>replace the description each time with the description from the assessment document </a:t>
            </a:r>
          </a:p>
          <a:p>
            <a:pPr>
              <a:lnSpc>
                <a:spcPct val="150000"/>
              </a:lnSpc>
            </a:pPr>
            <a:r>
              <a:rPr lang="en-US" sz="2800" dirty="0">
                <a:latin typeface="Calibir"/>
              </a:rPr>
              <a:t>Example given:</a:t>
            </a:r>
          </a:p>
          <a:p>
            <a:pPr marL="914400" lvl="1" indent="-457200">
              <a:lnSpc>
                <a:spcPct val="150000"/>
              </a:lnSpc>
              <a:buFont typeface="Arial" panose="020B0604020202020204" pitchFamily="34" charset="0"/>
              <a:buChar char="•"/>
            </a:pPr>
            <a:r>
              <a:rPr lang="en-US" sz="2800" dirty="0">
                <a:latin typeface="Calibir"/>
              </a:rPr>
              <a:t>WC2-### → description might be Final Assembly </a:t>
            </a:r>
          </a:p>
          <a:p>
            <a:pPr>
              <a:lnSpc>
                <a:spcPct val="150000"/>
              </a:lnSpc>
            </a:pPr>
            <a:r>
              <a:rPr lang="en-US" sz="2800" dirty="0">
                <a:latin typeface="Calibir"/>
              </a:rPr>
              <a:t>That means students must check the assessment document for the exact descriptions for WC2, WC3, WC4, and WC5.</a:t>
            </a:r>
          </a:p>
          <a:p>
            <a:pPr>
              <a:lnSpc>
                <a:spcPct val="150000"/>
              </a:lnSpc>
            </a:pPr>
            <a:r>
              <a:rPr lang="en-US" sz="2800" dirty="0">
                <a:latin typeface="Calibir"/>
              </a:rPr>
              <a:t>Do not guess those descriptions.</a:t>
            </a:r>
          </a:p>
        </p:txBody>
      </p:sp>
    </p:spTree>
    <p:extLst>
      <p:ext uri="{BB962C8B-B14F-4D97-AF65-F5344CB8AC3E}">
        <p14:creationId xmlns:p14="http://schemas.microsoft.com/office/powerpoint/2010/main" val="879743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05826-18DE-B452-479A-95BB50AC00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A8A991-D6B6-F9D0-A02B-F1021B1DCA7A}"/>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2FDC61B2-422A-BE64-5DE0-4DCB40F13364}"/>
              </a:ext>
            </a:extLst>
          </p:cNvPr>
          <p:cNvSpPr txBox="1"/>
          <p:nvPr/>
        </p:nvSpPr>
        <p:spPr>
          <a:xfrm>
            <a:off x="-10512" y="830917"/>
            <a:ext cx="12192000" cy="5196166"/>
          </a:xfrm>
          <a:prstGeom prst="rect">
            <a:avLst/>
          </a:prstGeom>
          <a:noFill/>
        </p:spPr>
        <p:txBody>
          <a:bodyPr wrap="square">
            <a:spAutoFit/>
          </a:bodyPr>
          <a:lstStyle/>
          <a:p>
            <a:pPr>
              <a:lnSpc>
                <a:spcPct val="150000"/>
              </a:lnSpc>
            </a:pPr>
            <a:r>
              <a:rPr lang="en-US" sz="2800" b="1" dirty="0">
                <a:latin typeface="Calibir"/>
              </a:rPr>
              <a:t>5. Simple worked example</a:t>
            </a:r>
          </a:p>
          <a:p>
            <a:pPr>
              <a:lnSpc>
                <a:spcPct val="150000"/>
              </a:lnSpc>
            </a:pPr>
            <a:r>
              <a:rPr lang="en-US" sz="2800" dirty="0">
                <a:latin typeface="Calibir"/>
              </a:rPr>
              <a:t>Let’s assume a student login number is 660.</a:t>
            </a:r>
          </a:p>
          <a:p>
            <a:pPr>
              <a:lnSpc>
                <a:spcPct val="150000"/>
              </a:lnSpc>
            </a:pPr>
            <a:r>
              <a:rPr lang="en-US" sz="2800" dirty="0">
                <a:latin typeface="Calibir"/>
              </a:rPr>
              <a:t>Then the work </a:t>
            </a:r>
            <a:r>
              <a:rPr lang="en-US" sz="2800" dirty="0" err="1">
                <a:latin typeface="Calibir"/>
              </a:rPr>
              <a:t>centres</a:t>
            </a:r>
            <a:r>
              <a:rPr lang="en-US" sz="2800" dirty="0">
                <a:latin typeface="Calibir"/>
              </a:rPr>
              <a:t> would look like:</a:t>
            </a:r>
          </a:p>
          <a:p>
            <a:pPr marL="914400" lvl="1" indent="-457200">
              <a:lnSpc>
                <a:spcPct val="150000"/>
              </a:lnSpc>
              <a:buFont typeface="Arial" panose="020B0604020202020204" pitchFamily="34" charset="0"/>
              <a:buChar char="•"/>
            </a:pPr>
            <a:r>
              <a:rPr lang="en-US" sz="2800" dirty="0">
                <a:latin typeface="Calibir"/>
              </a:rPr>
              <a:t>WC1-660 → Assemble Raw Materials </a:t>
            </a:r>
          </a:p>
          <a:p>
            <a:pPr marL="914400" lvl="1" indent="-457200">
              <a:lnSpc>
                <a:spcPct val="150000"/>
              </a:lnSpc>
              <a:buFont typeface="Arial" panose="020B0604020202020204" pitchFamily="34" charset="0"/>
              <a:buChar char="•"/>
            </a:pPr>
            <a:r>
              <a:rPr lang="en-US" sz="2800" dirty="0">
                <a:latin typeface="Calibir"/>
              </a:rPr>
              <a:t>WC2-660 → Final Assembly if that is what the task says </a:t>
            </a:r>
          </a:p>
          <a:p>
            <a:pPr marL="914400" lvl="1" indent="-457200">
              <a:lnSpc>
                <a:spcPct val="150000"/>
              </a:lnSpc>
              <a:buFont typeface="Arial" panose="020B0604020202020204" pitchFamily="34" charset="0"/>
              <a:buChar char="•"/>
            </a:pPr>
            <a:r>
              <a:rPr lang="en-US" sz="2800" dirty="0">
                <a:latin typeface="Calibir"/>
              </a:rPr>
              <a:t>WC3-660 → use exact description from the task </a:t>
            </a:r>
          </a:p>
          <a:p>
            <a:pPr marL="914400" lvl="1" indent="-457200">
              <a:lnSpc>
                <a:spcPct val="150000"/>
              </a:lnSpc>
              <a:buFont typeface="Arial" panose="020B0604020202020204" pitchFamily="34" charset="0"/>
              <a:buChar char="•"/>
            </a:pPr>
            <a:r>
              <a:rPr lang="en-US" sz="2800" dirty="0">
                <a:latin typeface="Calibir"/>
              </a:rPr>
              <a:t>WC4-660 → use exact description from the task </a:t>
            </a:r>
          </a:p>
          <a:p>
            <a:pPr marL="914400" lvl="1" indent="-457200">
              <a:lnSpc>
                <a:spcPct val="150000"/>
              </a:lnSpc>
              <a:buFont typeface="Arial" panose="020B0604020202020204" pitchFamily="34" charset="0"/>
              <a:buChar char="•"/>
            </a:pPr>
            <a:r>
              <a:rPr lang="en-US" sz="2800" dirty="0">
                <a:latin typeface="Calibir"/>
              </a:rPr>
              <a:t>WC5-660 → use exact description from the task</a:t>
            </a:r>
          </a:p>
        </p:txBody>
      </p:sp>
    </p:spTree>
    <p:extLst>
      <p:ext uri="{BB962C8B-B14F-4D97-AF65-F5344CB8AC3E}">
        <p14:creationId xmlns:p14="http://schemas.microsoft.com/office/powerpoint/2010/main" val="478854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871FE-1A78-3A44-139B-E115C8C7E97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8A5556A-1690-16B1-D7C0-6E05E165CB4C}"/>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A50BECC3-9AC9-3920-45EF-34019B867874}"/>
              </a:ext>
            </a:extLst>
          </p:cNvPr>
          <p:cNvSpPr txBox="1"/>
          <p:nvPr/>
        </p:nvSpPr>
        <p:spPr>
          <a:xfrm>
            <a:off x="-10512" y="830917"/>
            <a:ext cx="12192000" cy="3903504"/>
          </a:xfrm>
          <a:prstGeom prst="rect">
            <a:avLst/>
          </a:prstGeom>
          <a:noFill/>
        </p:spPr>
        <p:txBody>
          <a:bodyPr wrap="square">
            <a:spAutoFit/>
          </a:bodyPr>
          <a:lstStyle/>
          <a:p>
            <a:pPr>
              <a:lnSpc>
                <a:spcPct val="150000"/>
              </a:lnSpc>
            </a:pPr>
            <a:r>
              <a:rPr lang="en-US" sz="2800" dirty="0">
                <a:latin typeface="Calibir"/>
              </a:rPr>
              <a:t>Fields that stay the same unless instructed otherwise:</a:t>
            </a:r>
          </a:p>
          <a:p>
            <a:pPr marL="914400" lvl="1" indent="-457200">
              <a:lnSpc>
                <a:spcPct val="150000"/>
              </a:lnSpc>
              <a:buFont typeface="Arial" panose="020B0604020202020204" pitchFamily="34" charset="0"/>
              <a:buChar char="•"/>
            </a:pPr>
            <a:r>
              <a:rPr lang="en-US" sz="2800" dirty="0">
                <a:latin typeface="Calibir"/>
              </a:rPr>
              <a:t>Plant: DL00 </a:t>
            </a:r>
          </a:p>
          <a:p>
            <a:pPr marL="914400" lvl="1" indent="-457200">
              <a:lnSpc>
                <a:spcPct val="150000"/>
              </a:lnSpc>
              <a:buFont typeface="Arial" panose="020B0604020202020204" pitchFamily="34" charset="0"/>
              <a:buChar char="•"/>
            </a:pPr>
            <a:r>
              <a:rPr lang="en-US" sz="2800" dirty="0">
                <a:latin typeface="Calibir"/>
              </a:rPr>
              <a:t>Work Center Category: 0001 </a:t>
            </a:r>
          </a:p>
          <a:p>
            <a:pPr marL="914400" lvl="1" indent="-457200">
              <a:lnSpc>
                <a:spcPct val="150000"/>
              </a:lnSpc>
              <a:buFont typeface="Arial" panose="020B0604020202020204" pitchFamily="34" charset="0"/>
              <a:buChar char="•"/>
            </a:pPr>
            <a:r>
              <a:rPr lang="en-US" sz="2800" dirty="0">
                <a:latin typeface="Calibir"/>
              </a:rPr>
              <a:t>Person Responsible: 000 </a:t>
            </a:r>
          </a:p>
          <a:p>
            <a:pPr marL="914400" lvl="1" indent="-457200">
              <a:lnSpc>
                <a:spcPct val="150000"/>
              </a:lnSpc>
              <a:buFont typeface="Arial" panose="020B0604020202020204" pitchFamily="34" charset="0"/>
              <a:buChar char="•"/>
            </a:pPr>
            <a:r>
              <a:rPr lang="en-US" sz="2800" dirty="0">
                <a:latin typeface="Calibir"/>
              </a:rPr>
              <a:t>Usage: 009 </a:t>
            </a:r>
          </a:p>
          <a:p>
            <a:pPr marL="914400" lvl="1" indent="-457200">
              <a:lnSpc>
                <a:spcPct val="150000"/>
              </a:lnSpc>
              <a:buFont typeface="Arial" panose="020B0604020202020204" pitchFamily="34" charset="0"/>
              <a:buChar char="•"/>
            </a:pPr>
            <a:r>
              <a:rPr lang="en-US" sz="2800" dirty="0">
                <a:latin typeface="Calibir"/>
              </a:rPr>
              <a:t>Standard Value Key: SAP1</a:t>
            </a:r>
          </a:p>
        </p:txBody>
      </p:sp>
    </p:spTree>
    <p:extLst>
      <p:ext uri="{BB962C8B-B14F-4D97-AF65-F5344CB8AC3E}">
        <p14:creationId xmlns:p14="http://schemas.microsoft.com/office/powerpoint/2010/main" val="1271097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39087-1600-7023-6DE2-A4508A3020D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1A4FFBC-F9FB-370C-11B8-BBE1C76EBEC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6DBF33D4-568B-F723-1548-F318037E3F94}"/>
              </a:ext>
            </a:extLst>
          </p:cNvPr>
          <p:cNvSpPr txBox="1"/>
          <p:nvPr/>
        </p:nvSpPr>
        <p:spPr>
          <a:xfrm>
            <a:off x="-10512" y="830917"/>
            <a:ext cx="12192000" cy="6129050"/>
          </a:xfrm>
          <a:prstGeom prst="rect">
            <a:avLst/>
          </a:prstGeom>
          <a:noFill/>
        </p:spPr>
        <p:txBody>
          <a:bodyPr wrap="square">
            <a:spAutoFit/>
          </a:bodyPr>
          <a:lstStyle/>
          <a:p>
            <a:pPr>
              <a:lnSpc>
                <a:spcPct val="150000"/>
              </a:lnSpc>
            </a:pPr>
            <a:r>
              <a:rPr lang="en-US" sz="2400" b="1" dirty="0">
                <a:latin typeface="Calibir"/>
              </a:rPr>
              <a:t>6. What students should submit</a:t>
            </a:r>
          </a:p>
          <a:p>
            <a:pPr>
              <a:lnSpc>
                <a:spcPct val="150000"/>
              </a:lnSpc>
            </a:pPr>
            <a:r>
              <a:rPr lang="en-US" sz="2400" dirty="0">
                <a:latin typeface="Calibir"/>
              </a:rPr>
              <a:t>Students should submit exactly what the assignment and rubric suggest.</a:t>
            </a:r>
          </a:p>
          <a:p>
            <a:pPr>
              <a:lnSpc>
                <a:spcPct val="150000"/>
              </a:lnSpc>
            </a:pPr>
            <a:r>
              <a:rPr lang="en-US" sz="2400" dirty="0">
                <a:latin typeface="Calibir"/>
              </a:rPr>
              <a:t>Most likely they need:</a:t>
            </a:r>
          </a:p>
          <a:p>
            <a:pPr>
              <a:lnSpc>
                <a:spcPct val="150000"/>
              </a:lnSpc>
            </a:pPr>
            <a:r>
              <a:rPr lang="en-US" sz="2400" b="1" dirty="0">
                <a:latin typeface="Calibir"/>
              </a:rPr>
              <a:t>A. A report or document with screenshots</a:t>
            </a:r>
          </a:p>
          <a:p>
            <a:pPr>
              <a:lnSpc>
                <a:spcPct val="150000"/>
              </a:lnSpc>
            </a:pPr>
            <a:r>
              <a:rPr lang="en-US" sz="2400" dirty="0">
                <a:latin typeface="Calibir"/>
              </a:rPr>
              <a:t>Include:</a:t>
            </a:r>
          </a:p>
          <a:p>
            <a:pPr marL="800100" lvl="1" indent="-342900">
              <a:lnSpc>
                <a:spcPct val="150000"/>
              </a:lnSpc>
              <a:buFont typeface="Arial" panose="020B0604020202020204" pitchFamily="34" charset="0"/>
              <a:buChar char="•"/>
            </a:pPr>
            <a:r>
              <a:rPr lang="en-US" sz="2400" dirty="0">
                <a:latin typeface="Calibir"/>
              </a:rPr>
              <a:t>title page if required </a:t>
            </a:r>
          </a:p>
          <a:p>
            <a:pPr marL="800100" lvl="1" indent="-342900">
              <a:lnSpc>
                <a:spcPct val="150000"/>
              </a:lnSpc>
              <a:buFont typeface="Arial" panose="020B0604020202020204" pitchFamily="34" charset="0"/>
              <a:buChar char="•"/>
            </a:pPr>
            <a:r>
              <a:rPr lang="en-US" sz="2400" dirty="0">
                <a:latin typeface="Calibir"/>
              </a:rPr>
              <a:t>group members </a:t>
            </a:r>
          </a:p>
          <a:p>
            <a:pPr marL="800100" lvl="1" indent="-342900">
              <a:lnSpc>
                <a:spcPct val="150000"/>
              </a:lnSpc>
              <a:buFont typeface="Arial" panose="020B0604020202020204" pitchFamily="34" charset="0"/>
              <a:buChar char="•"/>
            </a:pPr>
            <a:r>
              <a:rPr lang="en-US" sz="2400" dirty="0">
                <a:latin typeface="Calibir"/>
              </a:rPr>
              <a:t>student IDs </a:t>
            </a:r>
          </a:p>
          <a:p>
            <a:pPr marL="800100" lvl="1" indent="-342900">
              <a:lnSpc>
                <a:spcPct val="150000"/>
              </a:lnSpc>
              <a:buFont typeface="Arial" panose="020B0604020202020204" pitchFamily="34" charset="0"/>
              <a:buChar char="•"/>
            </a:pPr>
            <a:r>
              <a:rPr lang="en-US" sz="2400" dirty="0">
                <a:latin typeface="Calibir"/>
              </a:rPr>
              <a:t>task sections </a:t>
            </a:r>
          </a:p>
          <a:p>
            <a:pPr marL="800100" lvl="1" indent="-342900">
              <a:lnSpc>
                <a:spcPct val="150000"/>
              </a:lnSpc>
              <a:buFont typeface="Arial" panose="020B0604020202020204" pitchFamily="34" charset="0"/>
              <a:buChar char="•"/>
            </a:pPr>
            <a:r>
              <a:rPr lang="en-US" sz="2400" dirty="0">
                <a:latin typeface="Calibir"/>
              </a:rPr>
              <a:t>screenshots under each task </a:t>
            </a:r>
          </a:p>
          <a:p>
            <a:pPr marL="800100" lvl="1" indent="-342900">
              <a:lnSpc>
                <a:spcPct val="150000"/>
              </a:lnSpc>
              <a:buFont typeface="Arial" panose="020B0604020202020204" pitchFamily="34" charset="0"/>
              <a:buChar char="•"/>
            </a:pPr>
            <a:r>
              <a:rPr lang="en-US" sz="2400" dirty="0">
                <a:latin typeface="Calibir"/>
              </a:rPr>
              <a:t>brief labels or explanations for each screenshot</a:t>
            </a:r>
          </a:p>
        </p:txBody>
      </p:sp>
    </p:spTree>
    <p:extLst>
      <p:ext uri="{BB962C8B-B14F-4D97-AF65-F5344CB8AC3E}">
        <p14:creationId xmlns:p14="http://schemas.microsoft.com/office/powerpoint/2010/main" val="3065487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32E30-7932-C680-F746-026D6C93869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25CDA4-4214-EFA4-6663-E13D9843DB22}"/>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E52AE3D9-ECFB-AFA5-BF99-10AB15400A1C}"/>
              </a:ext>
            </a:extLst>
          </p:cNvPr>
          <p:cNvSpPr txBox="1"/>
          <p:nvPr/>
        </p:nvSpPr>
        <p:spPr>
          <a:xfrm>
            <a:off x="-10512" y="830917"/>
            <a:ext cx="12192000" cy="3903504"/>
          </a:xfrm>
          <a:prstGeom prst="rect">
            <a:avLst/>
          </a:prstGeom>
          <a:noFill/>
        </p:spPr>
        <p:txBody>
          <a:bodyPr wrap="square">
            <a:spAutoFit/>
          </a:bodyPr>
          <a:lstStyle/>
          <a:p>
            <a:pPr>
              <a:lnSpc>
                <a:spcPct val="150000"/>
              </a:lnSpc>
            </a:pPr>
            <a:r>
              <a:rPr lang="en-US" sz="2800" b="1" dirty="0">
                <a:latin typeface="Calibir"/>
              </a:rPr>
              <a:t>B. Clear evidence for every task</a:t>
            </a:r>
          </a:p>
          <a:p>
            <a:pPr>
              <a:lnSpc>
                <a:spcPct val="150000"/>
              </a:lnSpc>
            </a:pPr>
            <a:r>
              <a:rPr lang="en-US" sz="2800" dirty="0">
                <a:latin typeface="Calibir"/>
              </a:rPr>
              <a:t>For each task, students should include:</a:t>
            </a:r>
          </a:p>
          <a:p>
            <a:pPr marL="914400" lvl="1" indent="-457200">
              <a:lnSpc>
                <a:spcPct val="150000"/>
              </a:lnSpc>
              <a:buFont typeface="Arial" panose="020B0604020202020204" pitchFamily="34" charset="0"/>
              <a:buChar char="•"/>
            </a:pPr>
            <a:r>
              <a:rPr lang="en-US" sz="2800" dirty="0">
                <a:latin typeface="Calibir"/>
              </a:rPr>
              <a:t>the step they performed </a:t>
            </a:r>
          </a:p>
          <a:p>
            <a:pPr marL="914400" lvl="1" indent="-457200">
              <a:lnSpc>
                <a:spcPct val="150000"/>
              </a:lnSpc>
              <a:buFont typeface="Arial" panose="020B0604020202020204" pitchFamily="34" charset="0"/>
              <a:buChar char="•"/>
            </a:pPr>
            <a:r>
              <a:rPr lang="en-US" sz="2800" dirty="0">
                <a:latin typeface="Calibir"/>
              </a:rPr>
              <a:t>the relevant SAP screen </a:t>
            </a:r>
          </a:p>
          <a:p>
            <a:pPr marL="914400" lvl="1" indent="-457200">
              <a:lnSpc>
                <a:spcPct val="150000"/>
              </a:lnSpc>
              <a:buFont typeface="Arial" panose="020B0604020202020204" pitchFamily="34" charset="0"/>
              <a:buChar char="•"/>
            </a:pPr>
            <a:r>
              <a:rPr lang="en-US" sz="2800" dirty="0">
                <a:latin typeface="Calibir"/>
              </a:rPr>
              <a:t>the entered values </a:t>
            </a:r>
          </a:p>
          <a:p>
            <a:pPr marL="914400" lvl="1" indent="-457200">
              <a:lnSpc>
                <a:spcPct val="150000"/>
              </a:lnSpc>
              <a:buFont typeface="Arial" panose="020B0604020202020204" pitchFamily="34" charset="0"/>
              <a:buChar char="•"/>
            </a:pPr>
            <a:r>
              <a:rPr lang="en-US" sz="2800" dirty="0">
                <a:latin typeface="Calibir"/>
              </a:rPr>
              <a:t>the result after saving or completing the step</a:t>
            </a:r>
          </a:p>
        </p:txBody>
      </p:sp>
    </p:spTree>
    <p:extLst>
      <p:ext uri="{BB962C8B-B14F-4D97-AF65-F5344CB8AC3E}">
        <p14:creationId xmlns:p14="http://schemas.microsoft.com/office/powerpoint/2010/main" val="277362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D3F18-D632-641F-7431-85A942C579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7ADF02-14BA-F2D3-4E48-B6A2B196897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0220AE30-78E6-2380-C1E9-A8CE471D24C5}"/>
              </a:ext>
            </a:extLst>
          </p:cNvPr>
          <p:cNvSpPr txBox="1"/>
          <p:nvPr/>
        </p:nvSpPr>
        <p:spPr>
          <a:xfrm>
            <a:off x="-10512" y="830917"/>
            <a:ext cx="12192000" cy="6129050"/>
          </a:xfrm>
          <a:prstGeom prst="rect">
            <a:avLst/>
          </a:prstGeom>
          <a:noFill/>
        </p:spPr>
        <p:txBody>
          <a:bodyPr wrap="square">
            <a:spAutoFit/>
          </a:bodyPr>
          <a:lstStyle/>
          <a:p>
            <a:pPr>
              <a:lnSpc>
                <a:spcPct val="150000"/>
              </a:lnSpc>
            </a:pPr>
            <a:r>
              <a:rPr lang="en-US" sz="2400" b="1" dirty="0">
                <a:latin typeface="Calibir"/>
              </a:rPr>
              <a:t>C. Proper screenshot </a:t>
            </a:r>
            <a:r>
              <a:rPr lang="en-US" sz="2400" b="1" dirty="0" err="1">
                <a:latin typeface="Calibir"/>
              </a:rPr>
              <a:t>organisation</a:t>
            </a:r>
            <a:endParaRPr lang="en-US" sz="2400" b="1" dirty="0">
              <a:latin typeface="Calibir"/>
            </a:endParaRPr>
          </a:p>
          <a:p>
            <a:pPr>
              <a:lnSpc>
                <a:spcPct val="150000"/>
              </a:lnSpc>
            </a:pPr>
            <a:r>
              <a:rPr lang="en-US" sz="2400" dirty="0">
                <a:latin typeface="Calibir"/>
              </a:rPr>
              <a:t>A good format is:</a:t>
            </a:r>
          </a:p>
          <a:p>
            <a:pPr>
              <a:lnSpc>
                <a:spcPct val="150000"/>
              </a:lnSpc>
            </a:pPr>
            <a:r>
              <a:rPr lang="en-US" sz="2400" b="1" dirty="0">
                <a:latin typeface="Calibir"/>
              </a:rPr>
              <a:t>Task 1</a:t>
            </a:r>
            <a:endParaRPr lang="en-US" sz="2400" dirty="0">
              <a:latin typeface="Calibir"/>
            </a:endParaRPr>
          </a:p>
          <a:p>
            <a:pPr marL="800100" lvl="1" indent="-342900">
              <a:lnSpc>
                <a:spcPct val="150000"/>
              </a:lnSpc>
              <a:buFont typeface="Arial" panose="020B0604020202020204" pitchFamily="34" charset="0"/>
              <a:buChar char="•"/>
            </a:pPr>
            <a:r>
              <a:rPr lang="en-US" sz="2400" dirty="0">
                <a:latin typeface="Calibir"/>
              </a:rPr>
              <a:t>Step 1 screenshot </a:t>
            </a:r>
          </a:p>
          <a:p>
            <a:pPr marL="800100" lvl="1" indent="-342900">
              <a:lnSpc>
                <a:spcPct val="150000"/>
              </a:lnSpc>
              <a:buFont typeface="Arial" panose="020B0604020202020204" pitchFamily="34" charset="0"/>
              <a:buChar char="•"/>
            </a:pPr>
            <a:r>
              <a:rPr lang="en-US" sz="2400" dirty="0">
                <a:latin typeface="Calibir"/>
              </a:rPr>
              <a:t>Step 2 screenshot </a:t>
            </a:r>
          </a:p>
          <a:p>
            <a:pPr marL="800100" lvl="1" indent="-342900">
              <a:lnSpc>
                <a:spcPct val="150000"/>
              </a:lnSpc>
              <a:buFont typeface="Arial" panose="020B0604020202020204" pitchFamily="34" charset="0"/>
              <a:buChar char="•"/>
            </a:pPr>
            <a:r>
              <a:rPr lang="en-US" sz="2400" dirty="0">
                <a:latin typeface="Calibir"/>
              </a:rPr>
              <a:t>Final result screenshot </a:t>
            </a:r>
          </a:p>
          <a:p>
            <a:pPr>
              <a:lnSpc>
                <a:spcPct val="150000"/>
              </a:lnSpc>
            </a:pPr>
            <a:r>
              <a:rPr lang="en-US" sz="2400" b="1" dirty="0">
                <a:latin typeface="Calibir"/>
              </a:rPr>
              <a:t>Task 2</a:t>
            </a:r>
            <a:endParaRPr lang="en-US" sz="2400" dirty="0">
              <a:latin typeface="Calibir"/>
            </a:endParaRPr>
          </a:p>
          <a:p>
            <a:pPr marL="800100" lvl="1" indent="-342900">
              <a:lnSpc>
                <a:spcPct val="150000"/>
              </a:lnSpc>
              <a:buFont typeface="Arial" panose="020B0604020202020204" pitchFamily="34" charset="0"/>
              <a:buChar char="•"/>
            </a:pPr>
            <a:r>
              <a:rPr lang="en-US" sz="2400" dirty="0">
                <a:latin typeface="Calibir"/>
              </a:rPr>
              <a:t>Step 1 screenshot </a:t>
            </a:r>
          </a:p>
          <a:p>
            <a:pPr marL="800100" lvl="1" indent="-342900">
              <a:lnSpc>
                <a:spcPct val="150000"/>
              </a:lnSpc>
              <a:buFont typeface="Arial" panose="020B0604020202020204" pitchFamily="34" charset="0"/>
              <a:buChar char="•"/>
            </a:pPr>
            <a:r>
              <a:rPr lang="en-US" sz="2400" dirty="0">
                <a:latin typeface="Calibir"/>
              </a:rPr>
              <a:t>Step 2 screenshot </a:t>
            </a:r>
          </a:p>
          <a:p>
            <a:pPr marL="800100" lvl="1" indent="-342900">
              <a:lnSpc>
                <a:spcPct val="150000"/>
              </a:lnSpc>
              <a:buFont typeface="Arial" panose="020B0604020202020204" pitchFamily="34" charset="0"/>
              <a:buChar char="•"/>
            </a:pPr>
            <a:r>
              <a:rPr lang="en-US" sz="2400" dirty="0">
                <a:latin typeface="Calibir"/>
              </a:rPr>
              <a:t>Final result screenshot </a:t>
            </a:r>
          </a:p>
          <a:p>
            <a:pPr>
              <a:lnSpc>
                <a:spcPct val="150000"/>
              </a:lnSpc>
            </a:pPr>
            <a:r>
              <a:rPr lang="en-US" sz="2400" dirty="0">
                <a:latin typeface="Calibir"/>
              </a:rPr>
              <a:t>and so on.</a:t>
            </a:r>
          </a:p>
        </p:txBody>
      </p:sp>
    </p:spTree>
    <p:extLst>
      <p:ext uri="{BB962C8B-B14F-4D97-AF65-F5344CB8AC3E}">
        <p14:creationId xmlns:p14="http://schemas.microsoft.com/office/powerpoint/2010/main" val="833267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7AAD1-007D-A600-9233-AAD8FCF386C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4CEA3D5-80FC-9F5F-0CE4-90BE325EBDBA}"/>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A7F58B54-5A24-7E18-1A55-F3590FD9068F}"/>
              </a:ext>
            </a:extLst>
          </p:cNvPr>
          <p:cNvSpPr txBox="1"/>
          <p:nvPr/>
        </p:nvSpPr>
        <p:spPr>
          <a:xfrm>
            <a:off x="-10512" y="830917"/>
            <a:ext cx="12192000" cy="3903504"/>
          </a:xfrm>
          <a:prstGeom prst="rect">
            <a:avLst/>
          </a:prstGeom>
          <a:noFill/>
        </p:spPr>
        <p:txBody>
          <a:bodyPr wrap="square">
            <a:spAutoFit/>
          </a:bodyPr>
          <a:lstStyle/>
          <a:p>
            <a:pPr>
              <a:lnSpc>
                <a:spcPct val="150000"/>
              </a:lnSpc>
            </a:pPr>
            <a:r>
              <a:rPr lang="en-US" sz="2800" b="1" dirty="0">
                <a:latin typeface="Calibir"/>
              </a:rPr>
              <a:t>D. Captions under screenshots</a:t>
            </a:r>
          </a:p>
          <a:p>
            <a:pPr>
              <a:lnSpc>
                <a:spcPct val="150000"/>
              </a:lnSpc>
            </a:pPr>
            <a:r>
              <a:rPr lang="en-US" sz="2800" dirty="0">
                <a:latin typeface="Calibir"/>
              </a:rPr>
              <a:t>For example:</a:t>
            </a:r>
          </a:p>
          <a:p>
            <a:pPr marL="914400" lvl="1" indent="-457200">
              <a:lnSpc>
                <a:spcPct val="150000"/>
              </a:lnSpc>
              <a:buFont typeface="Arial" panose="020B0604020202020204" pitchFamily="34" charset="0"/>
              <a:buChar char="•"/>
            </a:pPr>
            <a:r>
              <a:rPr lang="en-US" sz="2800" i="1" dirty="0">
                <a:latin typeface="Calibir"/>
              </a:rPr>
              <a:t>Figure 1: Initial screen for creating Work Center WC1-660</a:t>
            </a:r>
            <a:r>
              <a:rPr lang="en-US" sz="2800" dirty="0">
                <a:latin typeface="Calibir"/>
              </a:rPr>
              <a:t> </a:t>
            </a:r>
          </a:p>
          <a:p>
            <a:pPr marL="914400" lvl="1" indent="-457200">
              <a:lnSpc>
                <a:spcPct val="150000"/>
              </a:lnSpc>
              <a:buFont typeface="Arial" panose="020B0604020202020204" pitchFamily="34" charset="0"/>
              <a:buChar char="•"/>
            </a:pPr>
            <a:r>
              <a:rPr lang="en-US" sz="2800" i="1" dirty="0">
                <a:latin typeface="Calibir"/>
              </a:rPr>
              <a:t>Figure 2: Basic Data entered for Work Center WC1-660</a:t>
            </a:r>
            <a:r>
              <a:rPr lang="en-US" sz="2800" dirty="0">
                <a:latin typeface="Calibir"/>
              </a:rPr>
              <a:t> </a:t>
            </a:r>
          </a:p>
          <a:p>
            <a:pPr marL="914400" lvl="1" indent="-457200">
              <a:lnSpc>
                <a:spcPct val="150000"/>
              </a:lnSpc>
              <a:buFont typeface="Arial" panose="020B0604020202020204" pitchFamily="34" charset="0"/>
              <a:buChar char="•"/>
            </a:pPr>
            <a:r>
              <a:rPr lang="en-US" sz="2800" i="1" dirty="0">
                <a:latin typeface="Calibir"/>
              </a:rPr>
              <a:t>Figure 3: Save confirmation for Work Center WC1-660</a:t>
            </a:r>
            <a:r>
              <a:rPr lang="en-US" sz="2800" dirty="0">
                <a:latin typeface="Calibir"/>
              </a:rPr>
              <a:t> </a:t>
            </a:r>
          </a:p>
          <a:p>
            <a:pPr>
              <a:lnSpc>
                <a:spcPct val="150000"/>
              </a:lnSpc>
            </a:pPr>
            <a:r>
              <a:rPr lang="en-US" sz="2800" dirty="0">
                <a:latin typeface="Calibir"/>
              </a:rPr>
              <a:t>This makes the submission easier to mark.</a:t>
            </a:r>
          </a:p>
        </p:txBody>
      </p:sp>
    </p:spTree>
    <p:extLst>
      <p:ext uri="{BB962C8B-B14F-4D97-AF65-F5344CB8AC3E}">
        <p14:creationId xmlns:p14="http://schemas.microsoft.com/office/powerpoint/2010/main" val="4176413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C52FD-59EF-349F-46B5-4854F7E121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ABB2B0A-BB90-FCF4-F537-6C3327120E07}"/>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4C721BB7-10B8-93ED-D23A-BDC5787C85CA}"/>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7. What students should do</a:t>
            </a:r>
          </a:p>
          <a:p>
            <a:pPr>
              <a:lnSpc>
                <a:spcPct val="150000"/>
              </a:lnSpc>
            </a:pPr>
            <a:r>
              <a:rPr lang="en-US" sz="2800" dirty="0">
                <a:latin typeface="Calibir"/>
              </a:rPr>
              <a:t>Students should:</a:t>
            </a:r>
          </a:p>
          <a:p>
            <a:pPr>
              <a:lnSpc>
                <a:spcPct val="150000"/>
              </a:lnSpc>
            </a:pPr>
            <a:r>
              <a:rPr lang="en-US" sz="2800" b="1" dirty="0">
                <a:latin typeface="Calibir"/>
              </a:rPr>
              <a:t>Before starting</a:t>
            </a:r>
          </a:p>
          <a:p>
            <a:pPr marL="914400" lvl="1" indent="-457200">
              <a:lnSpc>
                <a:spcPct val="150000"/>
              </a:lnSpc>
              <a:buFont typeface="Arial" panose="020B0604020202020204" pitchFamily="34" charset="0"/>
              <a:buChar char="•"/>
            </a:pPr>
            <a:r>
              <a:rPr lang="en-US" sz="2800" dirty="0">
                <a:latin typeface="Calibir"/>
              </a:rPr>
              <a:t>read the whole assignment first </a:t>
            </a:r>
          </a:p>
          <a:p>
            <a:pPr marL="914400" lvl="1" indent="-457200">
              <a:lnSpc>
                <a:spcPct val="150000"/>
              </a:lnSpc>
              <a:buFont typeface="Arial" panose="020B0604020202020204" pitchFamily="34" charset="0"/>
              <a:buChar char="•"/>
            </a:pPr>
            <a:r>
              <a:rPr lang="en-US" sz="2800" dirty="0">
                <a:latin typeface="Calibir"/>
              </a:rPr>
              <a:t>identify all required task values </a:t>
            </a:r>
          </a:p>
          <a:p>
            <a:pPr marL="914400" lvl="1" indent="-457200">
              <a:lnSpc>
                <a:spcPct val="150000"/>
              </a:lnSpc>
              <a:buFont typeface="Arial" panose="020B0604020202020204" pitchFamily="34" charset="0"/>
              <a:buChar char="•"/>
            </a:pPr>
            <a:r>
              <a:rPr lang="en-US" sz="2800" dirty="0">
                <a:latin typeface="Calibir"/>
              </a:rPr>
              <a:t>write down their login number </a:t>
            </a:r>
          </a:p>
          <a:p>
            <a:pPr marL="914400" lvl="1" indent="-457200">
              <a:lnSpc>
                <a:spcPct val="150000"/>
              </a:lnSpc>
              <a:buFont typeface="Arial" panose="020B0604020202020204" pitchFamily="34" charset="0"/>
              <a:buChar char="•"/>
            </a:pPr>
            <a:r>
              <a:rPr lang="en-US" sz="2800" dirty="0">
                <a:latin typeface="Calibir"/>
              </a:rPr>
              <a:t>list all work </a:t>
            </a:r>
            <a:r>
              <a:rPr lang="en-US" sz="2800" dirty="0" err="1">
                <a:latin typeface="Calibir"/>
              </a:rPr>
              <a:t>centre</a:t>
            </a:r>
            <a:r>
              <a:rPr lang="en-US" sz="2800" dirty="0">
                <a:latin typeface="Calibir"/>
              </a:rPr>
              <a:t> codes they need to create</a:t>
            </a:r>
          </a:p>
        </p:txBody>
      </p:sp>
    </p:spTree>
    <p:extLst>
      <p:ext uri="{BB962C8B-B14F-4D97-AF65-F5344CB8AC3E}">
        <p14:creationId xmlns:p14="http://schemas.microsoft.com/office/powerpoint/2010/main" val="929457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22AB1-89BD-62DC-59BB-892725BD62F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D73337-D1AC-855B-3387-256E92908781}"/>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DE34F2C9-B29F-22BD-3017-C65AFC000DD5}"/>
              </a:ext>
            </a:extLst>
          </p:cNvPr>
          <p:cNvSpPr txBox="1"/>
          <p:nvPr/>
        </p:nvSpPr>
        <p:spPr>
          <a:xfrm>
            <a:off x="-10512" y="830917"/>
            <a:ext cx="12192000" cy="3903504"/>
          </a:xfrm>
          <a:prstGeom prst="rect">
            <a:avLst/>
          </a:prstGeom>
          <a:noFill/>
        </p:spPr>
        <p:txBody>
          <a:bodyPr wrap="square">
            <a:spAutoFit/>
          </a:bodyPr>
          <a:lstStyle/>
          <a:p>
            <a:pPr>
              <a:lnSpc>
                <a:spcPct val="150000"/>
              </a:lnSpc>
            </a:pPr>
            <a:r>
              <a:rPr lang="en-US" sz="2800" b="1" dirty="0">
                <a:latin typeface="Calibir"/>
              </a:rPr>
              <a:t>During the task</a:t>
            </a:r>
          </a:p>
          <a:p>
            <a:pPr marL="914400" lvl="1" indent="-457200">
              <a:lnSpc>
                <a:spcPct val="150000"/>
              </a:lnSpc>
              <a:buFont typeface="Arial" panose="020B0604020202020204" pitchFamily="34" charset="0"/>
              <a:buChar char="•"/>
            </a:pPr>
            <a:r>
              <a:rPr lang="en-US" sz="2800" dirty="0">
                <a:latin typeface="Calibir"/>
              </a:rPr>
              <a:t>follow the instructions in order </a:t>
            </a:r>
          </a:p>
          <a:p>
            <a:pPr marL="914400" lvl="1" indent="-457200">
              <a:lnSpc>
                <a:spcPct val="150000"/>
              </a:lnSpc>
              <a:buFont typeface="Arial" panose="020B0604020202020204" pitchFamily="34" charset="0"/>
              <a:buChar char="•"/>
            </a:pPr>
            <a:r>
              <a:rPr lang="en-US" sz="2800" dirty="0">
                <a:latin typeface="Calibir"/>
              </a:rPr>
              <a:t>enter values exactly as shown </a:t>
            </a:r>
          </a:p>
          <a:p>
            <a:pPr marL="914400" lvl="1" indent="-457200">
              <a:lnSpc>
                <a:spcPct val="150000"/>
              </a:lnSpc>
              <a:buFont typeface="Arial" panose="020B0604020202020204" pitchFamily="34" charset="0"/>
              <a:buChar char="•"/>
            </a:pPr>
            <a:r>
              <a:rPr lang="en-US" sz="2800" dirty="0">
                <a:latin typeface="Calibir"/>
              </a:rPr>
              <a:t>take screenshots at every important stage </a:t>
            </a:r>
          </a:p>
          <a:p>
            <a:pPr marL="914400" lvl="1" indent="-457200">
              <a:lnSpc>
                <a:spcPct val="150000"/>
              </a:lnSpc>
              <a:buFont typeface="Arial" panose="020B0604020202020204" pitchFamily="34" charset="0"/>
              <a:buChar char="•"/>
            </a:pPr>
            <a:r>
              <a:rPr lang="en-US" sz="2800" dirty="0">
                <a:latin typeface="Calibir"/>
              </a:rPr>
              <a:t>save often where required </a:t>
            </a:r>
          </a:p>
          <a:p>
            <a:pPr marL="914400" lvl="1" indent="-457200">
              <a:lnSpc>
                <a:spcPct val="150000"/>
              </a:lnSpc>
              <a:buFont typeface="Arial" panose="020B0604020202020204" pitchFamily="34" charset="0"/>
              <a:buChar char="•"/>
            </a:pPr>
            <a:r>
              <a:rPr lang="en-US" sz="2800" dirty="0">
                <a:latin typeface="Calibir"/>
              </a:rPr>
              <a:t>check whether the data really saved</a:t>
            </a:r>
          </a:p>
        </p:txBody>
      </p:sp>
    </p:spTree>
    <p:extLst>
      <p:ext uri="{BB962C8B-B14F-4D97-AF65-F5344CB8AC3E}">
        <p14:creationId xmlns:p14="http://schemas.microsoft.com/office/powerpoint/2010/main" val="768763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6F804-C35C-8A23-05F7-7E2B5ACD74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42308C4-DC65-95FD-4C49-BE039B4B6F9F}"/>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9A465EDD-A6F2-7F63-C4BC-D6488C3394B0}"/>
              </a:ext>
            </a:extLst>
          </p:cNvPr>
          <p:cNvSpPr txBox="1"/>
          <p:nvPr/>
        </p:nvSpPr>
        <p:spPr>
          <a:xfrm>
            <a:off x="-10512" y="830917"/>
            <a:ext cx="12192000" cy="3903504"/>
          </a:xfrm>
          <a:prstGeom prst="rect">
            <a:avLst/>
          </a:prstGeom>
          <a:noFill/>
        </p:spPr>
        <p:txBody>
          <a:bodyPr wrap="square">
            <a:spAutoFit/>
          </a:bodyPr>
          <a:lstStyle/>
          <a:p>
            <a:pPr>
              <a:lnSpc>
                <a:spcPct val="150000"/>
              </a:lnSpc>
            </a:pPr>
            <a:r>
              <a:rPr lang="en-US" sz="2800" b="1" dirty="0">
                <a:latin typeface="Calibir"/>
              </a:rPr>
              <a:t>Before submission</a:t>
            </a:r>
          </a:p>
          <a:p>
            <a:pPr marL="914400" lvl="1" indent="-457200">
              <a:lnSpc>
                <a:spcPct val="150000"/>
              </a:lnSpc>
              <a:buFont typeface="Arial" panose="020B0604020202020204" pitchFamily="34" charset="0"/>
              <a:buChar char="•"/>
            </a:pPr>
            <a:r>
              <a:rPr lang="en-US" sz="2800" dirty="0">
                <a:latin typeface="Calibir"/>
              </a:rPr>
              <a:t>compare screenshots against the rubric </a:t>
            </a:r>
          </a:p>
          <a:p>
            <a:pPr marL="914400" lvl="1" indent="-457200">
              <a:lnSpc>
                <a:spcPct val="150000"/>
              </a:lnSpc>
              <a:buFont typeface="Arial" panose="020B0604020202020204" pitchFamily="34" charset="0"/>
              <a:buChar char="•"/>
            </a:pPr>
            <a:r>
              <a:rPr lang="en-US" sz="2800" dirty="0">
                <a:latin typeface="Calibir"/>
              </a:rPr>
              <a:t>make sure screenshots are readable </a:t>
            </a:r>
          </a:p>
          <a:p>
            <a:pPr marL="914400" lvl="1" indent="-457200">
              <a:lnSpc>
                <a:spcPct val="150000"/>
              </a:lnSpc>
              <a:buFont typeface="Arial" panose="020B0604020202020204" pitchFamily="34" charset="0"/>
              <a:buChar char="•"/>
            </a:pPr>
            <a:r>
              <a:rPr lang="en-US" sz="2800" dirty="0">
                <a:latin typeface="Calibir"/>
              </a:rPr>
              <a:t>check that the work </a:t>
            </a:r>
            <a:r>
              <a:rPr lang="en-US" sz="2800" dirty="0" err="1">
                <a:latin typeface="Calibir"/>
              </a:rPr>
              <a:t>centre</a:t>
            </a:r>
            <a:r>
              <a:rPr lang="en-US" sz="2800" dirty="0">
                <a:latin typeface="Calibir"/>
              </a:rPr>
              <a:t> names use the correct login number </a:t>
            </a:r>
          </a:p>
          <a:p>
            <a:pPr marL="914400" lvl="1" indent="-457200">
              <a:lnSpc>
                <a:spcPct val="150000"/>
              </a:lnSpc>
              <a:buFont typeface="Arial" panose="020B0604020202020204" pitchFamily="34" charset="0"/>
              <a:buChar char="•"/>
            </a:pPr>
            <a:r>
              <a:rPr lang="en-US" sz="2800" dirty="0">
                <a:latin typeface="Calibir"/>
              </a:rPr>
              <a:t>check that descriptions match the assignment </a:t>
            </a:r>
          </a:p>
          <a:p>
            <a:pPr marL="914400" lvl="1" indent="-457200">
              <a:lnSpc>
                <a:spcPct val="150000"/>
              </a:lnSpc>
              <a:buFont typeface="Arial" panose="020B0604020202020204" pitchFamily="34" charset="0"/>
              <a:buChar char="•"/>
            </a:pPr>
            <a:r>
              <a:rPr lang="en-US" sz="2800" dirty="0">
                <a:latin typeface="Calibir"/>
              </a:rPr>
              <a:t>ensure all tasks are included</a:t>
            </a:r>
          </a:p>
        </p:txBody>
      </p:sp>
    </p:spTree>
    <p:extLst>
      <p:ext uri="{BB962C8B-B14F-4D97-AF65-F5344CB8AC3E}">
        <p14:creationId xmlns:p14="http://schemas.microsoft.com/office/powerpoint/2010/main" val="23179913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9565B-4DD9-003E-C163-44C2C183CEB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7429934-D387-1B6C-99CA-5BA9609A835D}"/>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63103FB7-24EE-2C8B-F233-55F45C3DFB76}"/>
              </a:ext>
            </a:extLst>
          </p:cNvPr>
          <p:cNvSpPr txBox="1"/>
          <p:nvPr/>
        </p:nvSpPr>
        <p:spPr>
          <a:xfrm>
            <a:off x="-10512" y="830917"/>
            <a:ext cx="12192000" cy="6046271"/>
          </a:xfrm>
          <a:prstGeom prst="rect">
            <a:avLst/>
          </a:prstGeom>
          <a:noFill/>
        </p:spPr>
        <p:txBody>
          <a:bodyPr wrap="square">
            <a:spAutoFit/>
          </a:bodyPr>
          <a:lstStyle/>
          <a:p>
            <a:pPr>
              <a:lnSpc>
                <a:spcPct val="150000"/>
              </a:lnSpc>
            </a:pPr>
            <a:r>
              <a:rPr lang="en-US" sz="2000" b="1" dirty="0">
                <a:latin typeface="Calibir"/>
              </a:rPr>
              <a:t>8. What students should avoid</a:t>
            </a:r>
          </a:p>
          <a:p>
            <a:pPr>
              <a:lnSpc>
                <a:spcPct val="150000"/>
              </a:lnSpc>
            </a:pPr>
            <a:r>
              <a:rPr lang="en-US" sz="2000" dirty="0">
                <a:latin typeface="Calibir"/>
              </a:rPr>
              <a:t>Students should avoid:</a:t>
            </a:r>
          </a:p>
          <a:p>
            <a:pPr marL="800100" lvl="1" indent="-342900">
              <a:lnSpc>
                <a:spcPct val="150000"/>
              </a:lnSpc>
              <a:buFont typeface="Arial" panose="020B0604020202020204" pitchFamily="34" charset="0"/>
              <a:buChar char="•"/>
            </a:pPr>
            <a:r>
              <a:rPr lang="en-US" sz="2000" dirty="0">
                <a:latin typeface="Calibir"/>
              </a:rPr>
              <a:t>using another student’s login number </a:t>
            </a:r>
          </a:p>
          <a:p>
            <a:pPr marL="800100" lvl="1" indent="-342900">
              <a:lnSpc>
                <a:spcPct val="150000"/>
              </a:lnSpc>
              <a:buFont typeface="Arial" panose="020B0604020202020204" pitchFamily="34" charset="0"/>
              <a:buChar char="•"/>
            </a:pPr>
            <a:r>
              <a:rPr lang="en-US" sz="2000" dirty="0">
                <a:latin typeface="Calibir"/>
              </a:rPr>
              <a:t>using guessed descriptions </a:t>
            </a:r>
          </a:p>
          <a:p>
            <a:pPr marL="800100" lvl="1" indent="-342900">
              <a:lnSpc>
                <a:spcPct val="150000"/>
              </a:lnSpc>
              <a:buFont typeface="Arial" panose="020B0604020202020204" pitchFamily="34" charset="0"/>
              <a:buChar char="•"/>
            </a:pPr>
            <a:r>
              <a:rPr lang="en-US" sz="2000" dirty="0">
                <a:latin typeface="Calibir"/>
              </a:rPr>
              <a:t>skipping screenshots </a:t>
            </a:r>
          </a:p>
          <a:p>
            <a:pPr marL="800100" lvl="1" indent="-342900">
              <a:lnSpc>
                <a:spcPct val="150000"/>
              </a:lnSpc>
              <a:buFont typeface="Arial" panose="020B0604020202020204" pitchFamily="34" charset="0"/>
              <a:buChar char="•"/>
            </a:pPr>
            <a:r>
              <a:rPr lang="en-US" sz="2000" dirty="0">
                <a:latin typeface="Calibir"/>
              </a:rPr>
              <a:t>cropping screenshots too tightly </a:t>
            </a:r>
          </a:p>
          <a:p>
            <a:pPr marL="800100" lvl="1" indent="-342900">
              <a:lnSpc>
                <a:spcPct val="150000"/>
              </a:lnSpc>
              <a:buFont typeface="Arial" panose="020B0604020202020204" pitchFamily="34" charset="0"/>
              <a:buChar char="•"/>
            </a:pPr>
            <a:r>
              <a:rPr lang="en-US" sz="2000" dirty="0">
                <a:latin typeface="Calibir"/>
              </a:rPr>
              <a:t>submitting blurry screenshots </a:t>
            </a:r>
          </a:p>
          <a:p>
            <a:pPr marL="800100" lvl="1" indent="-342900">
              <a:lnSpc>
                <a:spcPct val="150000"/>
              </a:lnSpc>
              <a:buFont typeface="Arial" panose="020B0604020202020204" pitchFamily="34" charset="0"/>
              <a:buChar char="•"/>
            </a:pPr>
            <a:r>
              <a:rPr lang="en-US" sz="2000" dirty="0">
                <a:latin typeface="Calibir"/>
              </a:rPr>
              <a:t>including screenshots that do not show the full required fields </a:t>
            </a:r>
          </a:p>
          <a:p>
            <a:pPr marL="800100" lvl="1" indent="-342900">
              <a:lnSpc>
                <a:spcPct val="150000"/>
              </a:lnSpc>
              <a:buFont typeface="Arial" panose="020B0604020202020204" pitchFamily="34" charset="0"/>
              <a:buChar char="•"/>
            </a:pPr>
            <a:r>
              <a:rPr lang="en-US" sz="2000" dirty="0">
                <a:latin typeface="Calibir"/>
              </a:rPr>
              <a:t>forgetting to save </a:t>
            </a:r>
          </a:p>
          <a:p>
            <a:pPr marL="800100" lvl="1" indent="-342900">
              <a:lnSpc>
                <a:spcPct val="150000"/>
              </a:lnSpc>
              <a:buFont typeface="Arial" panose="020B0604020202020204" pitchFamily="34" charset="0"/>
              <a:buChar char="•"/>
            </a:pPr>
            <a:r>
              <a:rPr lang="en-US" sz="2000" dirty="0">
                <a:latin typeface="Calibir"/>
              </a:rPr>
              <a:t>mixing different task screenshots into the wrong section </a:t>
            </a:r>
          </a:p>
          <a:p>
            <a:pPr marL="800100" lvl="1" indent="-342900">
              <a:lnSpc>
                <a:spcPct val="150000"/>
              </a:lnSpc>
              <a:buFont typeface="Arial" panose="020B0604020202020204" pitchFamily="34" charset="0"/>
              <a:buChar char="•"/>
            </a:pPr>
            <a:r>
              <a:rPr lang="en-US" sz="2000" dirty="0">
                <a:latin typeface="Calibir"/>
              </a:rPr>
              <a:t>pasting screenshots without explanation </a:t>
            </a:r>
          </a:p>
          <a:p>
            <a:pPr marL="800100" lvl="1" indent="-342900">
              <a:lnSpc>
                <a:spcPct val="150000"/>
              </a:lnSpc>
              <a:buFont typeface="Arial" panose="020B0604020202020204" pitchFamily="34" charset="0"/>
              <a:buChar char="•"/>
            </a:pPr>
            <a:r>
              <a:rPr lang="en-US" sz="2000" dirty="0">
                <a:latin typeface="Calibir"/>
              </a:rPr>
              <a:t>editing or fabricating screenshots </a:t>
            </a:r>
          </a:p>
          <a:p>
            <a:pPr marL="800100" lvl="1" indent="-342900">
              <a:lnSpc>
                <a:spcPct val="150000"/>
              </a:lnSpc>
              <a:buFont typeface="Arial" panose="020B0604020202020204" pitchFamily="34" charset="0"/>
              <a:buChar char="•"/>
            </a:pPr>
            <a:r>
              <a:rPr lang="en-US" sz="2000" dirty="0">
                <a:latin typeface="Calibir"/>
              </a:rPr>
              <a:t>sharing one student’s SAP output and copying it as another’s</a:t>
            </a:r>
          </a:p>
        </p:txBody>
      </p:sp>
    </p:spTree>
    <p:extLst>
      <p:ext uri="{BB962C8B-B14F-4D97-AF65-F5344CB8AC3E}">
        <p14:creationId xmlns:p14="http://schemas.microsoft.com/office/powerpoint/2010/main" val="3674362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6AB25-00D5-1B9E-DE67-ADD653D4064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D2E179A-F3C7-0C52-45BC-E7E753DE1978}"/>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552A4B66-DF85-AA5E-0385-369FA4FD6B93}"/>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dirty="0">
                <a:latin typeface="Calibir"/>
              </a:rPr>
              <a:t>Also, because your assignment sheet includes academic integrity warnings, students must avoid:</a:t>
            </a:r>
          </a:p>
          <a:p>
            <a:pPr marL="914400" lvl="1" indent="-457200">
              <a:lnSpc>
                <a:spcPct val="150000"/>
              </a:lnSpc>
              <a:buFont typeface="Arial" panose="020B0604020202020204" pitchFamily="34" charset="0"/>
              <a:buChar char="•"/>
            </a:pPr>
            <a:r>
              <a:rPr lang="en-US" sz="2800" dirty="0">
                <a:latin typeface="Calibir"/>
              </a:rPr>
              <a:t>plagiarism </a:t>
            </a:r>
          </a:p>
          <a:p>
            <a:pPr marL="914400" lvl="1" indent="-457200">
              <a:lnSpc>
                <a:spcPct val="150000"/>
              </a:lnSpc>
              <a:buFont typeface="Arial" panose="020B0604020202020204" pitchFamily="34" charset="0"/>
              <a:buChar char="•"/>
            </a:pPr>
            <a:r>
              <a:rPr lang="en-US" sz="2800" dirty="0">
                <a:latin typeface="Calibir"/>
              </a:rPr>
              <a:t>collusion beyond what is allowed in the group task </a:t>
            </a:r>
          </a:p>
          <a:p>
            <a:pPr marL="914400" lvl="1" indent="-457200">
              <a:lnSpc>
                <a:spcPct val="150000"/>
              </a:lnSpc>
              <a:buFont typeface="Arial" panose="020B0604020202020204" pitchFamily="34" charset="0"/>
              <a:buChar char="•"/>
            </a:pPr>
            <a:r>
              <a:rPr lang="en-US" sz="2800" dirty="0">
                <a:latin typeface="Calibir"/>
              </a:rPr>
              <a:t>copying another group’s screenshots </a:t>
            </a:r>
          </a:p>
          <a:p>
            <a:pPr marL="914400" lvl="1" indent="-457200">
              <a:lnSpc>
                <a:spcPct val="150000"/>
              </a:lnSpc>
              <a:buFont typeface="Arial" panose="020B0604020202020204" pitchFamily="34" charset="0"/>
              <a:buChar char="•"/>
            </a:pPr>
            <a:r>
              <a:rPr lang="en-US" sz="2800" dirty="0">
                <a:latin typeface="Calibir"/>
              </a:rPr>
              <a:t>falsifying SAP results </a:t>
            </a:r>
          </a:p>
          <a:p>
            <a:pPr marL="914400" lvl="1" indent="-457200">
              <a:lnSpc>
                <a:spcPct val="150000"/>
              </a:lnSpc>
              <a:buFont typeface="Arial" panose="020B0604020202020204" pitchFamily="34" charset="0"/>
              <a:buChar char="•"/>
            </a:pPr>
            <a:r>
              <a:rPr lang="en-US" sz="2800" dirty="0">
                <a:latin typeface="Calibir"/>
              </a:rPr>
              <a:t>using paid third parties to complete the work</a:t>
            </a:r>
          </a:p>
        </p:txBody>
      </p:sp>
    </p:spTree>
    <p:extLst>
      <p:ext uri="{BB962C8B-B14F-4D97-AF65-F5344CB8AC3E}">
        <p14:creationId xmlns:p14="http://schemas.microsoft.com/office/powerpoint/2010/main" val="2700951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A71CB-88D9-98EB-E853-497728BBCD8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9F5FD22-05C7-5DA1-D95F-4241BE4E30A0}"/>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05BF375E-819E-0D97-BBB5-C2A18D87E69C}"/>
              </a:ext>
            </a:extLst>
          </p:cNvPr>
          <p:cNvSpPr txBox="1"/>
          <p:nvPr/>
        </p:nvSpPr>
        <p:spPr>
          <a:xfrm>
            <a:off x="-10512" y="830917"/>
            <a:ext cx="12192000" cy="5842497"/>
          </a:xfrm>
          <a:prstGeom prst="rect">
            <a:avLst/>
          </a:prstGeom>
          <a:noFill/>
        </p:spPr>
        <p:txBody>
          <a:bodyPr wrap="square">
            <a:spAutoFit/>
          </a:bodyPr>
          <a:lstStyle/>
          <a:p>
            <a:pPr>
              <a:lnSpc>
                <a:spcPct val="150000"/>
              </a:lnSpc>
            </a:pPr>
            <a:r>
              <a:rPr lang="en-US" sz="2800" b="1" dirty="0">
                <a:latin typeface="Calibir"/>
              </a:rPr>
              <a:t>9. Common mistakes students make</a:t>
            </a:r>
          </a:p>
          <a:p>
            <a:pPr>
              <a:lnSpc>
                <a:spcPct val="150000"/>
              </a:lnSpc>
            </a:pPr>
            <a:r>
              <a:rPr lang="en-US" sz="2800" dirty="0">
                <a:latin typeface="Calibir"/>
              </a:rPr>
              <a:t>These are the most common errors in SAP assignments like this:</a:t>
            </a:r>
          </a:p>
          <a:p>
            <a:pPr>
              <a:lnSpc>
                <a:spcPct val="150000"/>
              </a:lnSpc>
            </a:pPr>
            <a:r>
              <a:rPr lang="en-US" sz="2800" b="1" dirty="0">
                <a:latin typeface="Calibir"/>
              </a:rPr>
              <a:t>Mistake 1: Wrong naming format</a:t>
            </a:r>
          </a:p>
          <a:p>
            <a:pPr>
              <a:lnSpc>
                <a:spcPct val="150000"/>
              </a:lnSpc>
            </a:pPr>
            <a:r>
              <a:rPr lang="en-US" sz="2800" dirty="0">
                <a:latin typeface="Calibir"/>
              </a:rPr>
              <a:t>Wrong:</a:t>
            </a:r>
          </a:p>
          <a:p>
            <a:pPr marL="914400" lvl="1" indent="-457200">
              <a:lnSpc>
                <a:spcPct val="150000"/>
              </a:lnSpc>
              <a:buFont typeface="Arial" panose="020B0604020202020204" pitchFamily="34" charset="0"/>
              <a:buChar char="•"/>
            </a:pPr>
            <a:r>
              <a:rPr lang="en-US" sz="2800" dirty="0">
                <a:latin typeface="Calibir"/>
              </a:rPr>
              <a:t>WC1 660 </a:t>
            </a:r>
          </a:p>
          <a:p>
            <a:pPr marL="914400" lvl="1" indent="-457200">
              <a:lnSpc>
                <a:spcPct val="150000"/>
              </a:lnSpc>
              <a:buFont typeface="Arial" panose="020B0604020202020204" pitchFamily="34" charset="0"/>
              <a:buChar char="•"/>
            </a:pPr>
            <a:r>
              <a:rPr lang="en-US" sz="2800" dirty="0">
                <a:latin typeface="Calibir"/>
              </a:rPr>
              <a:t>WC-1-660 </a:t>
            </a:r>
          </a:p>
          <a:p>
            <a:pPr marL="914400" lvl="1" indent="-457200">
              <a:lnSpc>
                <a:spcPct val="150000"/>
              </a:lnSpc>
              <a:buFont typeface="Arial" panose="020B0604020202020204" pitchFamily="34" charset="0"/>
              <a:buChar char="•"/>
            </a:pPr>
            <a:r>
              <a:rPr lang="en-US" sz="2800" dirty="0">
                <a:latin typeface="Calibir"/>
              </a:rPr>
              <a:t>WC1 </a:t>
            </a:r>
          </a:p>
          <a:p>
            <a:pPr>
              <a:lnSpc>
                <a:spcPct val="150000"/>
              </a:lnSpc>
            </a:pPr>
            <a:r>
              <a:rPr lang="en-US" sz="2800" dirty="0">
                <a:latin typeface="Calibir"/>
              </a:rPr>
              <a:t>Correct:</a:t>
            </a:r>
          </a:p>
          <a:p>
            <a:pPr marL="914400" lvl="1" indent="-457200">
              <a:lnSpc>
                <a:spcPct val="150000"/>
              </a:lnSpc>
              <a:buFont typeface="Arial" panose="020B0604020202020204" pitchFamily="34" charset="0"/>
              <a:buChar char="•"/>
            </a:pPr>
            <a:r>
              <a:rPr lang="en-US" sz="2800" dirty="0">
                <a:latin typeface="Calibir"/>
              </a:rPr>
              <a:t>WC1-660	</a:t>
            </a:r>
          </a:p>
        </p:txBody>
      </p:sp>
    </p:spTree>
    <p:extLst>
      <p:ext uri="{BB962C8B-B14F-4D97-AF65-F5344CB8AC3E}">
        <p14:creationId xmlns:p14="http://schemas.microsoft.com/office/powerpoint/2010/main" val="39770313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5DBA8-6840-A77B-7739-923428966F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435F3E6-7866-8B48-215F-EBBF0C18A90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953BE970-3E9E-3049-7C45-E4F9C445292E}"/>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Mistake 2: Wrong plant</a:t>
            </a:r>
          </a:p>
          <a:p>
            <a:pPr>
              <a:lnSpc>
                <a:spcPct val="150000"/>
              </a:lnSpc>
            </a:pPr>
            <a:r>
              <a:rPr lang="en-US" sz="2800" dirty="0">
                <a:latin typeface="Calibir"/>
              </a:rPr>
              <a:t>Students may type the wrong plant code.</a:t>
            </a:r>
          </a:p>
          <a:p>
            <a:pPr>
              <a:lnSpc>
                <a:spcPct val="150000"/>
              </a:lnSpc>
            </a:pPr>
            <a:r>
              <a:rPr lang="en-US" sz="2800" dirty="0">
                <a:latin typeface="Calibir"/>
              </a:rPr>
              <a:t>Correct:</a:t>
            </a:r>
          </a:p>
          <a:p>
            <a:pPr marL="914400" lvl="1" indent="-457200">
              <a:lnSpc>
                <a:spcPct val="150000"/>
              </a:lnSpc>
              <a:buFont typeface="Arial" panose="020B0604020202020204" pitchFamily="34" charset="0"/>
              <a:buChar char="•"/>
            </a:pPr>
            <a:r>
              <a:rPr lang="en-US" sz="2800" dirty="0">
                <a:latin typeface="Calibir"/>
              </a:rPr>
              <a:t>DL00 </a:t>
            </a:r>
          </a:p>
          <a:p>
            <a:pPr>
              <a:lnSpc>
                <a:spcPct val="150000"/>
              </a:lnSpc>
            </a:pPr>
            <a:r>
              <a:rPr lang="en-US" sz="2800" b="1" dirty="0">
                <a:latin typeface="Calibir"/>
              </a:rPr>
              <a:t>Mistake 3: Forgetting Work Center Category</a:t>
            </a:r>
          </a:p>
          <a:p>
            <a:pPr>
              <a:lnSpc>
                <a:spcPct val="150000"/>
              </a:lnSpc>
            </a:pPr>
            <a:r>
              <a:rPr lang="en-US" sz="2800" dirty="0">
                <a:latin typeface="Calibir"/>
              </a:rPr>
              <a:t>Correct:</a:t>
            </a:r>
          </a:p>
          <a:p>
            <a:pPr marL="914400" lvl="1" indent="-457200">
              <a:lnSpc>
                <a:spcPct val="150000"/>
              </a:lnSpc>
              <a:buFont typeface="Arial" panose="020B0604020202020204" pitchFamily="34" charset="0"/>
              <a:buChar char="•"/>
            </a:pPr>
            <a:r>
              <a:rPr lang="en-US" sz="2800" dirty="0">
                <a:latin typeface="Calibir"/>
              </a:rPr>
              <a:t>0001</a:t>
            </a:r>
          </a:p>
        </p:txBody>
      </p:sp>
    </p:spTree>
    <p:extLst>
      <p:ext uri="{BB962C8B-B14F-4D97-AF65-F5344CB8AC3E}">
        <p14:creationId xmlns:p14="http://schemas.microsoft.com/office/powerpoint/2010/main" val="26081755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6B4A2-5243-C06A-B219-4897AA2CB5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F0D047D-E7E0-7F79-C3BB-B8FDDD8FA095}"/>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33942DB7-E46A-7E59-ABB6-8F5C10C7A354}"/>
              </a:ext>
            </a:extLst>
          </p:cNvPr>
          <p:cNvSpPr txBox="1"/>
          <p:nvPr/>
        </p:nvSpPr>
        <p:spPr>
          <a:xfrm>
            <a:off x="-10512" y="830917"/>
            <a:ext cx="12192000" cy="5842497"/>
          </a:xfrm>
          <a:prstGeom prst="rect">
            <a:avLst/>
          </a:prstGeom>
          <a:noFill/>
        </p:spPr>
        <p:txBody>
          <a:bodyPr wrap="square">
            <a:spAutoFit/>
          </a:bodyPr>
          <a:lstStyle/>
          <a:p>
            <a:pPr>
              <a:lnSpc>
                <a:spcPct val="150000"/>
              </a:lnSpc>
            </a:pPr>
            <a:r>
              <a:rPr lang="en-US" sz="2800" b="1" dirty="0">
                <a:latin typeface="Calibir"/>
              </a:rPr>
              <a:t>Mistake 4: Not pressing Enter after SAP1</a:t>
            </a:r>
          </a:p>
          <a:p>
            <a:pPr>
              <a:lnSpc>
                <a:spcPct val="150000"/>
              </a:lnSpc>
            </a:pPr>
            <a:r>
              <a:rPr lang="en-US" sz="2800" dirty="0">
                <a:latin typeface="Calibir"/>
              </a:rPr>
              <a:t>Sometimes students type SAP1 but do not press Enter, so the table does not auto-fill.</a:t>
            </a:r>
          </a:p>
          <a:p>
            <a:pPr>
              <a:lnSpc>
                <a:spcPct val="150000"/>
              </a:lnSpc>
            </a:pPr>
            <a:r>
              <a:rPr lang="en-US" sz="2800" b="1" dirty="0">
                <a:latin typeface="Calibir"/>
              </a:rPr>
              <a:t>Mistake 5: No proof of saving</a:t>
            </a:r>
          </a:p>
          <a:p>
            <a:pPr>
              <a:lnSpc>
                <a:spcPct val="150000"/>
              </a:lnSpc>
            </a:pPr>
            <a:r>
              <a:rPr lang="en-US" sz="2800" dirty="0">
                <a:latin typeface="Calibir"/>
              </a:rPr>
              <a:t>Students take screenshots before saving but not after saving.</a:t>
            </a:r>
          </a:p>
          <a:p>
            <a:pPr>
              <a:lnSpc>
                <a:spcPct val="150000"/>
              </a:lnSpc>
            </a:pPr>
            <a:r>
              <a:rPr lang="en-US" sz="2800" b="1" dirty="0">
                <a:latin typeface="Calibir"/>
              </a:rPr>
              <a:t>Mistake 6: Wrong description</a:t>
            </a:r>
          </a:p>
          <a:p>
            <a:pPr>
              <a:lnSpc>
                <a:spcPct val="150000"/>
              </a:lnSpc>
            </a:pPr>
            <a:r>
              <a:rPr lang="en-US" sz="2800" dirty="0">
                <a:latin typeface="Calibir"/>
              </a:rPr>
              <a:t>Students may reuse Assemble Raw Materials for every work </a:t>
            </a:r>
            <a:r>
              <a:rPr lang="en-US" sz="2800" dirty="0" err="1">
                <a:latin typeface="Calibir"/>
              </a:rPr>
              <a:t>centre</a:t>
            </a:r>
            <a:r>
              <a:rPr lang="en-US" sz="2800" dirty="0">
                <a:latin typeface="Calibir"/>
              </a:rPr>
              <a:t>.</a:t>
            </a:r>
          </a:p>
          <a:p>
            <a:pPr>
              <a:lnSpc>
                <a:spcPct val="150000"/>
              </a:lnSpc>
            </a:pPr>
            <a:r>
              <a:rPr lang="en-US" sz="2800" dirty="0">
                <a:latin typeface="Calibir"/>
              </a:rPr>
              <a:t>Only WC1-### uses that description from the appendix.</a:t>
            </a:r>
            <a:br>
              <a:rPr lang="en-US" sz="2800" dirty="0">
                <a:latin typeface="Calibir"/>
              </a:rPr>
            </a:br>
            <a:r>
              <a:rPr lang="en-US" sz="2800" dirty="0">
                <a:latin typeface="Calibir"/>
              </a:rPr>
              <a:t>WC2–WC5 should use the descriptions from the assignment document.</a:t>
            </a:r>
          </a:p>
        </p:txBody>
      </p:sp>
    </p:spTree>
    <p:extLst>
      <p:ext uri="{BB962C8B-B14F-4D97-AF65-F5344CB8AC3E}">
        <p14:creationId xmlns:p14="http://schemas.microsoft.com/office/powerpoint/2010/main" val="41449675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09CDD-12E6-DB2B-E519-29C21F584FF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4C766CC-015F-0D13-7704-5169A81E1E6A}"/>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1C8FCA8E-8CEF-69B4-B2B9-4BAE976AC1C6}"/>
              </a:ext>
            </a:extLst>
          </p:cNvPr>
          <p:cNvSpPr txBox="1"/>
          <p:nvPr/>
        </p:nvSpPr>
        <p:spPr>
          <a:xfrm>
            <a:off x="-10512" y="830917"/>
            <a:ext cx="12192000" cy="5842497"/>
          </a:xfrm>
          <a:prstGeom prst="rect">
            <a:avLst/>
          </a:prstGeom>
          <a:noFill/>
        </p:spPr>
        <p:txBody>
          <a:bodyPr wrap="square">
            <a:spAutoFit/>
          </a:bodyPr>
          <a:lstStyle/>
          <a:p>
            <a:pPr>
              <a:lnSpc>
                <a:spcPct val="150000"/>
              </a:lnSpc>
            </a:pPr>
            <a:r>
              <a:rPr lang="en-US" sz="2800" b="1" dirty="0">
                <a:latin typeface="Calibir"/>
              </a:rPr>
              <a:t>Mistake 7: Screenshots missing key fields</a:t>
            </a:r>
          </a:p>
          <a:p>
            <a:pPr>
              <a:lnSpc>
                <a:spcPct val="150000"/>
              </a:lnSpc>
            </a:pPr>
            <a:r>
              <a:rPr lang="en-US" sz="2800" dirty="0">
                <a:latin typeface="Calibir"/>
              </a:rPr>
              <a:t>A screenshot must show enough information for the marker to verify:</a:t>
            </a:r>
          </a:p>
          <a:p>
            <a:pPr marL="914400" lvl="1" indent="-457200">
              <a:lnSpc>
                <a:spcPct val="150000"/>
              </a:lnSpc>
              <a:buFont typeface="Arial" panose="020B0604020202020204" pitchFamily="34" charset="0"/>
              <a:buChar char="•"/>
            </a:pPr>
            <a:r>
              <a:rPr lang="en-US" sz="2800" dirty="0">
                <a:latin typeface="Calibir"/>
              </a:rPr>
              <a:t>work </a:t>
            </a:r>
            <a:r>
              <a:rPr lang="en-US" sz="2800" dirty="0" err="1">
                <a:latin typeface="Calibir"/>
              </a:rPr>
              <a:t>centre</a:t>
            </a:r>
            <a:r>
              <a:rPr lang="en-US" sz="2800" dirty="0">
                <a:latin typeface="Calibir"/>
              </a:rPr>
              <a:t> code </a:t>
            </a:r>
          </a:p>
          <a:p>
            <a:pPr marL="914400" lvl="1" indent="-457200">
              <a:lnSpc>
                <a:spcPct val="150000"/>
              </a:lnSpc>
              <a:buFont typeface="Arial" panose="020B0604020202020204" pitchFamily="34" charset="0"/>
              <a:buChar char="•"/>
            </a:pPr>
            <a:r>
              <a:rPr lang="en-US" sz="2800" dirty="0">
                <a:latin typeface="Calibir"/>
              </a:rPr>
              <a:t>plant </a:t>
            </a:r>
          </a:p>
          <a:p>
            <a:pPr marL="914400" lvl="1" indent="-457200">
              <a:lnSpc>
                <a:spcPct val="150000"/>
              </a:lnSpc>
              <a:buFont typeface="Arial" panose="020B0604020202020204" pitchFamily="34" charset="0"/>
              <a:buChar char="•"/>
            </a:pPr>
            <a:r>
              <a:rPr lang="en-US" sz="2800" dirty="0">
                <a:latin typeface="Calibir"/>
              </a:rPr>
              <a:t>description </a:t>
            </a:r>
          </a:p>
          <a:p>
            <a:pPr marL="914400" lvl="1" indent="-457200">
              <a:lnSpc>
                <a:spcPct val="150000"/>
              </a:lnSpc>
              <a:buFont typeface="Arial" panose="020B0604020202020204" pitchFamily="34" charset="0"/>
              <a:buChar char="•"/>
            </a:pPr>
            <a:r>
              <a:rPr lang="en-US" sz="2800" dirty="0">
                <a:latin typeface="Calibir"/>
              </a:rPr>
              <a:t>important fields </a:t>
            </a:r>
          </a:p>
          <a:p>
            <a:pPr marL="914400" lvl="1" indent="-457200">
              <a:lnSpc>
                <a:spcPct val="150000"/>
              </a:lnSpc>
              <a:buFont typeface="Arial" panose="020B0604020202020204" pitchFamily="34" charset="0"/>
              <a:buChar char="•"/>
            </a:pPr>
            <a:r>
              <a:rPr lang="en-US" sz="2800" dirty="0">
                <a:latin typeface="Calibir"/>
              </a:rPr>
              <a:t>result </a:t>
            </a:r>
          </a:p>
          <a:p>
            <a:pPr>
              <a:lnSpc>
                <a:spcPct val="150000"/>
              </a:lnSpc>
            </a:pPr>
            <a:r>
              <a:rPr lang="en-US" sz="2800" b="1" dirty="0">
                <a:latin typeface="Calibir"/>
              </a:rPr>
              <a:t>Mistake 8: Not following the task order</a:t>
            </a:r>
          </a:p>
          <a:p>
            <a:pPr>
              <a:lnSpc>
                <a:spcPct val="150000"/>
              </a:lnSpc>
            </a:pPr>
            <a:r>
              <a:rPr lang="en-US" sz="2800" dirty="0">
                <a:latin typeface="Calibir"/>
              </a:rPr>
              <a:t>Markers often check whether students followed the required sequence</a:t>
            </a:r>
          </a:p>
        </p:txBody>
      </p:sp>
    </p:spTree>
    <p:extLst>
      <p:ext uri="{BB962C8B-B14F-4D97-AF65-F5344CB8AC3E}">
        <p14:creationId xmlns:p14="http://schemas.microsoft.com/office/powerpoint/2010/main" val="7225432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1C1EF-B529-57A1-EB40-1B96268531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886DFDD-30B7-15E8-EE27-305CBE99899D}"/>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834CB2EC-E860-6C28-720F-7B3FAE8D69D9}"/>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Mistake 9: Using partial evidence</a:t>
            </a:r>
          </a:p>
          <a:p>
            <a:pPr>
              <a:lnSpc>
                <a:spcPct val="150000"/>
              </a:lnSpc>
            </a:pPr>
            <a:r>
              <a:rPr lang="en-US" sz="2800" dirty="0">
                <a:latin typeface="Calibir"/>
              </a:rPr>
              <a:t>One screenshot at the end may not be enough for a multi-step task.</a:t>
            </a:r>
          </a:p>
          <a:p>
            <a:pPr>
              <a:lnSpc>
                <a:spcPct val="150000"/>
              </a:lnSpc>
            </a:pPr>
            <a:r>
              <a:rPr lang="en-US" sz="2800" b="1" dirty="0">
                <a:latin typeface="Calibir"/>
              </a:rPr>
              <a:t>Mistake 10: Inconsistent report formatting</a:t>
            </a:r>
          </a:p>
          <a:p>
            <a:pPr>
              <a:lnSpc>
                <a:spcPct val="150000"/>
              </a:lnSpc>
            </a:pPr>
            <a:r>
              <a:rPr lang="en-US" sz="2800" dirty="0">
                <a:latin typeface="Calibir"/>
              </a:rPr>
              <a:t>Students lose clarity when:</a:t>
            </a:r>
          </a:p>
          <a:p>
            <a:pPr marL="914400" lvl="1" indent="-457200">
              <a:lnSpc>
                <a:spcPct val="150000"/>
              </a:lnSpc>
              <a:buFont typeface="Arial" panose="020B0604020202020204" pitchFamily="34" charset="0"/>
              <a:buChar char="•"/>
            </a:pPr>
            <a:r>
              <a:rPr lang="en-US" sz="2800" dirty="0">
                <a:latin typeface="Calibir"/>
              </a:rPr>
              <a:t>screenshots are random sizes </a:t>
            </a:r>
          </a:p>
          <a:p>
            <a:pPr marL="914400" lvl="1" indent="-457200">
              <a:lnSpc>
                <a:spcPct val="150000"/>
              </a:lnSpc>
              <a:buFont typeface="Arial" panose="020B0604020202020204" pitchFamily="34" charset="0"/>
              <a:buChar char="•"/>
            </a:pPr>
            <a:r>
              <a:rPr lang="en-US" sz="2800" dirty="0">
                <a:latin typeface="Calibir"/>
              </a:rPr>
              <a:t>there are no headings </a:t>
            </a:r>
          </a:p>
          <a:p>
            <a:pPr marL="914400" lvl="1" indent="-457200">
              <a:lnSpc>
                <a:spcPct val="150000"/>
              </a:lnSpc>
              <a:buFont typeface="Arial" panose="020B0604020202020204" pitchFamily="34" charset="0"/>
              <a:buChar char="•"/>
            </a:pPr>
            <a:r>
              <a:rPr lang="en-US" sz="2800" dirty="0">
                <a:latin typeface="Calibir"/>
              </a:rPr>
              <a:t>tasks are not labelled</a:t>
            </a:r>
          </a:p>
        </p:txBody>
      </p:sp>
    </p:spTree>
    <p:extLst>
      <p:ext uri="{BB962C8B-B14F-4D97-AF65-F5344CB8AC3E}">
        <p14:creationId xmlns:p14="http://schemas.microsoft.com/office/powerpoint/2010/main" val="18693809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6C9A2-94E1-A526-2600-D508EF2B6D4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7EA8428-904B-2B0D-DA96-2C137958E55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68F77257-6B50-F925-9288-C95370507A6E}"/>
              </a:ext>
            </a:extLst>
          </p:cNvPr>
          <p:cNvSpPr txBox="1"/>
          <p:nvPr/>
        </p:nvSpPr>
        <p:spPr>
          <a:xfrm>
            <a:off x="-10512" y="830917"/>
            <a:ext cx="12192000" cy="5196166"/>
          </a:xfrm>
          <a:prstGeom prst="rect">
            <a:avLst/>
          </a:prstGeom>
          <a:noFill/>
        </p:spPr>
        <p:txBody>
          <a:bodyPr wrap="square">
            <a:spAutoFit/>
          </a:bodyPr>
          <a:lstStyle/>
          <a:p>
            <a:pPr>
              <a:lnSpc>
                <a:spcPct val="150000"/>
              </a:lnSpc>
            </a:pPr>
            <a:r>
              <a:rPr lang="en-US" sz="2800" b="1" dirty="0">
                <a:latin typeface="Calibir"/>
              </a:rPr>
              <a:t>10. Hints for getting better marks</a:t>
            </a:r>
          </a:p>
          <a:p>
            <a:pPr>
              <a:lnSpc>
                <a:spcPct val="150000"/>
              </a:lnSpc>
            </a:pPr>
            <a:r>
              <a:rPr lang="en-US" sz="2800" dirty="0">
                <a:latin typeface="Calibir"/>
              </a:rPr>
              <a:t>To aim for the top band:</a:t>
            </a:r>
          </a:p>
          <a:p>
            <a:pPr>
              <a:lnSpc>
                <a:spcPct val="150000"/>
              </a:lnSpc>
            </a:pPr>
            <a:r>
              <a:rPr lang="en-US" sz="2800" b="1" dirty="0">
                <a:latin typeface="Calibir"/>
              </a:rPr>
              <a:t>Hint 1: Match the rubric</a:t>
            </a:r>
          </a:p>
          <a:p>
            <a:pPr>
              <a:lnSpc>
                <a:spcPct val="150000"/>
              </a:lnSpc>
            </a:pPr>
            <a:r>
              <a:rPr lang="en-US" sz="2800" dirty="0">
                <a:latin typeface="Calibir"/>
              </a:rPr>
              <a:t>The rubric strongly rewards:</a:t>
            </a:r>
          </a:p>
          <a:p>
            <a:pPr marL="914400" lvl="1" indent="-457200">
              <a:lnSpc>
                <a:spcPct val="150000"/>
              </a:lnSpc>
              <a:buFont typeface="Arial" panose="020B0604020202020204" pitchFamily="34" charset="0"/>
              <a:buChar char="•"/>
            </a:pPr>
            <a:r>
              <a:rPr lang="en-US" sz="2800" dirty="0">
                <a:latin typeface="Calibir"/>
              </a:rPr>
              <a:t>all steps followed </a:t>
            </a:r>
          </a:p>
          <a:p>
            <a:pPr marL="914400" lvl="1" indent="-457200">
              <a:lnSpc>
                <a:spcPct val="150000"/>
              </a:lnSpc>
              <a:buFont typeface="Arial" panose="020B0604020202020204" pitchFamily="34" charset="0"/>
              <a:buChar char="•"/>
            </a:pPr>
            <a:r>
              <a:rPr lang="en-US" sz="2800" dirty="0">
                <a:latin typeface="Calibir"/>
              </a:rPr>
              <a:t>all screenshots pasted according to instructions </a:t>
            </a:r>
          </a:p>
          <a:p>
            <a:pPr>
              <a:lnSpc>
                <a:spcPct val="150000"/>
              </a:lnSpc>
            </a:pPr>
            <a:r>
              <a:rPr lang="en-US" sz="2800" dirty="0">
                <a:latin typeface="Calibir"/>
              </a:rPr>
              <a:t>So students should think like this:</a:t>
            </a:r>
            <a:br>
              <a:rPr lang="en-US" sz="2800" dirty="0">
                <a:latin typeface="Calibir"/>
              </a:rPr>
            </a:br>
            <a:r>
              <a:rPr lang="en-US" sz="2800" dirty="0">
                <a:latin typeface="Calibir"/>
              </a:rPr>
              <a:t>“Can the marker clearly see that I completed every required step?”</a:t>
            </a:r>
          </a:p>
        </p:txBody>
      </p:sp>
    </p:spTree>
    <p:extLst>
      <p:ext uri="{BB962C8B-B14F-4D97-AF65-F5344CB8AC3E}">
        <p14:creationId xmlns:p14="http://schemas.microsoft.com/office/powerpoint/2010/main" val="31651607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9E4BB-7A01-AF84-BBD2-71CE5A37F2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748B5D3-74EA-419A-D7D7-8E49266B79F4}"/>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EF0403A2-ED2E-3636-E0BC-EE512BD01A6C}"/>
              </a:ext>
            </a:extLst>
          </p:cNvPr>
          <p:cNvSpPr txBox="1"/>
          <p:nvPr/>
        </p:nvSpPr>
        <p:spPr>
          <a:xfrm>
            <a:off x="-10512" y="830917"/>
            <a:ext cx="12192000" cy="5877506"/>
          </a:xfrm>
          <a:prstGeom prst="rect">
            <a:avLst/>
          </a:prstGeom>
          <a:noFill/>
        </p:spPr>
        <p:txBody>
          <a:bodyPr wrap="square">
            <a:spAutoFit/>
          </a:bodyPr>
          <a:lstStyle/>
          <a:p>
            <a:pPr>
              <a:lnSpc>
                <a:spcPct val="150000"/>
              </a:lnSpc>
            </a:pPr>
            <a:r>
              <a:rPr lang="en-US" sz="2300" b="1" dirty="0">
                <a:latin typeface="Calibir"/>
              </a:rPr>
              <a:t>Hint 2: Use clean structure</a:t>
            </a:r>
          </a:p>
          <a:p>
            <a:pPr>
              <a:lnSpc>
                <a:spcPct val="150000"/>
              </a:lnSpc>
            </a:pPr>
            <a:r>
              <a:rPr lang="en-US" sz="2300" dirty="0">
                <a:latin typeface="Calibir"/>
              </a:rPr>
              <a:t>Use headings:</a:t>
            </a:r>
          </a:p>
          <a:p>
            <a:pPr marL="800100" lvl="1" indent="-342900">
              <a:lnSpc>
                <a:spcPct val="150000"/>
              </a:lnSpc>
              <a:buFont typeface="Arial" panose="020B0604020202020204" pitchFamily="34" charset="0"/>
              <a:buChar char="•"/>
            </a:pPr>
            <a:r>
              <a:rPr lang="en-US" sz="2300" dirty="0">
                <a:latin typeface="Calibir"/>
              </a:rPr>
              <a:t>Task 1 </a:t>
            </a:r>
          </a:p>
          <a:p>
            <a:pPr marL="800100" lvl="1" indent="-342900">
              <a:lnSpc>
                <a:spcPct val="150000"/>
              </a:lnSpc>
              <a:buFont typeface="Arial" panose="020B0604020202020204" pitchFamily="34" charset="0"/>
              <a:buChar char="•"/>
            </a:pPr>
            <a:r>
              <a:rPr lang="en-US" sz="2300" dirty="0">
                <a:latin typeface="Calibir"/>
              </a:rPr>
              <a:t>Task 2 </a:t>
            </a:r>
          </a:p>
          <a:p>
            <a:pPr marL="800100" lvl="1" indent="-342900">
              <a:lnSpc>
                <a:spcPct val="150000"/>
              </a:lnSpc>
              <a:buFont typeface="Arial" panose="020B0604020202020204" pitchFamily="34" charset="0"/>
              <a:buChar char="•"/>
            </a:pPr>
            <a:r>
              <a:rPr lang="en-US" sz="2300" dirty="0">
                <a:latin typeface="Calibir"/>
              </a:rPr>
              <a:t>Task 3 </a:t>
            </a:r>
          </a:p>
          <a:p>
            <a:pPr marL="800100" lvl="1" indent="-342900">
              <a:lnSpc>
                <a:spcPct val="150000"/>
              </a:lnSpc>
              <a:buFont typeface="Arial" panose="020B0604020202020204" pitchFamily="34" charset="0"/>
              <a:buChar char="•"/>
            </a:pPr>
            <a:r>
              <a:rPr lang="en-US" sz="2300" dirty="0">
                <a:latin typeface="Calibir"/>
              </a:rPr>
              <a:t>Task 4 </a:t>
            </a:r>
          </a:p>
          <a:p>
            <a:pPr>
              <a:lnSpc>
                <a:spcPct val="150000"/>
              </a:lnSpc>
            </a:pPr>
            <a:r>
              <a:rPr lang="en-US" sz="2300" dirty="0">
                <a:latin typeface="Calibir"/>
              </a:rPr>
              <a:t>Under each task:</a:t>
            </a:r>
          </a:p>
          <a:p>
            <a:pPr marL="800100" lvl="1" indent="-342900">
              <a:lnSpc>
                <a:spcPct val="150000"/>
              </a:lnSpc>
              <a:buFont typeface="Arial" panose="020B0604020202020204" pitchFamily="34" charset="0"/>
              <a:buChar char="•"/>
            </a:pPr>
            <a:r>
              <a:rPr lang="en-US" sz="2300" dirty="0">
                <a:latin typeface="Calibir"/>
              </a:rPr>
              <a:t>objective </a:t>
            </a:r>
          </a:p>
          <a:p>
            <a:pPr marL="800100" lvl="1" indent="-342900">
              <a:lnSpc>
                <a:spcPct val="150000"/>
              </a:lnSpc>
              <a:buFont typeface="Arial" panose="020B0604020202020204" pitchFamily="34" charset="0"/>
              <a:buChar char="•"/>
            </a:pPr>
            <a:r>
              <a:rPr lang="en-US" sz="2300" dirty="0">
                <a:latin typeface="Calibir"/>
              </a:rPr>
              <a:t>steps performed </a:t>
            </a:r>
          </a:p>
          <a:p>
            <a:pPr marL="800100" lvl="1" indent="-342900">
              <a:lnSpc>
                <a:spcPct val="150000"/>
              </a:lnSpc>
              <a:buFont typeface="Arial" panose="020B0604020202020204" pitchFamily="34" charset="0"/>
              <a:buChar char="•"/>
            </a:pPr>
            <a:r>
              <a:rPr lang="en-US" sz="2300" dirty="0">
                <a:latin typeface="Calibir"/>
              </a:rPr>
              <a:t>screenshots </a:t>
            </a:r>
          </a:p>
          <a:p>
            <a:pPr marL="800100" lvl="1" indent="-342900">
              <a:lnSpc>
                <a:spcPct val="150000"/>
              </a:lnSpc>
              <a:buFont typeface="Arial" panose="020B0604020202020204" pitchFamily="34" charset="0"/>
              <a:buChar char="•"/>
            </a:pPr>
            <a:r>
              <a:rPr lang="en-US" sz="2300" dirty="0">
                <a:latin typeface="Calibir"/>
              </a:rPr>
              <a:t>short note</a:t>
            </a:r>
          </a:p>
        </p:txBody>
      </p:sp>
    </p:spTree>
    <p:extLst>
      <p:ext uri="{BB962C8B-B14F-4D97-AF65-F5344CB8AC3E}">
        <p14:creationId xmlns:p14="http://schemas.microsoft.com/office/powerpoint/2010/main" val="15069082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30612-C7A5-62DB-C0DD-42B1821923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1B3A57B-36A8-52C7-E3D7-6D12F8AD3CE8}"/>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C7B51D2A-F9AC-4B61-245F-FBEDE13E78F9}"/>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Hint 3: Keep screenshots readable</a:t>
            </a:r>
          </a:p>
          <a:p>
            <a:pPr>
              <a:lnSpc>
                <a:spcPct val="150000"/>
              </a:lnSpc>
            </a:pPr>
            <a:r>
              <a:rPr lang="en-US" sz="2800" dirty="0">
                <a:latin typeface="Calibir"/>
              </a:rPr>
              <a:t>Do not shrink screenshots too much.</a:t>
            </a:r>
          </a:p>
          <a:p>
            <a:pPr>
              <a:lnSpc>
                <a:spcPct val="150000"/>
              </a:lnSpc>
            </a:pPr>
            <a:r>
              <a:rPr lang="en-US" sz="2800" b="1" dirty="0">
                <a:latin typeface="Calibir"/>
              </a:rPr>
              <a:t>Hint 4: Show the full SAP context</a:t>
            </a:r>
          </a:p>
          <a:p>
            <a:pPr>
              <a:lnSpc>
                <a:spcPct val="150000"/>
              </a:lnSpc>
            </a:pPr>
            <a:r>
              <a:rPr lang="en-US" sz="2800" dirty="0">
                <a:latin typeface="Calibir"/>
              </a:rPr>
              <a:t>Where possible, include:</a:t>
            </a:r>
          </a:p>
          <a:p>
            <a:pPr marL="914400" lvl="1" indent="-457200">
              <a:lnSpc>
                <a:spcPct val="150000"/>
              </a:lnSpc>
              <a:buFont typeface="Arial" panose="020B0604020202020204" pitchFamily="34" charset="0"/>
              <a:buChar char="•"/>
            </a:pPr>
            <a:r>
              <a:rPr lang="en-US" sz="2800" dirty="0">
                <a:latin typeface="Calibir"/>
              </a:rPr>
              <a:t>app name </a:t>
            </a:r>
          </a:p>
          <a:p>
            <a:pPr marL="914400" lvl="1" indent="-457200">
              <a:lnSpc>
                <a:spcPct val="150000"/>
              </a:lnSpc>
              <a:buFont typeface="Arial" panose="020B0604020202020204" pitchFamily="34" charset="0"/>
              <a:buChar char="•"/>
            </a:pPr>
            <a:r>
              <a:rPr lang="en-US" sz="2800" dirty="0">
                <a:latin typeface="Calibir"/>
              </a:rPr>
              <a:t>fields entered </a:t>
            </a:r>
          </a:p>
          <a:p>
            <a:pPr marL="914400" lvl="1" indent="-457200">
              <a:lnSpc>
                <a:spcPct val="150000"/>
              </a:lnSpc>
              <a:buFont typeface="Arial" panose="020B0604020202020204" pitchFamily="34" charset="0"/>
              <a:buChar char="•"/>
            </a:pPr>
            <a:r>
              <a:rPr lang="en-US" sz="2800" dirty="0">
                <a:latin typeface="Calibir"/>
              </a:rPr>
              <a:t>message bar or save confirmation</a:t>
            </a:r>
          </a:p>
        </p:txBody>
      </p:sp>
    </p:spTree>
    <p:extLst>
      <p:ext uri="{BB962C8B-B14F-4D97-AF65-F5344CB8AC3E}">
        <p14:creationId xmlns:p14="http://schemas.microsoft.com/office/powerpoint/2010/main" val="12326648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814BF-2E48-A702-459A-F1731E3CDE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87C9C96-0061-C15D-31AE-DC5234EDB25D}"/>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56315FFD-90B6-BB9D-560F-700C09D9C424}"/>
              </a:ext>
            </a:extLst>
          </p:cNvPr>
          <p:cNvSpPr txBox="1"/>
          <p:nvPr/>
        </p:nvSpPr>
        <p:spPr>
          <a:xfrm>
            <a:off x="-10512" y="830917"/>
            <a:ext cx="12192000" cy="1318181"/>
          </a:xfrm>
          <a:prstGeom prst="rect">
            <a:avLst/>
          </a:prstGeom>
          <a:noFill/>
        </p:spPr>
        <p:txBody>
          <a:bodyPr wrap="square">
            <a:spAutoFit/>
          </a:bodyPr>
          <a:lstStyle/>
          <a:p>
            <a:pPr>
              <a:lnSpc>
                <a:spcPct val="150000"/>
              </a:lnSpc>
            </a:pPr>
            <a:r>
              <a:rPr lang="en-US" sz="2800" b="1" dirty="0">
                <a:latin typeface="Calibir"/>
              </a:rPr>
              <a:t>Hint 5: Check every entered code twice</a:t>
            </a:r>
          </a:p>
          <a:p>
            <a:pPr>
              <a:lnSpc>
                <a:spcPct val="150000"/>
              </a:lnSpc>
            </a:pPr>
            <a:r>
              <a:rPr lang="en-US" sz="2800" dirty="0">
                <a:latin typeface="Calibir"/>
              </a:rPr>
              <a:t>SAP assignments often lose marks because of one small wrong code.</a:t>
            </a:r>
          </a:p>
        </p:txBody>
      </p:sp>
    </p:spTree>
    <p:extLst>
      <p:ext uri="{BB962C8B-B14F-4D97-AF65-F5344CB8AC3E}">
        <p14:creationId xmlns:p14="http://schemas.microsoft.com/office/powerpoint/2010/main" val="40755909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7D256-4B91-9DDD-3AC4-1BAA3E8978B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C7A1692-AAD3-48D5-E869-8096505B915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graphicFrame>
        <p:nvGraphicFramePr>
          <p:cNvPr id="2" name="Table 1">
            <a:extLst>
              <a:ext uri="{FF2B5EF4-FFF2-40B4-BE49-F238E27FC236}">
                <a16:creationId xmlns:a16="http://schemas.microsoft.com/office/drawing/2014/main" id="{0A643E4D-EFDA-0BC7-58EB-AF20A13F2E4E}"/>
              </a:ext>
            </a:extLst>
          </p:cNvPr>
          <p:cNvGraphicFramePr>
            <a:graphicFrameLocks noGrp="1"/>
          </p:cNvGraphicFramePr>
          <p:nvPr>
            <p:extLst>
              <p:ext uri="{D42A27DB-BD31-4B8C-83A1-F6EECF244321}">
                <p14:modId xmlns:p14="http://schemas.microsoft.com/office/powerpoint/2010/main" val="1718484161"/>
              </p:ext>
            </p:extLst>
          </p:nvPr>
        </p:nvGraphicFramePr>
        <p:xfrm>
          <a:off x="34158" y="2042160"/>
          <a:ext cx="10515600" cy="4815840"/>
        </p:xfrm>
        <a:graphic>
          <a:graphicData uri="http://schemas.openxmlformats.org/drawingml/2006/table">
            <a:tbl>
              <a:tblPr>
                <a:tableStyleId>{BDBED569-4797-4DF1-A0F4-6AAB3CD982D8}</a:tableStyleId>
              </a:tblPr>
              <a:tblGrid>
                <a:gridCol w="2628900">
                  <a:extLst>
                    <a:ext uri="{9D8B030D-6E8A-4147-A177-3AD203B41FA5}">
                      <a16:colId xmlns:a16="http://schemas.microsoft.com/office/drawing/2014/main" val="2906132861"/>
                    </a:ext>
                  </a:extLst>
                </a:gridCol>
                <a:gridCol w="2628900">
                  <a:extLst>
                    <a:ext uri="{9D8B030D-6E8A-4147-A177-3AD203B41FA5}">
                      <a16:colId xmlns:a16="http://schemas.microsoft.com/office/drawing/2014/main" val="1513352809"/>
                    </a:ext>
                  </a:extLst>
                </a:gridCol>
                <a:gridCol w="2628900">
                  <a:extLst>
                    <a:ext uri="{9D8B030D-6E8A-4147-A177-3AD203B41FA5}">
                      <a16:colId xmlns:a16="http://schemas.microsoft.com/office/drawing/2014/main" val="3470120537"/>
                    </a:ext>
                  </a:extLst>
                </a:gridCol>
                <a:gridCol w="2628900">
                  <a:extLst>
                    <a:ext uri="{9D8B030D-6E8A-4147-A177-3AD203B41FA5}">
                      <a16:colId xmlns:a16="http://schemas.microsoft.com/office/drawing/2014/main" val="925108703"/>
                    </a:ext>
                  </a:extLst>
                </a:gridCol>
              </a:tblGrid>
              <a:tr h="0">
                <a:tc>
                  <a:txBody>
                    <a:bodyPr/>
                    <a:lstStyle/>
                    <a:p>
                      <a:pPr>
                        <a:buNone/>
                      </a:pPr>
                      <a:r>
                        <a:rPr lang="en-US" sz="2800" dirty="0">
                          <a:latin typeface="Calibir"/>
                        </a:rPr>
                        <a:t>Work Centre</a:t>
                      </a:r>
                    </a:p>
                  </a:txBody>
                  <a:tcPr anchor="ctr">
                    <a:solidFill>
                      <a:schemeClr val="accent5">
                        <a:lumMod val="20000"/>
                        <a:lumOff val="80000"/>
                      </a:schemeClr>
                    </a:solidFill>
                  </a:tcPr>
                </a:tc>
                <a:tc>
                  <a:txBody>
                    <a:bodyPr/>
                    <a:lstStyle/>
                    <a:p>
                      <a:pPr>
                        <a:buNone/>
                      </a:pPr>
                      <a:r>
                        <a:rPr lang="en-US" sz="2800" dirty="0">
                          <a:latin typeface="Calibir"/>
                        </a:rPr>
                        <a:t>Plant</a:t>
                      </a:r>
                    </a:p>
                  </a:txBody>
                  <a:tcPr anchor="ctr">
                    <a:solidFill>
                      <a:schemeClr val="accent5">
                        <a:lumMod val="20000"/>
                        <a:lumOff val="80000"/>
                      </a:schemeClr>
                    </a:solidFill>
                  </a:tcPr>
                </a:tc>
                <a:tc>
                  <a:txBody>
                    <a:bodyPr/>
                    <a:lstStyle/>
                    <a:p>
                      <a:pPr>
                        <a:buNone/>
                      </a:pPr>
                      <a:r>
                        <a:rPr lang="en-US" sz="2800" dirty="0">
                          <a:latin typeface="Calibir"/>
                        </a:rPr>
                        <a:t>Category</a:t>
                      </a:r>
                    </a:p>
                  </a:txBody>
                  <a:tcPr anchor="ctr">
                    <a:solidFill>
                      <a:schemeClr val="accent5">
                        <a:lumMod val="20000"/>
                        <a:lumOff val="80000"/>
                      </a:schemeClr>
                    </a:solidFill>
                  </a:tcPr>
                </a:tc>
                <a:tc>
                  <a:txBody>
                    <a:bodyPr/>
                    <a:lstStyle/>
                    <a:p>
                      <a:pPr>
                        <a:buNone/>
                      </a:pPr>
                      <a:r>
                        <a:rPr lang="en-US" sz="2800" dirty="0">
                          <a:latin typeface="Calibir"/>
                        </a:rPr>
                        <a:t>Description</a:t>
                      </a:r>
                    </a:p>
                  </a:txBody>
                  <a:tcPr anchor="ctr">
                    <a:solidFill>
                      <a:schemeClr val="accent5">
                        <a:lumMod val="20000"/>
                        <a:lumOff val="80000"/>
                      </a:schemeClr>
                    </a:solidFill>
                  </a:tcPr>
                </a:tc>
                <a:extLst>
                  <a:ext uri="{0D108BD9-81ED-4DB2-BD59-A6C34878D82A}">
                    <a16:rowId xmlns:a16="http://schemas.microsoft.com/office/drawing/2014/main" val="3778986770"/>
                  </a:ext>
                </a:extLst>
              </a:tr>
              <a:tr h="0">
                <a:tc>
                  <a:txBody>
                    <a:bodyPr/>
                    <a:lstStyle/>
                    <a:p>
                      <a:pPr>
                        <a:buNone/>
                      </a:pPr>
                      <a:r>
                        <a:rPr lang="en-US" sz="2800">
                          <a:latin typeface="Calibir"/>
                        </a:rPr>
                        <a:t>WC1-660</a:t>
                      </a:r>
                    </a:p>
                  </a:txBody>
                  <a:tcPr anchor="ctr"/>
                </a:tc>
                <a:tc>
                  <a:txBody>
                    <a:bodyPr/>
                    <a:lstStyle/>
                    <a:p>
                      <a:pPr>
                        <a:buNone/>
                      </a:pPr>
                      <a:r>
                        <a:rPr lang="en-US" sz="2800">
                          <a:latin typeface="Calibir"/>
                        </a:rPr>
                        <a:t>DL00</a:t>
                      </a:r>
                    </a:p>
                  </a:txBody>
                  <a:tcPr anchor="ctr"/>
                </a:tc>
                <a:tc>
                  <a:txBody>
                    <a:bodyPr/>
                    <a:lstStyle/>
                    <a:p>
                      <a:pPr>
                        <a:buNone/>
                      </a:pPr>
                      <a:r>
                        <a:rPr lang="en-US" sz="2800">
                          <a:latin typeface="Calibir"/>
                        </a:rPr>
                        <a:t>0001</a:t>
                      </a:r>
                    </a:p>
                  </a:txBody>
                  <a:tcPr anchor="ctr"/>
                </a:tc>
                <a:tc>
                  <a:txBody>
                    <a:bodyPr/>
                    <a:lstStyle/>
                    <a:p>
                      <a:pPr>
                        <a:buNone/>
                      </a:pPr>
                      <a:r>
                        <a:rPr lang="en-US" sz="2800">
                          <a:latin typeface="Calibir"/>
                        </a:rPr>
                        <a:t>Assemble Raw Materials</a:t>
                      </a:r>
                    </a:p>
                  </a:txBody>
                  <a:tcPr anchor="ctr"/>
                </a:tc>
                <a:extLst>
                  <a:ext uri="{0D108BD9-81ED-4DB2-BD59-A6C34878D82A}">
                    <a16:rowId xmlns:a16="http://schemas.microsoft.com/office/drawing/2014/main" val="2264548773"/>
                  </a:ext>
                </a:extLst>
              </a:tr>
              <a:tr h="0">
                <a:tc>
                  <a:txBody>
                    <a:bodyPr/>
                    <a:lstStyle/>
                    <a:p>
                      <a:pPr>
                        <a:buNone/>
                      </a:pPr>
                      <a:r>
                        <a:rPr lang="en-US" sz="2800">
                          <a:latin typeface="Calibir"/>
                        </a:rPr>
                        <a:t>WC2-660</a:t>
                      </a:r>
                    </a:p>
                  </a:txBody>
                  <a:tcPr anchor="ctr"/>
                </a:tc>
                <a:tc>
                  <a:txBody>
                    <a:bodyPr/>
                    <a:lstStyle/>
                    <a:p>
                      <a:pPr>
                        <a:buNone/>
                      </a:pPr>
                      <a:r>
                        <a:rPr lang="en-US" sz="2800">
                          <a:latin typeface="Calibir"/>
                        </a:rPr>
                        <a:t>DL00</a:t>
                      </a:r>
                    </a:p>
                  </a:txBody>
                  <a:tcPr anchor="ctr"/>
                </a:tc>
                <a:tc>
                  <a:txBody>
                    <a:bodyPr/>
                    <a:lstStyle/>
                    <a:p>
                      <a:pPr>
                        <a:buNone/>
                      </a:pPr>
                      <a:r>
                        <a:rPr lang="en-US" sz="2800">
                          <a:latin typeface="Calibir"/>
                        </a:rPr>
                        <a:t>0001</a:t>
                      </a:r>
                    </a:p>
                  </a:txBody>
                  <a:tcPr anchor="ctr"/>
                </a:tc>
                <a:tc>
                  <a:txBody>
                    <a:bodyPr/>
                    <a:lstStyle/>
                    <a:p>
                      <a:pPr>
                        <a:buNone/>
                      </a:pPr>
                      <a:r>
                        <a:rPr lang="en-US" sz="2800" dirty="0">
                          <a:latin typeface="Calibir"/>
                        </a:rPr>
                        <a:t>Final Assembly</a:t>
                      </a:r>
                    </a:p>
                  </a:txBody>
                  <a:tcPr anchor="ctr"/>
                </a:tc>
                <a:extLst>
                  <a:ext uri="{0D108BD9-81ED-4DB2-BD59-A6C34878D82A}">
                    <a16:rowId xmlns:a16="http://schemas.microsoft.com/office/drawing/2014/main" val="1636292860"/>
                  </a:ext>
                </a:extLst>
              </a:tr>
              <a:tr h="0">
                <a:tc>
                  <a:txBody>
                    <a:bodyPr/>
                    <a:lstStyle/>
                    <a:p>
                      <a:pPr>
                        <a:buNone/>
                      </a:pPr>
                      <a:r>
                        <a:rPr lang="en-US" sz="2800">
                          <a:latin typeface="Calibir"/>
                        </a:rPr>
                        <a:t>WC3-660</a:t>
                      </a:r>
                    </a:p>
                  </a:txBody>
                  <a:tcPr anchor="ctr"/>
                </a:tc>
                <a:tc>
                  <a:txBody>
                    <a:bodyPr/>
                    <a:lstStyle/>
                    <a:p>
                      <a:pPr>
                        <a:buNone/>
                      </a:pPr>
                      <a:r>
                        <a:rPr lang="en-US" sz="2800">
                          <a:latin typeface="Calibir"/>
                        </a:rPr>
                        <a:t>DL00</a:t>
                      </a:r>
                    </a:p>
                  </a:txBody>
                  <a:tcPr anchor="ctr"/>
                </a:tc>
                <a:tc>
                  <a:txBody>
                    <a:bodyPr/>
                    <a:lstStyle/>
                    <a:p>
                      <a:pPr>
                        <a:buNone/>
                      </a:pPr>
                      <a:r>
                        <a:rPr lang="en-US" sz="2800" dirty="0">
                          <a:latin typeface="Calibir"/>
                        </a:rPr>
                        <a:t>0001</a:t>
                      </a:r>
                    </a:p>
                  </a:txBody>
                  <a:tcPr anchor="ctr"/>
                </a:tc>
                <a:tc>
                  <a:txBody>
                    <a:bodyPr/>
                    <a:lstStyle/>
                    <a:p>
                      <a:pPr>
                        <a:buNone/>
                      </a:pPr>
                      <a:r>
                        <a:rPr lang="en-US" sz="2800">
                          <a:latin typeface="Calibir"/>
                        </a:rPr>
                        <a:t>From assignment</a:t>
                      </a:r>
                    </a:p>
                  </a:txBody>
                  <a:tcPr anchor="ctr"/>
                </a:tc>
                <a:extLst>
                  <a:ext uri="{0D108BD9-81ED-4DB2-BD59-A6C34878D82A}">
                    <a16:rowId xmlns:a16="http://schemas.microsoft.com/office/drawing/2014/main" val="217162744"/>
                  </a:ext>
                </a:extLst>
              </a:tr>
              <a:tr h="0">
                <a:tc>
                  <a:txBody>
                    <a:bodyPr/>
                    <a:lstStyle/>
                    <a:p>
                      <a:pPr>
                        <a:buNone/>
                      </a:pPr>
                      <a:r>
                        <a:rPr lang="en-US" sz="2800">
                          <a:latin typeface="Calibir"/>
                        </a:rPr>
                        <a:t>WC4-660</a:t>
                      </a:r>
                    </a:p>
                  </a:txBody>
                  <a:tcPr anchor="ctr"/>
                </a:tc>
                <a:tc>
                  <a:txBody>
                    <a:bodyPr/>
                    <a:lstStyle/>
                    <a:p>
                      <a:pPr>
                        <a:buNone/>
                      </a:pPr>
                      <a:r>
                        <a:rPr lang="en-US" sz="2800">
                          <a:latin typeface="Calibir"/>
                        </a:rPr>
                        <a:t>DL00</a:t>
                      </a:r>
                    </a:p>
                  </a:txBody>
                  <a:tcPr anchor="ctr"/>
                </a:tc>
                <a:tc>
                  <a:txBody>
                    <a:bodyPr/>
                    <a:lstStyle/>
                    <a:p>
                      <a:pPr>
                        <a:buNone/>
                      </a:pPr>
                      <a:r>
                        <a:rPr lang="en-US" sz="2800">
                          <a:latin typeface="Calibir"/>
                        </a:rPr>
                        <a:t>0001</a:t>
                      </a:r>
                    </a:p>
                  </a:txBody>
                  <a:tcPr anchor="ctr"/>
                </a:tc>
                <a:tc>
                  <a:txBody>
                    <a:bodyPr/>
                    <a:lstStyle/>
                    <a:p>
                      <a:pPr>
                        <a:buNone/>
                      </a:pPr>
                      <a:r>
                        <a:rPr lang="en-US" sz="2800">
                          <a:latin typeface="Calibir"/>
                        </a:rPr>
                        <a:t>From assignment</a:t>
                      </a:r>
                    </a:p>
                  </a:txBody>
                  <a:tcPr anchor="ctr"/>
                </a:tc>
                <a:extLst>
                  <a:ext uri="{0D108BD9-81ED-4DB2-BD59-A6C34878D82A}">
                    <a16:rowId xmlns:a16="http://schemas.microsoft.com/office/drawing/2014/main" val="833537497"/>
                  </a:ext>
                </a:extLst>
              </a:tr>
              <a:tr h="0">
                <a:tc>
                  <a:txBody>
                    <a:bodyPr/>
                    <a:lstStyle/>
                    <a:p>
                      <a:pPr>
                        <a:buNone/>
                      </a:pPr>
                      <a:r>
                        <a:rPr lang="en-US" sz="2800">
                          <a:latin typeface="Calibir"/>
                        </a:rPr>
                        <a:t>WC5-660</a:t>
                      </a:r>
                    </a:p>
                  </a:txBody>
                  <a:tcPr anchor="ctr"/>
                </a:tc>
                <a:tc>
                  <a:txBody>
                    <a:bodyPr/>
                    <a:lstStyle/>
                    <a:p>
                      <a:pPr>
                        <a:buNone/>
                      </a:pPr>
                      <a:r>
                        <a:rPr lang="en-US" sz="2800">
                          <a:latin typeface="Calibir"/>
                        </a:rPr>
                        <a:t>DL00</a:t>
                      </a:r>
                    </a:p>
                  </a:txBody>
                  <a:tcPr anchor="ctr"/>
                </a:tc>
                <a:tc>
                  <a:txBody>
                    <a:bodyPr/>
                    <a:lstStyle/>
                    <a:p>
                      <a:pPr>
                        <a:buNone/>
                      </a:pPr>
                      <a:r>
                        <a:rPr lang="en-US" sz="2800">
                          <a:latin typeface="Calibir"/>
                        </a:rPr>
                        <a:t>0001</a:t>
                      </a:r>
                    </a:p>
                  </a:txBody>
                  <a:tcPr anchor="ctr"/>
                </a:tc>
                <a:tc>
                  <a:txBody>
                    <a:bodyPr/>
                    <a:lstStyle/>
                    <a:p>
                      <a:pPr>
                        <a:buNone/>
                      </a:pPr>
                      <a:r>
                        <a:rPr lang="en-US" sz="2800" dirty="0">
                          <a:latin typeface="Calibir"/>
                        </a:rPr>
                        <a:t>From assignment</a:t>
                      </a:r>
                    </a:p>
                  </a:txBody>
                  <a:tcPr anchor="ctr"/>
                </a:tc>
                <a:extLst>
                  <a:ext uri="{0D108BD9-81ED-4DB2-BD59-A6C34878D82A}">
                    <a16:rowId xmlns:a16="http://schemas.microsoft.com/office/drawing/2014/main" val="3279757703"/>
                  </a:ext>
                </a:extLst>
              </a:tr>
            </a:tbl>
          </a:graphicData>
        </a:graphic>
      </p:graphicFrame>
      <p:sp>
        <p:nvSpPr>
          <p:cNvPr id="7" name="TextBox 6">
            <a:extLst>
              <a:ext uri="{FF2B5EF4-FFF2-40B4-BE49-F238E27FC236}">
                <a16:creationId xmlns:a16="http://schemas.microsoft.com/office/drawing/2014/main" id="{6CCA7659-A040-68FC-96B9-5A75DAB0E82D}"/>
              </a:ext>
            </a:extLst>
          </p:cNvPr>
          <p:cNvSpPr txBox="1"/>
          <p:nvPr/>
        </p:nvSpPr>
        <p:spPr>
          <a:xfrm>
            <a:off x="0" y="648929"/>
            <a:ext cx="11104178" cy="1318181"/>
          </a:xfrm>
          <a:prstGeom prst="rect">
            <a:avLst/>
          </a:prstGeom>
          <a:noFill/>
        </p:spPr>
        <p:txBody>
          <a:bodyPr wrap="square">
            <a:spAutoFit/>
          </a:bodyPr>
          <a:lstStyle/>
          <a:p>
            <a:pPr>
              <a:lnSpc>
                <a:spcPct val="150000"/>
              </a:lnSpc>
            </a:pPr>
            <a:r>
              <a:rPr lang="en-US" sz="2800" b="1" dirty="0">
                <a:latin typeface="Calibir"/>
              </a:rPr>
              <a:t>Hint 6: Prepare a data table first</a:t>
            </a:r>
          </a:p>
          <a:p>
            <a:pPr>
              <a:lnSpc>
                <a:spcPct val="150000"/>
              </a:lnSpc>
            </a:pPr>
            <a:r>
              <a:rPr lang="en-US" sz="2800" dirty="0">
                <a:latin typeface="Calibir"/>
              </a:rPr>
              <a:t>Before entering SAP data, create a small planning table like this:</a:t>
            </a:r>
          </a:p>
        </p:txBody>
      </p:sp>
      <p:sp>
        <p:nvSpPr>
          <p:cNvPr id="9" name="TextBox 8">
            <a:extLst>
              <a:ext uri="{FF2B5EF4-FFF2-40B4-BE49-F238E27FC236}">
                <a16:creationId xmlns:a16="http://schemas.microsoft.com/office/drawing/2014/main" id="{C85A3BB7-028A-1E36-381F-85170C16C7C1}"/>
              </a:ext>
            </a:extLst>
          </p:cNvPr>
          <p:cNvSpPr txBox="1"/>
          <p:nvPr/>
        </p:nvSpPr>
        <p:spPr>
          <a:xfrm>
            <a:off x="10549759" y="2505982"/>
            <a:ext cx="1608084" cy="3257174"/>
          </a:xfrm>
          <a:prstGeom prst="rect">
            <a:avLst/>
          </a:prstGeom>
          <a:noFill/>
        </p:spPr>
        <p:txBody>
          <a:bodyPr wrap="square">
            <a:spAutoFit/>
          </a:bodyPr>
          <a:lstStyle/>
          <a:p>
            <a:pPr>
              <a:lnSpc>
                <a:spcPct val="150000"/>
              </a:lnSpc>
            </a:pPr>
            <a:r>
              <a:rPr lang="en-US" sz="2800" dirty="0">
                <a:latin typeface="Calibir"/>
              </a:rPr>
              <a:t>This helps avoid typing mistakes.</a:t>
            </a:r>
          </a:p>
        </p:txBody>
      </p:sp>
    </p:spTree>
    <p:extLst>
      <p:ext uri="{BB962C8B-B14F-4D97-AF65-F5344CB8AC3E}">
        <p14:creationId xmlns:p14="http://schemas.microsoft.com/office/powerpoint/2010/main" val="2681637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DD4EE-7CA4-017E-298C-B06D2282FFE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687B05A-DCC8-B176-452E-CB708A9274DB}"/>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2875E7BB-D414-A545-C615-12702C1FD98D}"/>
              </a:ext>
            </a:extLst>
          </p:cNvPr>
          <p:cNvSpPr txBox="1"/>
          <p:nvPr/>
        </p:nvSpPr>
        <p:spPr>
          <a:xfrm>
            <a:off x="0" y="648929"/>
            <a:ext cx="11104178" cy="6488828"/>
          </a:xfrm>
          <a:prstGeom prst="rect">
            <a:avLst/>
          </a:prstGeom>
          <a:noFill/>
        </p:spPr>
        <p:txBody>
          <a:bodyPr wrap="square">
            <a:spAutoFit/>
          </a:bodyPr>
          <a:lstStyle/>
          <a:p>
            <a:pPr>
              <a:lnSpc>
                <a:spcPct val="150000"/>
              </a:lnSpc>
            </a:pPr>
            <a:r>
              <a:rPr lang="en-US" sz="2700" b="1" dirty="0">
                <a:latin typeface="Calibir"/>
              </a:rPr>
              <a:t>11. Suggested submission format</a:t>
            </a:r>
          </a:p>
          <a:p>
            <a:pPr>
              <a:lnSpc>
                <a:spcPct val="150000"/>
              </a:lnSpc>
            </a:pPr>
            <a:r>
              <a:rPr lang="en-US" sz="2700" dirty="0">
                <a:latin typeface="Calibir"/>
              </a:rPr>
              <a:t>Students can use this structure:</a:t>
            </a:r>
          </a:p>
          <a:p>
            <a:pPr>
              <a:lnSpc>
                <a:spcPct val="150000"/>
              </a:lnSpc>
            </a:pPr>
            <a:r>
              <a:rPr lang="en-US" sz="2700" b="1" dirty="0">
                <a:latin typeface="Calibir"/>
              </a:rPr>
              <a:t>Cover page</a:t>
            </a:r>
          </a:p>
          <a:p>
            <a:pPr marL="914400" lvl="1" indent="-457200">
              <a:lnSpc>
                <a:spcPct val="150000"/>
              </a:lnSpc>
              <a:buFont typeface="Arial" panose="020B0604020202020204" pitchFamily="34" charset="0"/>
              <a:buChar char="•"/>
            </a:pPr>
            <a:r>
              <a:rPr lang="en-US" sz="2700" dirty="0">
                <a:latin typeface="Calibir"/>
              </a:rPr>
              <a:t>unit code: HI6034 </a:t>
            </a:r>
          </a:p>
          <a:p>
            <a:pPr marL="914400" lvl="1" indent="-457200">
              <a:lnSpc>
                <a:spcPct val="150000"/>
              </a:lnSpc>
              <a:buFont typeface="Arial" panose="020B0604020202020204" pitchFamily="34" charset="0"/>
              <a:buChar char="•"/>
            </a:pPr>
            <a:r>
              <a:rPr lang="en-US" sz="2700" dirty="0">
                <a:latin typeface="Calibir"/>
              </a:rPr>
              <a:t>assignment title </a:t>
            </a:r>
          </a:p>
          <a:p>
            <a:pPr marL="914400" lvl="1" indent="-457200">
              <a:lnSpc>
                <a:spcPct val="150000"/>
              </a:lnSpc>
              <a:buFont typeface="Arial" panose="020B0604020202020204" pitchFamily="34" charset="0"/>
              <a:buChar char="•"/>
            </a:pPr>
            <a:r>
              <a:rPr lang="en-US" sz="2700" dirty="0">
                <a:latin typeface="Calibir"/>
              </a:rPr>
              <a:t>trimester </a:t>
            </a:r>
          </a:p>
          <a:p>
            <a:pPr marL="914400" lvl="1" indent="-457200">
              <a:lnSpc>
                <a:spcPct val="150000"/>
              </a:lnSpc>
              <a:buFont typeface="Arial" panose="020B0604020202020204" pitchFamily="34" charset="0"/>
              <a:buChar char="•"/>
            </a:pPr>
            <a:r>
              <a:rPr lang="en-US" sz="2700" dirty="0">
                <a:latin typeface="Calibir"/>
              </a:rPr>
              <a:t>group number </a:t>
            </a:r>
          </a:p>
          <a:p>
            <a:pPr marL="914400" lvl="1" indent="-457200">
              <a:lnSpc>
                <a:spcPct val="150000"/>
              </a:lnSpc>
              <a:buFont typeface="Arial" panose="020B0604020202020204" pitchFamily="34" charset="0"/>
              <a:buChar char="•"/>
            </a:pPr>
            <a:r>
              <a:rPr lang="en-US" sz="2700" dirty="0">
                <a:latin typeface="Calibir"/>
              </a:rPr>
              <a:t>student names and IDs </a:t>
            </a:r>
          </a:p>
          <a:p>
            <a:pPr>
              <a:lnSpc>
                <a:spcPct val="150000"/>
              </a:lnSpc>
            </a:pPr>
            <a:r>
              <a:rPr lang="en-US" sz="2700" b="1" dirty="0">
                <a:latin typeface="Calibir"/>
              </a:rPr>
              <a:t>Introduction</a:t>
            </a:r>
          </a:p>
          <a:p>
            <a:pPr marL="914400" lvl="1" indent="-457200">
              <a:lnSpc>
                <a:spcPct val="150000"/>
              </a:lnSpc>
              <a:buFont typeface="Arial" panose="020B0604020202020204" pitchFamily="34" charset="0"/>
              <a:buChar char="•"/>
            </a:pPr>
            <a:r>
              <a:rPr lang="en-US" sz="2700" dirty="0">
                <a:latin typeface="Calibir"/>
              </a:rPr>
              <a:t>brief explanation of what the group completed in SAP</a:t>
            </a:r>
          </a:p>
        </p:txBody>
      </p:sp>
    </p:spTree>
    <p:extLst>
      <p:ext uri="{BB962C8B-B14F-4D97-AF65-F5344CB8AC3E}">
        <p14:creationId xmlns:p14="http://schemas.microsoft.com/office/powerpoint/2010/main" val="25465976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D0D33-AEAA-E5D9-5637-036F64A02D7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C2AD6D2-1F69-3CC7-D561-6CE62D201CA6}"/>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07BB4751-5E86-01BF-B6BE-3110C66086EC}"/>
              </a:ext>
            </a:extLst>
          </p:cNvPr>
          <p:cNvSpPr txBox="1"/>
          <p:nvPr/>
        </p:nvSpPr>
        <p:spPr>
          <a:xfrm>
            <a:off x="0" y="648929"/>
            <a:ext cx="11104178" cy="6488828"/>
          </a:xfrm>
          <a:prstGeom prst="rect">
            <a:avLst/>
          </a:prstGeom>
          <a:noFill/>
        </p:spPr>
        <p:txBody>
          <a:bodyPr wrap="square">
            <a:spAutoFit/>
          </a:bodyPr>
          <a:lstStyle/>
          <a:p>
            <a:pPr>
              <a:lnSpc>
                <a:spcPct val="150000"/>
              </a:lnSpc>
            </a:pPr>
            <a:r>
              <a:rPr lang="en-US" sz="2700" b="1" dirty="0">
                <a:latin typeface="Calibir"/>
              </a:rPr>
              <a:t>Task sections</a:t>
            </a:r>
          </a:p>
          <a:p>
            <a:pPr>
              <a:lnSpc>
                <a:spcPct val="150000"/>
              </a:lnSpc>
            </a:pPr>
            <a:r>
              <a:rPr lang="en-US" sz="2700" dirty="0">
                <a:latin typeface="Calibir"/>
              </a:rPr>
              <a:t>For each task:</a:t>
            </a:r>
          </a:p>
          <a:p>
            <a:pPr marL="914400" lvl="1" indent="-457200">
              <a:lnSpc>
                <a:spcPct val="150000"/>
              </a:lnSpc>
              <a:buFont typeface="Arial" panose="020B0604020202020204" pitchFamily="34" charset="0"/>
              <a:buChar char="•"/>
            </a:pPr>
            <a:r>
              <a:rPr lang="en-US" sz="2700" dirty="0">
                <a:latin typeface="Calibir"/>
              </a:rPr>
              <a:t>task name </a:t>
            </a:r>
          </a:p>
          <a:p>
            <a:pPr marL="914400" lvl="1" indent="-457200">
              <a:lnSpc>
                <a:spcPct val="150000"/>
              </a:lnSpc>
              <a:buFont typeface="Arial" panose="020B0604020202020204" pitchFamily="34" charset="0"/>
              <a:buChar char="•"/>
            </a:pPr>
            <a:r>
              <a:rPr lang="en-US" sz="2700" dirty="0">
                <a:latin typeface="Calibir"/>
              </a:rPr>
              <a:t>steps followed </a:t>
            </a:r>
          </a:p>
          <a:p>
            <a:pPr marL="914400" lvl="1" indent="-457200">
              <a:lnSpc>
                <a:spcPct val="150000"/>
              </a:lnSpc>
              <a:buFont typeface="Arial" panose="020B0604020202020204" pitchFamily="34" charset="0"/>
              <a:buChar char="•"/>
            </a:pPr>
            <a:r>
              <a:rPr lang="en-US" sz="2700" dirty="0">
                <a:latin typeface="Calibir"/>
              </a:rPr>
              <a:t>screenshots </a:t>
            </a:r>
          </a:p>
          <a:p>
            <a:pPr marL="914400" lvl="1" indent="-457200">
              <a:lnSpc>
                <a:spcPct val="150000"/>
              </a:lnSpc>
              <a:buFont typeface="Arial" panose="020B0604020202020204" pitchFamily="34" charset="0"/>
              <a:buChar char="•"/>
            </a:pPr>
            <a:r>
              <a:rPr lang="en-US" sz="2700" dirty="0">
                <a:latin typeface="Calibir"/>
              </a:rPr>
              <a:t>short explanation </a:t>
            </a:r>
          </a:p>
          <a:p>
            <a:pPr>
              <a:lnSpc>
                <a:spcPct val="150000"/>
              </a:lnSpc>
            </a:pPr>
            <a:r>
              <a:rPr lang="en-US" sz="2700" b="1" dirty="0">
                <a:latin typeface="Calibir"/>
              </a:rPr>
              <a:t>Conclusion</a:t>
            </a:r>
          </a:p>
          <a:p>
            <a:pPr marL="914400" lvl="1" indent="-457200">
              <a:lnSpc>
                <a:spcPct val="150000"/>
              </a:lnSpc>
              <a:buFont typeface="Arial" panose="020B0604020202020204" pitchFamily="34" charset="0"/>
              <a:buChar char="•"/>
            </a:pPr>
            <a:r>
              <a:rPr lang="en-US" sz="2700" dirty="0">
                <a:latin typeface="Calibir"/>
              </a:rPr>
              <a:t>short statement that all required SAP tasks were completed </a:t>
            </a:r>
          </a:p>
          <a:p>
            <a:pPr>
              <a:lnSpc>
                <a:spcPct val="150000"/>
              </a:lnSpc>
            </a:pPr>
            <a:r>
              <a:rPr lang="en-US" sz="2700" b="1" dirty="0">
                <a:latin typeface="Calibir"/>
              </a:rPr>
              <a:t>Appendix</a:t>
            </a:r>
          </a:p>
          <a:p>
            <a:pPr marL="914400" lvl="1" indent="-457200">
              <a:lnSpc>
                <a:spcPct val="150000"/>
              </a:lnSpc>
              <a:buFont typeface="Arial" panose="020B0604020202020204" pitchFamily="34" charset="0"/>
              <a:buChar char="•"/>
            </a:pPr>
            <a:r>
              <a:rPr lang="en-US" sz="2700" dirty="0">
                <a:latin typeface="Calibir"/>
              </a:rPr>
              <a:t>any extra screenshots if needed</a:t>
            </a:r>
          </a:p>
        </p:txBody>
      </p:sp>
    </p:spTree>
    <p:extLst>
      <p:ext uri="{BB962C8B-B14F-4D97-AF65-F5344CB8AC3E}">
        <p14:creationId xmlns:p14="http://schemas.microsoft.com/office/powerpoint/2010/main" val="34098505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774BE-CD3C-57CE-4C32-FFCAB25D112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83CF96E-6E62-0530-A493-01ABEA41B2B0}"/>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E7B3F899-6D77-64AE-B6F7-D2252383EF51}"/>
              </a:ext>
            </a:extLst>
          </p:cNvPr>
          <p:cNvSpPr txBox="1"/>
          <p:nvPr/>
        </p:nvSpPr>
        <p:spPr>
          <a:xfrm>
            <a:off x="0" y="648929"/>
            <a:ext cx="11104178" cy="5842497"/>
          </a:xfrm>
          <a:prstGeom prst="rect">
            <a:avLst/>
          </a:prstGeom>
          <a:noFill/>
        </p:spPr>
        <p:txBody>
          <a:bodyPr wrap="square">
            <a:spAutoFit/>
          </a:bodyPr>
          <a:lstStyle/>
          <a:p>
            <a:pPr>
              <a:lnSpc>
                <a:spcPct val="150000"/>
              </a:lnSpc>
            </a:pPr>
            <a:r>
              <a:rPr lang="en-US" sz="2800" b="1" dirty="0">
                <a:latin typeface="Calibir"/>
              </a:rPr>
              <a:t>12. A simple writing template students can use</a:t>
            </a:r>
          </a:p>
          <a:p>
            <a:pPr>
              <a:lnSpc>
                <a:spcPct val="150000"/>
              </a:lnSpc>
            </a:pPr>
            <a:r>
              <a:rPr lang="en-US" sz="2800" dirty="0">
                <a:latin typeface="Calibir"/>
              </a:rPr>
              <a:t>For each task, they can write:</a:t>
            </a:r>
          </a:p>
          <a:p>
            <a:pPr>
              <a:lnSpc>
                <a:spcPct val="150000"/>
              </a:lnSpc>
            </a:pPr>
            <a:r>
              <a:rPr lang="en-US" sz="2800" b="1" dirty="0">
                <a:latin typeface="Calibir"/>
              </a:rPr>
              <a:t>Task X: [Task Name]</a:t>
            </a:r>
            <a:br>
              <a:rPr lang="en-US" sz="2800" dirty="0">
                <a:latin typeface="Calibir"/>
              </a:rPr>
            </a:br>
            <a:r>
              <a:rPr lang="en-US" sz="2800" dirty="0">
                <a:latin typeface="Calibir"/>
              </a:rPr>
              <a:t>This task was completed in SAP Fiori by following the instructions provided in the assessment document. The required values were entered carefully and the final result was saved successfully. The screenshots below show the main steps and final outcome.</a:t>
            </a:r>
          </a:p>
          <a:p>
            <a:pPr>
              <a:lnSpc>
                <a:spcPct val="150000"/>
              </a:lnSpc>
            </a:pPr>
            <a:r>
              <a:rPr lang="en-US" sz="2800" dirty="0">
                <a:latin typeface="Calibir"/>
              </a:rPr>
              <a:t>Then insert screenshots with labels.</a:t>
            </a:r>
          </a:p>
          <a:p>
            <a:pPr>
              <a:lnSpc>
                <a:spcPct val="150000"/>
              </a:lnSpc>
            </a:pPr>
            <a:r>
              <a:rPr lang="en-US" sz="2800" dirty="0">
                <a:latin typeface="Calibir"/>
              </a:rPr>
              <a:t>This is simple, clear, and professional.</a:t>
            </a:r>
          </a:p>
        </p:txBody>
      </p:sp>
    </p:spTree>
    <p:extLst>
      <p:ext uri="{BB962C8B-B14F-4D97-AF65-F5344CB8AC3E}">
        <p14:creationId xmlns:p14="http://schemas.microsoft.com/office/powerpoint/2010/main" val="12758271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740A6-C39E-5478-94AA-8CA6C708B5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2619E7D-D74D-1BCA-FE4B-0E04E329BE77}"/>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56113604-5CA5-E61F-2FE2-49F26E066F7D}"/>
              </a:ext>
            </a:extLst>
          </p:cNvPr>
          <p:cNvSpPr txBox="1"/>
          <p:nvPr/>
        </p:nvSpPr>
        <p:spPr>
          <a:xfrm>
            <a:off x="0" y="648929"/>
            <a:ext cx="11104178" cy="4549835"/>
          </a:xfrm>
          <a:prstGeom prst="rect">
            <a:avLst/>
          </a:prstGeom>
          <a:noFill/>
        </p:spPr>
        <p:txBody>
          <a:bodyPr wrap="square">
            <a:spAutoFit/>
          </a:bodyPr>
          <a:lstStyle/>
          <a:p>
            <a:pPr>
              <a:lnSpc>
                <a:spcPct val="150000"/>
              </a:lnSpc>
            </a:pPr>
            <a:r>
              <a:rPr lang="en-US" sz="2800" b="1" dirty="0">
                <a:latin typeface="Calibir"/>
              </a:rPr>
              <a:t>13. Questions and answers for students</a:t>
            </a:r>
          </a:p>
          <a:p>
            <a:pPr>
              <a:lnSpc>
                <a:spcPct val="150000"/>
              </a:lnSpc>
            </a:pPr>
            <a:r>
              <a:rPr lang="en-US" sz="2800" b="1" dirty="0">
                <a:latin typeface="Calibir"/>
              </a:rPr>
              <a:t>Q1. What is the main thing the marker is looking for?</a:t>
            </a:r>
          </a:p>
          <a:p>
            <a:pPr>
              <a:lnSpc>
                <a:spcPct val="150000"/>
              </a:lnSpc>
            </a:pPr>
            <a:r>
              <a:rPr lang="en-US" sz="2800" dirty="0">
                <a:latin typeface="Calibir"/>
              </a:rPr>
              <a:t>The marker is mainly checking whether you followed the required SAP steps properly and included the correct screenshots.</a:t>
            </a:r>
          </a:p>
          <a:p>
            <a:pPr>
              <a:lnSpc>
                <a:spcPct val="150000"/>
              </a:lnSpc>
            </a:pPr>
            <a:r>
              <a:rPr lang="en-US" sz="2800" b="1" dirty="0">
                <a:latin typeface="Calibir"/>
              </a:rPr>
              <a:t>Q2. Do we need screenshots for every step?</a:t>
            </a:r>
          </a:p>
          <a:p>
            <a:pPr>
              <a:lnSpc>
                <a:spcPct val="150000"/>
              </a:lnSpc>
            </a:pPr>
            <a:r>
              <a:rPr lang="en-US" sz="2800" dirty="0">
                <a:latin typeface="Calibir"/>
              </a:rPr>
              <a:t>For every important step, yes. Especially input screens and final saved results.</a:t>
            </a:r>
          </a:p>
        </p:txBody>
      </p:sp>
    </p:spTree>
    <p:extLst>
      <p:ext uri="{BB962C8B-B14F-4D97-AF65-F5344CB8AC3E}">
        <p14:creationId xmlns:p14="http://schemas.microsoft.com/office/powerpoint/2010/main" val="3951605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1000"/>
                                        <p:tgtEl>
                                          <p:spTgt spid="7">
                                            <p:txEl>
                                              <p:pRg st="4" end="4"/>
                                            </p:txEl>
                                          </p:spTgt>
                                        </p:tgtEl>
                                      </p:cBhvr>
                                    </p:animEffect>
                                    <p:anim calcmode="lin" valueType="num">
                                      <p:cBhvr>
                                        <p:cTn id="1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687B3-6120-B884-C4BE-ADB8B90F5E0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ADB0DA3-1035-6269-5E93-F4C6F30DB342}"/>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D090A3AD-EC3F-2507-4198-275046106ACE}"/>
              </a:ext>
            </a:extLst>
          </p:cNvPr>
          <p:cNvSpPr txBox="1"/>
          <p:nvPr/>
        </p:nvSpPr>
        <p:spPr>
          <a:xfrm>
            <a:off x="0" y="648929"/>
            <a:ext cx="11104178" cy="3257174"/>
          </a:xfrm>
          <a:prstGeom prst="rect">
            <a:avLst/>
          </a:prstGeom>
          <a:noFill/>
        </p:spPr>
        <p:txBody>
          <a:bodyPr wrap="square">
            <a:spAutoFit/>
          </a:bodyPr>
          <a:lstStyle/>
          <a:p>
            <a:pPr>
              <a:lnSpc>
                <a:spcPct val="150000"/>
              </a:lnSpc>
            </a:pPr>
            <a:r>
              <a:rPr lang="en-US" sz="2800" b="1" dirty="0">
                <a:latin typeface="Calibir"/>
              </a:rPr>
              <a:t>Q3. Can we use one member’s work and submit it for everyone?</a:t>
            </a:r>
          </a:p>
          <a:p>
            <a:pPr>
              <a:lnSpc>
                <a:spcPct val="150000"/>
              </a:lnSpc>
            </a:pPr>
            <a:r>
              <a:rPr lang="en-US" sz="2800" dirty="0">
                <a:latin typeface="Calibir"/>
              </a:rPr>
              <a:t>No. That may become copying or collusion if it is outside what is </a:t>
            </a:r>
            <a:r>
              <a:rPr lang="en-US" sz="2800" dirty="0" err="1">
                <a:latin typeface="Calibir"/>
              </a:rPr>
              <a:t>authorised</a:t>
            </a:r>
            <a:r>
              <a:rPr lang="en-US" sz="2800" dirty="0">
                <a:latin typeface="Calibir"/>
              </a:rPr>
              <a:t>.</a:t>
            </a:r>
          </a:p>
          <a:p>
            <a:pPr>
              <a:lnSpc>
                <a:spcPct val="150000"/>
              </a:lnSpc>
            </a:pPr>
            <a:r>
              <a:rPr lang="en-US" sz="2800" b="1" dirty="0">
                <a:latin typeface="Calibir"/>
              </a:rPr>
              <a:t>Q4. What does ### mean in WC1-###?</a:t>
            </a:r>
          </a:p>
          <a:p>
            <a:pPr>
              <a:lnSpc>
                <a:spcPct val="150000"/>
              </a:lnSpc>
            </a:pPr>
            <a:r>
              <a:rPr lang="en-US" sz="2800" dirty="0">
                <a:latin typeface="Calibir"/>
              </a:rPr>
              <a:t>It means your own login number.</a:t>
            </a:r>
          </a:p>
        </p:txBody>
      </p:sp>
    </p:spTree>
    <p:extLst>
      <p:ext uri="{BB962C8B-B14F-4D97-AF65-F5344CB8AC3E}">
        <p14:creationId xmlns:p14="http://schemas.microsoft.com/office/powerpoint/2010/main" val="3536168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49DE3-BC15-E649-4314-09B749E90AF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0BF0D75-D51D-389D-D10A-047650FB7EA4}"/>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5D6310CB-4106-5EA2-3489-F69B0403FA25}"/>
              </a:ext>
            </a:extLst>
          </p:cNvPr>
          <p:cNvSpPr txBox="1"/>
          <p:nvPr/>
        </p:nvSpPr>
        <p:spPr>
          <a:xfrm>
            <a:off x="0" y="648929"/>
            <a:ext cx="11104178" cy="6129050"/>
          </a:xfrm>
          <a:prstGeom prst="rect">
            <a:avLst/>
          </a:prstGeom>
          <a:noFill/>
        </p:spPr>
        <p:txBody>
          <a:bodyPr wrap="square">
            <a:spAutoFit/>
          </a:bodyPr>
          <a:lstStyle/>
          <a:p>
            <a:pPr>
              <a:lnSpc>
                <a:spcPct val="150000"/>
              </a:lnSpc>
            </a:pPr>
            <a:r>
              <a:rPr lang="en-US" sz="2400" b="1" dirty="0">
                <a:latin typeface="Calibir"/>
              </a:rPr>
              <a:t>Q5. If my login number is 660, what should I enter?</a:t>
            </a:r>
          </a:p>
          <a:p>
            <a:pPr>
              <a:lnSpc>
                <a:spcPct val="150000"/>
              </a:lnSpc>
            </a:pPr>
            <a:r>
              <a:rPr lang="en-US" sz="2400" dirty="0">
                <a:latin typeface="Calibir"/>
              </a:rPr>
              <a:t>You should enter:</a:t>
            </a:r>
          </a:p>
          <a:p>
            <a:pPr marL="800100" lvl="1" indent="-342900">
              <a:lnSpc>
                <a:spcPct val="150000"/>
              </a:lnSpc>
              <a:buFont typeface="Arial" panose="020B0604020202020204" pitchFamily="34" charset="0"/>
              <a:buChar char="•"/>
            </a:pPr>
            <a:r>
              <a:rPr lang="en-US" sz="2400" dirty="0">
                <a:latin typeface="Calibir"/>
              </a:rPr>
              <a:t>WC1-660 </a:t>
            </a:r>
          </a:p>
          <a:p>
            <a:pPr marL="800100" lvl="1" indent="-342900">
              <a:lnSpc>
                <a:spcPct val="150000"/>
              </a:lnSpc>
              <a:buFont typeface="Arial" panose="020B0604020202020204" pitchFamily="34" charset="0"/>
              <a:buChar char="•"/>
            </a:pPr>
            <a:r>
              <a:rPr lang="en-US" sz="2400" dirty="0">
                <a:latin typeface="Calibir"/>
              </a:rPr>
              <a:t>WC2-660 </a:t>
            </a:r>
          </a:p>
          <a:p>
            <a:pPr marL="800100" lvl="1" indent="-342900">
              <a:lnSpc>
                <a:spcPct val="150000"/>
              </a:lnSpc>
              <a:buFont typeface="Arial" panose="020B0604020202020204" pitchFamily="34" charset="0"/>
              <a:buChar char="•"/>
            </a:pPr>
            <a:r>
              <a:rPr lang="en-US" sz="2400" dirty="0">
                <a:latin typeface="Calibir"/>
              </a:rPr>
              <a:t>WC3-660 </a:t>
            </a:r>
          </a:p>
          <a:p>
            <a:pPr marL="800100" lvl="1" indent="-342900">
              <a:lnSpc>
                <a:spcPct val="150000"/>
              </a:lnSpc>
              <a:buFont typeface="Arial" panose="020B0604020202020204" pitchFamily="34" charset="0"/>
              <a:buChar char="•"/>
            </a:pPr>
            <a:r>
              <a:rPr lang="en-US" sz="2400" dirty="0">
                <a:latin typeface="Calibir"/>
              </a:rPr>
              <a:t>WC4-660 </a:t>
            </a:r>
          </a:p>
          <a:p>
            <a:pPr marL="800100" lvl="1" indent="-342900">
              <a:lnSpc>
                <a:spcPct val="150000"/>
              </a:lnSpc>
              <a:buFont typeface="Arial" panose="020B0604020202020204" pitchFamily="34" charset="0"/>
              <a:buChar char="•"/>
            </a:pPr>
            <a:r>
              <a:rPr lang="en-US" sz="2400" dirty="0">
                <a:latin typeface="Calibir"/>
              </a:rPr>
              <a:t>WC5-660 </a:t>
            </a:r>
          </a:p>
          <a:p>
            <a:pPr>
              <a:lnSpc>
                <a:spcPct val="150000"/>
              </a:lnSpc>
            </a:pPr>
            <a:r>
              <a:rPr lang="en-US" sz="2400" b="1" dirty="0">
                <a:latin typeface="Calibir"/>
              </a:rPr>
              <a:t>Q6. What plant should we use?</a:t>
            </a:r>
          </a:p>
          <a:p>
            <a:pPr>
              <a:lnSpc>
                <a:spcPct val="150000"/>
              </a:lnSpc>
            </a:pPr>
            <a:r>
              <a:rPr lang="en-US" sz="2400" dirty="0">
                <a:latin typeface="Calibir"/>
              </a:rPr>
              <a:t>Use:</a:t>
            </a:r>
          </a:p>
          <a:p>
            <a:pPr marL="800100" lvl="1" indent="-342900">
              <a:lnSpc>
                <a:spcPct val="150000"/>
              </a:lnSpc>
              <a:buFont typeface="Arial" panose="020B0604020202020204" pitchFamily="34" charset="0"/>
              <a:buChar char="•"/>
            </a:pPr>
            <a:r>
              <a:rPr lang="en-US" sz="2400" dirty="0">
                <a:latin typeface="Calibir"/>
              </a:rPr>
              <a:t>DL00 </a:t>
            </a:r>
          </a:p>
          <a:p>
            <a:pPr>
              <a:lnSpc>
                <a:spcPct val="150000"/>
              </a:lnSpc>
            </a:pPr>
            <a:r>
              <a:rPr lang="en-US" sz="2400" dirty="0">
                <a:latin typeface="Calibir"/>
              </a:rPr>
              <a:t>unless your assignment explicitly says something else.</a:t>
            </a:r>
          </a:p>
        </p:txBody>
      </p:sp>
    </p:spTree>
    <p:extLst>
      <p:ext uri="{BB962C8B-B14F-4D97-AF65-F5344CB8AC3E}">
        <p14:creationId xmlns:p14="http://schemas.microsoft.com/office/powerpoint/2010/main" val="2815919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8" end="8"/>
                                            </p:txEl>
                                          </p:spTgt>
                                        </p:tgtEl>
                                        <p:attrNameLst>
                                          <p:attrName>style.visibility</p:attrName>
                                        </p:attrNameLst>
                                      </p:cBhvr>
                                      <p:to>
                                        <p:strVal val="visible"/>
                                      </p:to>
                                    </p:set>
                                    <p:animEffect transition="in" filter="fade">
                                      <p:cBhvr>
                                        <p:cTn id="7" dur="1000"/>
                                        <p:tgtEl>
                                          <p:spTgt spid="7">
                                            <p:txEl>
                                              <p:pRg st="8" end="8"/>
                                            </p:txEl>
                                          </p:spTgt>
                                        </p:tgtEl>
                                      </p:cBhvr>
                                    </p:animEffect>
                                    <p:anim calcmode="lin" valueType="num">
                                      <p:cBhvr>
                                        <p:cTn id="8"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8" end="8"/>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9" end="9"/>
                                            </p:txEl>
                                          </p:spTgt>
                                        </p:tgtEl>
                                        <p:attrNameLst>
                                          <p:attrName>style.visibility</p:attrName>
                                        </p:attrNameLst>
                                      </p:cBhvr>
                                      <p:to>
                                        <p:strVal val="visible"/>
                                      </p:to>
                                    </p:set>
                                    <p:animEffect transition="in" filter="fade">
                                      <p:cBhvr>
                                        <p:cTn id="12" dur="1000"/>
                                        <p:tgtEl>
                                          <p:spTgt spid="7">
                                            <p:txEl>
                                              <p:pRg st="9" end="9"/>
                                            </p:txEl>
                                          </p:spTgt>
                                        </p:tgtEl>
                                      </p:cBhvr>
                                    </p:animEffect>
                                    <p:anim calcmode="lin" valueType="num">
                                      <p:cBhvr>
                                        <p:cTn id="13"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9" end="9"/>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10" end="10"/>
                                            </p:txEl>
                                          </p:spTgt>
                                        </p:tgtEl>
                                        <p:attrNameLst>
                                          <p:attrName>style.visibility</p:attrName>
                                        </p:attrNameLst>
                                      </p:cBhvr>
                                      <p:to>
                                        <p:strVal val="visible"/>
                                      </p:to>
                                    </p:set>
                                    <p:animEffect transition="in" filter="fade">
                                      <p:cBhvr>
                                        <p:cTn id="17" dur="1000"/>
                                        <p:tgtEl>
                                          <p:spTgt spid="7">
                                            <p:txEl>
                                              <p:pRg st="10" end="10"/>
                                            </p:txEl>
                                          </p:spTgt>
                                        </p:tgtEl>
                                      </p:cBhvr>
                                    </p:animEffect>
                                    <p:anim calcmode="lin" valueType="num">
                                      <p:cBhvr>
                                        <p:cTn id="18"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1000"/>
                                        <p:tgtEl>
                                          <p:spTgt spid="7">
                                            <p:txEl>
                                              <p:pRg st="1" end="1"/>
                                            </p:txEl>
                                          </p:spTgt>
                                        </p:tgtEl>
                                      </p:cBhvr>
                                    </p:animEffect>
                                    <p:anim calcmode="lin" valueType="num">
                                      <p:cBhvr>
                                        <p:cTn id="2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1000"/>
                                        <p:tgtEl>
                                          <p:spTgt spid="7">
                                            <p:txEl>
                                              <p:pRg st="2" end="2"/>
                                            </p:txEl>
                                          </p:spTgt>
                                        </p:tgtEl>
                                      </p:cBhvr>
                                    </p:animEffect>
                                    <p:anim calcmode="lin" valueType="num">
                                      <p:cBhvr>
                                        <p:cTn id="2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fade">
                                      <p:cBhvr>
                                        <p:cTn id="32" dur="1000"/>
                                        <p:tgtEl>
                                          <p:spTgt spid="7">
                                            <p:txEl>
                                              <p:pRg st="3" end="3"/>
                                            </p:txEl>
                                          </p:spTgt>
                                        </p:tgtEl>
                                      </p:cBhvr>
                                    </p:animEffect>
                                    <p:anim calcmode="lin" valueType="num">
                                      <p:cBhvr>
                                        <p:cTn id="3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Effect transition="in" filter="fade">
                                      <p:cBhvr>
                                        <p:cTn id="37" dur="1000"/>
                                        <p:tgtEl>
                                          <p:spTgt spid="7">
                                            <p:txEl>
                                              <p:pRg st="4" end="4"/>
                                            </p:txEl>
                                          </p:spTgt>
                                        </p:tgtEl>
                                      </p:cBhvr>
                                    </p:animEffect>
                                    <p:anim calcmode="lin" valueType="num">
                                      <p:cBhvr>
                                        <p:cTn id="3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7">
                                            <p:txEl>
                                              <p:pRg st="4" end="4"/>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7">
                                            <p:txEl>
                                              <p:pRg st="6" end="6"/>
                                            </p:txEl>
                                          </p:spTgt>
                                        </p:tgtEl>
                                        <p:attrNameLst>
                                          <p:attrName>style.visibility</p:attrName>
                                        </p:attrNameLst>
                                      </p:cBhvr>
                                      <p:to>
                                        <p:strVal val="visible"/>
                                      </p:to>
                                    </p:set>
                                    <p:animEffect transition="in" filter="fade">
                                      <p:cBhvr>
                                        <p:cTn id="47" dur="1000"/>
                                        <p:tgtEl>
                                          <p:spTgt spid="7">
                                            <p:txEl>
                                              <p:pRg st="6" end="6"/>
                                            </p:txEl>
                                          </p:spTgt>
                                        </p:tgtEl>
                                      </p:cBhvr>
                                    </p:animEffect>
                                    <p:anim calcmode="lin" valueType="num">
                                      <p:cBhvr>
                                        <p:cTn id="4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537D2-8E9F-0A60-E162-6B2436B689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E3EBE9-27ED-4373-CFA9-3AFA761DE501}"/>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0A9E01D9-008A-7B91-44A2-71E21F5EF987}"/>
              </a:ext>
            </a:extLst>
          </p:cNvPr>
          <p:cNvSpPr txBox="1"/>
          <p:nvPr/>
        </p:nvSpPr>
        <p:spPr>
          <a:xfrm>
            <a:off x="0" y="648929"/>
            <a:ext cx="11104178" cy="5196166"/>
          </a:xfrm>
          <a:prstGeom prst="rect">
            <a:avLst/>
          </a:prstGeom>
          <a:noFill/>
        </p:spPr>
        <p:txBody>
          <a:bodyPr wrap="square">
            <a:spAutoFit/>
          </a:bodyPr>
          <a:lstStyle/>
          <a:p>
            <a:pPr>
              <a:lnSpc>
                <a:spcPct val="150000"/>
              </a:lnSpc>
            </a:pPr>
            <a:r>
              <a:rPr lang="en-US" sz="2800" b="1" dirty="0">
                <a:latin typeface="Calibir"/>
              </a:rPr>
              <a:t>Q7. What is the description for WC1?</a:t>
            </a:r>
          </a:p>
          <a:p>
            <a:pPr>
              <a:lnSpc>
                <a:spcPct val="150000"/>
              </a:lnSpc>
            </a:pPr>
            <a:r>
              <a:rPr lang="en-US" sz="2800" dirty="0">
                <a:latin typeface="Calibir"/>
              </a:rPr>
              <a:t>Use:</a:t>
            </a:r>
          </a:p>
          <a:p>
            <a:pPr marL="914400" lvl="1" indent="-457200">
              <a:lnSpc>
                <a:spcPct val="150000"/>
              </a:lnSpc>
              <a:buFont typeface="Arial" panose="020B0604020202020204" pitchFamily="34" charset="0"/>
              <a:buChar char="•"/>
            </a:pPr>
            <a:r>
              <a:rPr lang="en-US" sz="2800" dirty="0">
                <a:latin typeface="Calibir"/>
              </a:rPr>
              <a:t>Assemble Raw Materials </a:t>
            </a:r>
          </a:p>
          <a:p>
            <a:pPr>
              <a:lnSpc>
                <a:spcPct val="150000"/>
              </a:lnSpc>
            </a:pPr>
            <a:r>
              <a:rPr lang="en-US" sz="2800" b="1" dirty="0">
                <a:latin typeface="Calibir"/>
              </a:rPr>
              <a:t>Q8. What is the description for WC2?</a:t>
            </a:r>
          </a:p>
          <a:p>
            <a:pPr>
              <a:lnSpc>
                <a:spcPct val="150000"/>
              </a:lnSpc>
            </a:pPr>
            <a:r>
              <a:rPr lang="en-US" sz="2800" dirty="0">
                <a:latin typeface="Calibir"/>
              </a:rPr>
              <a:t>From the appendix example:</a:t>
            </a:r>
          </a:p>
          <a:p>
            <a:pPr marL="914400" lvl="1" indent="-457200">
              <a:lnSpc>
                <a:spcPct val="150000"/>
              </a:lnSpc>
              <a:buFont typeface="Arial" panose="020B0604020202020204" pitchFamily="34" charset="0"/>
              <a:buChar char="•"/>
            </a:pPr>
            <a:r>
              <a:rPr lang="en-US" sz="2800" dirty="0">
                <a:latin typeface="Calibir"/>
              </a:rPr>
              <a:t>Final Assembly </a:t>
            </a:r>
          </a:p>
          <a:p>
            <a:pPr>
              <a:lnSpc>
                <a:spcPct val="150000"/>
              </a:lnSpc>
            </a:pPr>
            <a:r>
              <a:rPr lang="en-US" sz="2800" dirty="0">
                <a:latin typeface="Calibir"/>
              </a:rPr>
              <a:t>but students must still check the assignment document for the exact required description.</a:t>
            </a:r>
          </a:p>
        </p:txBody>
      </p:sp>
    </p:spTree>
    <p:extLst>
      <p:ext uri="{BB962C8B-B14F-4D97-AF65-F5344CB8AC3E}">
        <p14:creationId xmlns:p14="http://schemas.microsoft.com/office/powerpoint/2010/main" val="2967651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1000"/>
                                        <p:tgtEl>
                                          <p:spTgt spid="7">
                                            <p:txEl>
                                              <p:pRg st="2" end="2"/>
                                            </p:txEl>
                                          </p:spTgt>
                                        </p:tgtEl>
                                      </p:cBhvr>
                                    </p:animEffect>
                                    <p:anim calcmode="lin" valueType="num">
                                      <p:cBhvr>
                                        <p:cTn id="1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1000"/>
                                        <p:tgtEl>
                                          <p:spTgt spid="7">
                                            <p:txEl>
                                              <p:pRg st="4" end="4"/>
                                            </p:txEl>
                                          </p:spTgt>
                                        </p:tgtEl>
                                      </p:cBhvr>
                                    </p:animEffect>
                                    <p:anim calcmode="lin" valueType="num">
                                      <p:cBhvr>
                                        <p:cTn id="1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1000"/>
                                        <p:tgtEl>
                                          <p:spTgt spid="7">
                                            <p:txEl>
                                              <p:pRg st="5" end="5"/>
                                            </p:txEl>
                                          </p:spTgt>
                                        </p:tgtEl>
                                      </p:cBhvr>
                                    </p:animEffect>
                                    <p:anim calcmode="lin" valueType="num">
                                      <p:cBhvr>
                                        <p:cTn id="2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1000"/>
                                        <p:tgtEl>
                                          <p:spTgt spid="7">
                                            <p:txEl>
                                              <p:pRg st="6" end="6"/>
                                            </p:txEl>
                                          </p:spTgt>
                                        </p:tgtEl>
                                      </p:cBhvr>
                                    </p:animEffect>
                                    <p:anim calcmode="lin" valueType="num">
                                      <p:cBhvr>
                                        <p:cTn id="2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BEDA3-B84E-0D46-9177-97C8B03C15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C95A41-9E7C-EE6D-6C86-5E57179422A5}"/>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73EC0192-1AFD-6461-83B3-AD65744DEC6B}"/>
              </a:ext>
            </a:extLst>
          </p:cNvPr>
          <p:cNvSpPr txBox="1"/>
          <p:nvPr/>
        </p:nvSpPr>
        <p:spPr>
          <a:xfrm>
            <a:off x="0" y="648929"/>
            <a:ext cx="11104178" cy="4549835"/>
          </a:xfrm>
          <a:prstGeom prst="rect">
            <a:avLst/>
          </a:prstGeom>
          <a:noFill/>
        </p:spPr>
        <p:txBody>
          <a:bodyPr wrap="square">
            <a:spAutoFit/>
          </a:bodyPr>
          <a:lstStyle/>
          <a:p>
            <a:pPr>
              <a:lnSpc>
                <a:spcPct val="150000"/>
              </a:lnSpc>
            </a:pPr>
            <a:r>
              <a:rPr lang="en-US" sz="2800" b="1" dirty="0">
                <a:latin typeface="Calibir"/>
              </a:rPr>
              <a:t>Q9. Should WC3 to WC5 use the same description as WC1?</a:t>
            </a:r>
          </a:p>
          <a:p>
            <a:pPr>
              <a:lnSpc>
                <a:spcPct val="150000"/>
              </a:lnSpc>
            </a:pPr>
            <a:r>
              <a:rPr lang="en-US" sz="2800" dirty="0">
                <a:latin typeface="Calibir"/>
              </a:rPr>
              <a:t>No. Replace each one with the correct description from the assessment document.</a:t>
            </a:r>
          </a:p>
          <a:p>
            <a:pPr>
              <a:lnSpc>
                <a:spcPct val="150000"/>
              </a:lnSpc>
            </a:pPr>
            <a:r>
              <a:rPr lang="en-US" sz="2800" b="1" dirty="0">
                <a:latin typeface="Calibir"/>
              </a:rPr>
              <a:t>Q10. What if SAP does not fill the standard value table?</a:t>
            </a:r>
          </a:p>
          <a:p>
            <a:pPr>
              <a:lnSpc>
                <a:spcPct val="150000"/>
              </a:lnSpc>
            </a:pPr>
            <a:r>
              <a:rPr lang="en-US" sz="2800" dirty="0">
                <a:latin typeface="Calibir"/>
              </a:rPr>
              <a:t>After typing SAP1, press Enter.</a:t>
            </a:r>
          </a:p>
          <a:p>
            <a:pPr>
              <a:lnSpc>
                <a:spcPct val="150000"/>
              </a:lnSpc>
            </a:pPr>
            <a:r>
              <a:rPr lang="en-US" sz="2800" b="1" dirty="0">
                <a:latin typeface="Calibir"/>
              </a:rPr>
              <a:t>Q11. What if I forgot to save?</a:t>
            </a:r>
          </a:p>
          <a:p>
            <a:pPr>
              <a:lnSpc>
                <a:spcPct val="150000"/>
              </a:lnSpc>
            </a:pPr>
            <a:r>
              <a:rPr lang="en-US" sz="2800" dirty="0">
                <a:latin typeface="Calibir"/>
              </a:rPr>
              <a:t>Go back and save before taking the final screenshot.</a:t>
            </a:r>
          </a:p>
        </p:txBody>
      </p:sp>
    </p:spTree>
    <p:extLst>
      <p:ext uri="{BB962C8B-B14F-4D97-AF65-F5344CB8AC3E}">
        <p14:creationId xmlns:p14="http://schemas.microsoft.com/office/powerpoint/2010/main" val="188484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animEffect transition="in" filter="fade">
                                      <p:cBhvr>
                                        <p:cTn id="17" dur="1000"/>
                                        <p:tgtEl>
                                          <p:spTgt spid="7">
                                            <p:txEl>
                                              <p:pRg st="5" end="5"/>
                                            </p:txEl>
                                          </p:spTgt>
                                        </p:tgtEl>
                                      </p:cBhvr>
                                    </p:animEffect>
                                    <p:anim calcmode="lin" valueType="num">
                                      <p:cBhvr>
                                        <p:cTn id="1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9EF49-20C5-7966-A64C-04B362D280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1098C16-DBEC-B203-1578-0BF070EED719}"/>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3FE57163-666A-7261-8F6D-CF819F994875}"/>
              </a:ext>
            </a:extLst>
          </p:cNvPr>
          <p:cNvSpPr txBox="1"/>
          <p:nvPr/>
        </p:nvSpPr>
        <p:spPr>
          <a:xfrm>
            <a:off x="0" y="648929"/>
            <a:ext cx="11104178" cy="4549835"/>
          </a:xfrm>
          <a:prstGeom prst="rect">
            <a:avLst/>
          </a:prstGeom>
          <a:noFill/>
        </p:spPr>
        <p:txBody>
          <a:bodyPr wrap="square">
            <a:spAutoFit/>
          </a:bodyPr>
          <a:lstStyle/>
          <a:p>
            <a:pPr>
              <a:lnSpc>
                <a:spcPct val="150000"/>
              </a:lnSpc>
            </a:pPr>
            <a:r>
              <a:rPr lang="en-US" sz="2800" b="1" dirty="0">
                <a:latin typeface="Calibir"/>
              </a:rPr>
              <a:t>Q12. Is one final screenshot enough?</a:t>
            </a:r>
          </a:p>
          <a:p>
            <a:pPr>
              <a:lnSpc>
                <a:spcPct val="150000"/>
              </a:lnSpc>
            </a:pPr>
            <a:r>
              <a:rPr lang="en-US" sz="2800" dirty="0">
                <a:latin typeface="Calibir"/>
              </a:rPr>
              <a:t>Usually no. You should show the main steps, not only the final screen.</a:t>
            </a:r>
          </a:p>
          <a:p>
            <a:pPr>
              <a:lnSpc>
                <a:spcPct val="150000"/>
              </a:lnSpc>
            </a:pPr>
            <a:r>
              <a:rPr lang="en-US" sz="2800" b="1" dirty="0">
                <a:latin typeface="Calibir"/>
              </a:rPr>
              <a:t>Q13. Can we crop screenshots?</a:t>
            </a:r>
          </a:p>
          <a:p>
            <a:pPr>
              <a:lnSpc>
                <a:spcPct val="150000"/>
              </a:lnSpc>
            </a:pPr>
            <a:r>
              <a:rPr lang="en-US" sz="2800" dirty="0">
                <a:latin typeface="Calibir"/>
              </a:rPr>
              <a:t>Yes, but do not crop out important fields, headings, or proof.</a:t>
            </a:r>
          </a:p>
          <a:p>
            <a:pPr>
              <a:lnSpc>
                <a:spcPct val="150000"/>
              </a:lnSpc>
            </a:pPr>
            <a:r>
              <a:rPr lang="en-US" sz="2800" b="1" dirty="0">
                <a:latin typeface="Calibir"/>
              </a:rPr>
              <a:t>Q14. Can we edit screenshots to make them look better?</a:t>
            </a:r>
          </a:p>
          <a:p>
            <a:pPr>
              <a:lnSpc>
                <a:spcPct val="150000"/>
              </a:lnSpc>
            </a:pPr>
            <a:r>
              <a:rPr lang="en-US" sz="2800" dirty="0">
                <a:latin typeface="Calibir"/>
              </a:rPr>
              <a:t>You may crop or </a:t>
            </a:r>
            <a:r>
              <a:rPr lang="en-US" sz="2800" dirty="0" err="1">
                <a:latin typeface="Calibir"/>
              </a:rPr>
              <a:t>organise</a:t>
            </a:r>
            <a:r>
              <a:rPr lang="en-US" sz="2800" dirty="0">
                <a:latin typeface="Calibir"/>
              </a:rPr>
              <a:t> for readability, but do not falsify, alter, or invent information.</a:t>
            </a:r>
          </a:p>
        </p:txBody>
      </p:sp>
    </p:spTree>
    <p:extLst>
      <p:ext uri="{BB962C8B-B14F-4D97-AF65-F5344CB8AC3E}">
        <p14:creationId xmlns:p14="http://schemas.microsoft.com/office/powerpoint/2010/main" val="1546246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animEffect transition="in" filter="fade">
                                      <p:cBhvr>
                                        <p:cTn id="17" dur="1000"/>
                                        <p:tgtEl>
                                          <p:spTgt spid="7">
                                            <p:txEl>
                                              <p:pRg st="5" end="5"/>
                                            </p:txEl>
                                          </p:spTgt>
                                        </p:tgtEl>
                                      </p:cBhvr>
                                    </p:animEffect>
                                    <p:anim calcmode="lin" valueType="num">
                                      <p:cBhvr>
                                        <p:cTn id="1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5FB9-812B-4EE9-AE5F-834D5D7FA7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2B69EE3-A278-1ED6-46BF-47B362301F06}"/>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270DBF53-89C0-15F9-4689-B8776A751BF3}"/>
              </a:ext>
            </a:extLst>
          </p:cNvPr>
          <p:cNvSpPr txBox="1"/>
          <p:nvPr/>
        </p:nvSpPr>
        <p:spPr>
          <a:xfrm>
            <a:off x="0" y="648929"/>
            <a:ext cx="11104178" cy="6031908"/>
          </a:xfrm>
          <a:prstGeom prst="rect">
            <a:avLst/>
          </a:prstGeom>
          <a:noFill/>
        </p:spPr>
        <p:txBody>
          <a:bodyPr wrap="square">
            <a:spAutoFit/>
          </a:bodyPr>
          <a:lstStyle/>
          <a:p>
            <a:pPr>
              <a:lnSpc>
                <a:spcPct val="150000"/>
              </a:lnSpc>
            </a:pPr>
            <a:r>
              <a:rPr lang="en-US" sz="2600" b="1" dirty="0">
                <a:latin typeface="Calibir"/>
              </a:rPr>
              <a:t>Q15. What is a common reason students lose marks?</a:t>
            </a:r>
          </a:p>
          <a:p>
            <a:pPr>
              <a:lnSpc>
                <a:spcPct val="150000"/>
              </a:lnSpc>
            </a:pPr>
            <a:r>
              <a:rPr lang="en-US" sz="2600" dirty="0">
                <a:latin typeface="Calibir"/>
              </a:rPr>
              <a:t>Missing screenshots, wrong codes, wrong descriptions, and not following all steps.</a:t>
            </a:r>
          </a:p>
          <a:p>
            <a:pPr>
              <a:lnSpc>
                <a:spcPct val="150000"/>
              </a:lnSpc>
            </a:pPr>
            <a:r>
              <a:rPr lang="en-US" sz="2600" b="1" dirty="0">
                <a:latin typeface="Calibir"/>
              </a:rPr>
              <a:t>Q16. What should we do before submission?</a:t>
            </a:r>
          </a:p>
          <a:p>
            <a:pPr>
              <a:lnSpc>
                <a:spcPct val="150000"/>
              </a:lnSpc>
            </a:pPr>
            <a:r>
              <a:rPr lang="en-US" sz="2600" dirty="0">
                <a:latin typeface="Calibir"/>
              </a:rPr>
              <a:t>Check:</a:t>
            </a:r>
          </a:p>
          <a:p>
            <a:pPr marL="914400" lvl="1" indent="-457200">
              <a:lnSpc>
                <a:spcPct val="150000"/>
              </a:lnSpc>
              <a:buFont typeface="Arial" panose="020B0604020202020204" pitchFamily="34" charset="0"/>
              <a:buChar char="•"/>
            </a:pPr>
            <a:r>
              <a:rPr lang="en-US" sz="2600" dirty="0">
                <a:latin typeface="Calibir"/>
              </a:rPr>
              <a:t>all tasks included </a:t>
            </a:r>
          </a:p>
          <a:p>
            <a:pPr marL="914400" lvl="1" indent="-457200">
              <a:lnSpc>
                <a:spcPct val="150000"/>
              </a:lnSpc>
              <a:buFont typeface="Arial" panose="020B0604020202020204" pitchFamily="34" charset="0"/>
              <a:buChar char="•"/>
            </a:pPr>
            <a:r>
              <a:rPr lang="en-US" sz="2600" dirty="0">
                <a:latin typeface="Calibir"/>
              </a:rPr>
              <a:t>screenshots readable </a:t>
            </a:r>
          </a:p>
          <a:p>
            <a:pPr marL="914400" lvl="1" indent="-457200">
              <a:lnSpc>
                <a:spcPct val="150000"/>
              </a:lnSpc>
              <a:buFont typeface="Arial" panose="020B0604020202020204" pitchFamily="34" charset="0"/>
              <a:buChar char="•"/>
            </a:pPr>
            <a:r>
              <a:rPr lang="en-US" sz="2600" dirty="0">
                <a:latin typeface="Calibir"/>
              </a:rPr>
              <a:t>work </a:t>
            </a:r>
            <a:r>
              <a:rPr lang="en-US" sz="2600" dirty="0" err="1">
                <a:latin typeface="Calibir"/>
              </a:rPr>
              <a:t>centre</a:t>
            </a:r>
            <a:r>
              <a:rPr lang="en-US" sz="2600" dirty="0">
                <a:latin typeface="Calibir"/>
              </a:rPr>
              <a:t> codes correct </a:t>
            </a:r>
          </a:p>
          <a:p>
            <a:pPr marL="914400" lvl="1" indent="-457200">
              <a:lnSpc>
                <a:spcPct val="150000"/>
              </a:lnSpc>
              <a:buFont typeface="Arial" panose="020B0604020202020204" pitchFamily="34" charset="0"/>
              <a:buChar char="•"/>
            </a:pPr>
            <a:r>
              <a:rPr lang="en-US" sz="2600" dirty="0">
                <a:latin typeface="Calibir"/>
              </a:rPr>
              <a:t>descriptions correct </a:t>
            </a:r>
          </a:p>
          <a:p>
            <a:pPr marL="914400" lvl="1" indent="-457200">
              <a:lnSpc>
                <a:spcPct val="150000"/>
              </a:lnSpc>
              <a:buFont typeface="Arial" panose="020B0604020202020204" pitchFamily="34" charset="0"/>
              <a:buChar char="•"/>
            </a:pPr>
            <a:r>
              <a:rPr lang="en-US" sz="2600" dirty="0">
                <a:latin typeface="Calibir"/>
              </a:rPr>
              <a:t>report well </a:t>
            </a:r>
            <a:r>
              <a:rPr lang="en-US" sz="2600" dirty="0" err="1">
                <a:latin typeface="Calibir"/>
              </a:rPr>
              <a:t>organised</a:t>
            </a:r>
            <a:endParaRPr lang="en-US" sz="2600" dirty="0">
              <a:latin typeface="Calibir"/>
            </a:endParaRPr>
          </a:p>
        </p:txBody>
      </p:sp>
    </p:spTree>
    <p:extLst>
      <p:ext uri="{BB962C8B-B14F-4D97-AF65-F5344CB8AC3E}">
        <p14:creationId xmlns:p14="http://schemas.microsoft.com/office/powerpoint/2010/main" val="1552622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1000"/>
                                        <p:tgtEl>
                                          <p:spTgt spid="7">
                                            <p:txEl>
                                              <p:pRg st="3" end="3"/>
                                            </p:txEl>
                                          </p:spTgt>
                                        </p:tgtEl>
                                      </p:cBhvr>
                                    </p:animEffect>
                                    <p:anim calcmode="lin" valueType="num">
                                      <p:cBhvr>
                                        <p:cTn id="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1000"/>
                                        <p:tgtEl>
                                          <p:spTgt spid="7">
                                            <p:txEl>
                                              <p:pRg st="4" end="4"/>
                                            </p:txEl>
                                          </p:spTgt>
                                        </p:tgtEl>
                                      </p:cBhvr>
                                    </p:animEffect>
                                    <p:anim calcmode="lin" valueType="num">
                                      <p:cBhvr>
                                        <p:cTn id="1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animEffect transition="in" filter="fade">
                                      <p:cBhvr>
                                        <p:cTn id="17" dur="1000"/>
                                        <p:tgtEl>
                                          <p:spTgt spid="7">
                                            <p:txEl>
                                              <p:pRg st="5" end="5"/>
                                            </p:txEl>
                                          </p:spTgt>
                                        </p:tgtEl>
                                      </p:cBhvr>
                                    </p:animEffect>
                                    <p:anim calcmode="lin" valueType="num">
                                      <p:cBhvr>
                                        <p:cTn id="1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animEffect transition="in" filter="fade">
                                      <p:cBhvr>
                                        <p:cTn id="22" dur="1000"/>
                                        <p:tgtEl>
                                          <p:spTgt spid="7">
                                            <p:txEl>
                                              <p:pRg st="6" end="6"/>
                                            </p:txEl>
                                          </p:spTgt>
                                        </p:tgtEl>
                                      </p:cBhvr>
                                    </p:animEffect>
                                    <p:anim calcmode="lin" valueType="num">
                                      <p:cBhvr>
                                        <p:cTn id="23"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animEffect transition="in" filter="fade">
                                      <p:cBhvr>
                                        <p:cTn id="27" dur="1000"/>
                                        <p:tgtEl>
                                          <p:spTgt spid="7">
                                            <p:txEl>
                                              <p:pRg st="7" end="7"/>
                                            </p:txEl>
                                          </p:spTgt>
                                        </p:tgtEl>
                                      </p:cBhvr>
                                    </p:animEffect>
                                    <p:anim calcmode="lin" valueType="num">
                                      <p:cBhvr>
                                        <p:cTn id="28"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
                                            <p:txEl>
                                              <p:pRg st="8" end="8"/>
                                            </p:txEl>
                                          </p:spTgt>
                                        </p:tgtEl>
                                        <p:attrNameLst>
                                          <p:attrName>style.visibility</p:attrName>
                                        </p:attrNameLst>
                                      </p:cBhvr>
                                      <p:to>
                                        <p:strVal val="visible"/>
                                      </p:to>
                                    </p:set>
                                    <p:animEffect transition="in" filter="fade">
                                      <p:cBhvr>
                                        <p:cTn id="32" dur="1000"/>
                                        <p:tgtEl>
                                          <p:spTgt spid="7">
                                            <p:txEl>
                                              <p:pRg st="8" end="8"/>
                                            </p:txEl>
                                          </p:spTgt>
                                        </p:tgtEl>
                                      </p:cBhvr>
                                    </p:animEffect>
                                    <p:anim calcmode="lin" valueType="num">
                                      <p:cBhvr>
                                        <p:cTn id="33"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8" end="8"/>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animEffect transition="in" filter="fade">
                                      <p:cBhvr>
                                        <p:cTn id="37" dur="1000"/>
                                        <p:tgtEl>
                                          <p:spTgt spid="7">
                                            <p:txEl>
                                              <p:pRg st="1" end="1"/>
                                            </p:txEl>
                                          </p:spTgt>
                                        </p:tgtEl>
                                      </p:cBhvr>
                                    </p:animEffect>
                                    <p:anim calcmode="lin" valueType="num">
                                      <p:cBhvr>
                                        <p:cTn id="3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39"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16996-8EFD-0293-A5A6-85A451FBD2A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D52F8CF-42BF-5D72-471E-41F02B98EF67}"/>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8D6BFF47-7D66-97E3-3766-621C4C8E717A}"/>
              </a:ext>
            </a:extLst>
          </p:cNvPr>
          <p:cNvSpPr txBox="1"/>
          <p:nvPr/>
        </p:nvSpPr>
        <p:spPr>
          <a:xfrm>
            <a:off x="0" y="648929"/>
            <a:ext cx="11104178" cy="2610843"/>
          </a:xfrm>
          <a:prstGeom prst="rect">
            <a:avLst/>
          </a:prstGeom>
          <a:noFill/>
        </p:spPr>
        <p:txBody>
          <a:bodyPr wrap="square">
            <a:spAutoFit/>
          </a:bodyPr>
          <a:lstStyle/>
          <a:p>
            <a:pPr>
              <a:lnSpc>
                <a:spcPct val="150000"/>
              </a:lnSpc>
            </a:pPr>
            <a:r>
              <a:rPr lang="en-US" sz="2800" b="1" dirty="0">
                <a:latin typeface="Calibir"/>
              </a:rPr>
              <a:t>Q17. What if we cannot find the exact description for WC3–WC5?</a:t>
            </a:r>
          </a:p>
          <a:p>
            <a:pPr>
              <a:lnSpc>
                <a:spcPct val="150000"/>
              </a:lnSpc>
            </a:pPr>
            <a:r>
              <a:rPr lang="en-US" sz="2800" dirty="0">
                <a:latin typeface="Calibir"/>
              </a:rPr>
              <a:t>Go back to the assessment document and appendix. Do not guess.</a:t>
            </a:r>
          </a:p>
          <a:p>
            <a:pPr>
              <a:lnSpc>
                <a:spcPct val="150000"/>
              </a:lnSpc>
            </a:pPr>
            <a:r>
              <a:rPr lang="en-US" sz="2800" b="1" dirty="0">
                <a:latin typeface="Calibir"/>
              </a:rPr>
              <a:t>Q18. What if our SAP home page looks empty?</a:t>
            </a:r>
          </a:p>
          <a:p>
            <a:pPr>
              <a:lnSpc>
                <a:spcPct val="150000"/>
              </a:lnSpc>
            </a:pPr>
            <a:r>
              <a:rPr lang="en-US" sz="2800" dirty="0">
                <a:latin typeface="Calibir"/>
              </a:rPr>
              <a:t>That is fine. Use the search or menu to find the correct SAP app.</a:t>
            </a:r>
          </a:p>
        </p:txBody>
      </p:sp>
    </p:spTree>
    <p:extLst>
      <p:ext uri="{BB962C8B-B14F-4D97-AF65-F5344CB8AC3E}">
        <p14:creationId xmlns:p14="http://schemas.microsoft.com/office/powerpoint/2010/main" val="2171967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79AAC-A148-BF05-6529-C2E628965B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237438C-9973-C440-90B7-5B129F059952}"/>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AA95F594-4621-F66D-DE38-9A12341D4D58}"/>
              </a:ext>
            </a:extLst>
          </p:cNvPr>
          <p:cNvSpPr txBox="1"/>
          <p:nvPr/>
        </p:nvSpPr>
        <p:spPr>
          <a:xfrm>
            <a:off x="0" y="648929"/>
            <a:ext cx="11104178" cy="3903504"/>
          </a:xfrm>
          <a:prstGeom prst="rect">
            <a:avLst/>
          </a:prstGeom>
          <a:noFill/>
        </p:spPr>
        <p:txBody>
          <a:bodyPr wrap="square">
            <a:spAutoFit/>
          </a:bodyPr>
          <a:lstStyle/>
          <a:p>
            <a:pPr>
              <a:lnSpc>
                <a:spcPct val="150000"/>
              </a:lnSpc>
            </a:pPr>
            <a:r>
              <a:rPr lang="en-US" sz="2800" b="1" dirty="0">
                <a:latin typeface="Calibir"/>
              </a:rPr>
              <a:t>Q19. Is this assignment about writing theory?</a:t>
            </a:r>
          </a:p>
          <a:p>
            <a:pPr>
              <a:lnSpc>
                <a:spcPct val="150000"/>
              </a:lnSpc>
            </a:pPr>
            <a:r>
              <a:rPr lang="en-US" sz="2800" dirty="0">
                <a:latin typeface="Calibir"/>
              </a:rPr>
              <a:t>Not mainly. It is mostly about performing the SAP steps correctly and presenting evidence properly.</a:t>
            </a:r>
          </a:p>
          <a:p>
            <a:pPr>
              <a:lnSpc>
                <a:spcPct val="150000"/>
              </a:lnSpc>
            </a:pPr>
            <a:r>
              <a:rPr lang="en-US" sz="2800" b="1" dirty="0">
                <a:latin typeface="Calibir"/>
              </a:rPr>
              <a:t>Q20. What should we avoid most?</a:t>
            </a:r>
          </a:p>
          <a:p>
            <a:pPr>
              <a:lnSpc>
                <a:spcPct val="150000"/>
              </a:lnSpc>
            </a:pPr>
            <a:r>
              <a:rPr lang="en-US" sz="2800" dirty="0">
                <a:latin typeface="Calibir"/>
              </a:rPr>
              <a:t>Avoid copying, guessing values, missing screenshots, and submitting unclear evidence.</a:t>
            </a:r>
          </a:p>
        </p:txBody>
      </p:sp>
    </p:spTree>
    <p:extLst>
      <p:ext uri="{BB962C8B-B14F-4D97-AF65-F5344CB8AC3E}">
        <p14:creationId xmlns:p14="http://schemas.microsoft.com/office/powerpoint/2010/main" val="3926937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147A1-4999-8E83-3BDA-AAF3C199480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F31D610-21CD-C101-9139-6C3311EC7D5B}"/>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3A7DAE9A-FF45-F1ED-91FB-572E11D823BE}"/>
              </a:ext>
            </a:extLst>
          </p:cNvPr>
          <p:cNvSpPr txBox="1"/>
          <p:nvPr/>
        </p:nvSpPr>
        <p:spPr>
          <a:xfrm>
            <a:off x="0" y="648929"/>
            <a:ext cx="11104178" cy="6031908"/>
          </a:xfrm>
          <a:prstGeom prst="rect">
            <a:avLst/>
          </a:prstGeom>
          <a:noFill/>
        </p:spPr>
        <p:txBody>
          <a:bodyPr wrap="square">
            <a:spAutoFit/>
          </a:bodyPr>
          <a:lstStyle/>
          <a:p>
            <a:pPr>
              <a:lnSpc>
                <a:spcPct val="150000"/>
              </a:lnSpc>
            </a:pPr>
            <a:r>
              <a:rPr lang="en-US" sz="2600" b="1" dirty="0">
                <a:latin typeface="Calibir"/>
              </a:rPr>
              <a:t>14. Final advice to students</a:t>
            </a:r>
          </a:p>
          <a:p>
            <a:pPr>
              <a:lnSpc>
                <a:spcPct val="150000"/>
              </a:lnSpc>
            </a:pPr>
            <a:r>
              <a:rPr lang="en-US" sz="2600" dirty="0">
                <a:latin typeface="Calibir"/>
              </a:rPr>
              <a:t>Treat this assignment like a checklist:</a:t>
            </a:r>
          </a:p>
          <a:p>
            <a:pPr marL="971550" lvl="1" indent="-514350">
              <a:lnSpc>
                <a:spcPct val="150000"/>
              </a:lnSpc>
              <a:buFont typeface="+mj-lt"/>
              <a:buAutoNum type="arabicPeriod"/>
            </a:pPr>
            <a:r>
              <a:rPr lang="en-US" sz="2600" dirty="0">
                <a:latin typeface="Calibir"/>
              </a:rPr>
              <a:t>read the task carefully </a:t>
            </a:r>
          </a:p>
          <a:p>
            <a:pPr marL="971550" lvl="1" indent="-514350">
              <a:lnSpc>
                <a:spcPct val="150000"/>
              </a:lnSpc>
              <a:buFont typeface="+mj-lt"/>
              <a:buAutoNum type="arabicPeriod"/>
            </a:pPr>
            <a:r>
              <a:rPr lang="en-US" sz="2600" dirty="0">
                <a:latin typeface="Calibir"/>
              </a:rPr>
              <a:t>prepare the required values </a:t>
            </a:r>
          </a:p>
          <a:p>
            <a:pPr marL="971550" lvl="1" indent="-514350">
              <a:lnSpc>
                <a:spcPct val="150000"/>
              </a:lnSpc>
              <a:buFont typeface="+mj-lt"/>
              <a:buAutoNum type="arabicPeriod"/>
            </a:pPr>
            <a:r>
              <a:rPr lang="en-US" sz="2600" dirty="0">
                <a:latin typeface="Calibir"/>
              </a:rPr>
              <a:t>enter them exactly in SAP </a:t>
            </a:r>
          </a:p>
          <a:p>
            <a:pPr marL="971550" lvl="1" indent="-514350">
              <a:lnSpc>
                <a:spcPct val="150000"/>
              </a:lnSpc>
              <a:buFont typeface="+mj-lt"/>
              <a:buAutoNum type="arabicPeriod"/>
            </a:pPr>
            <a:r>
              <a:rPr lang="en-US" sz="2600" dirty="0">
                <a:latin typeface="Calibir"/>
              </a:rPr>
              <a:t>save correctly </a:t>
            </a:r>
          </a:p>
          <a:p>
            <a:pPr marL="971550" lvl="1" indent="-514350">
              <a:lnSpc>
                <a:spcPct val="150000"/>
              </a:lnSpc>
              <a:buFont typeface="+mj-lt"/>
              <a:buAutoNum type="arabicPeriod"/>
            </a:pPr>
            <a:r>
              <a:rPr lang="en-US" sz="2600" dirty="0">
                <a:latin typeface="Calibir"/>
              </a:rPr>
              <a:t>capture screenshots clearly </a:t>
            </a:r>
          </a:p>
          <a:p>
            <a:pPr marL="971550" lvl="1" indent="-514350">
              <a:lnSpc>
                <a:spcPct val="150000"/>
              </a:lnSpc>
              <a:buFont typeface="+mj-lt"/>
              <a:buAutoNum type="arabicPeriod"/>
            </a:pPr>
            <a:r>
              <a:rPr lang="en-US" sz="2600" dirty="0" err="1">
                <a:latin typeface="Calibir"/>
              </a:rPr>
              <a:t>organise</a:t>
            </a:r>
            <a:r>
              <a:rPr lang="en-US" sz="2600" dirty="0">
                <a:latin typeface="Calibir"/>
              </a:rPr>
              <a:t> screenshots under each task </a:t>
            </a:r>
          </a:p>
          <a:p>
            <a:pPr marL="971550" lvl="1" indent="-514350">
              <a:lnSpc>
                <a:spcPct val="150000"/>
              </a:lnSpc>
              <a:buFont typeface="+mj-lt"/>
              <a:buAutoNum type="arabicPeriod"/>
            </a:pPr>
            <a:r>
              <a:rPr lang="en-US" sz="2600" dirty="0">
                <a:latin typeface="Calibir"/>
              </a:rPr>
              <a:t>review everything before submission </a:t>
            </a:r>
          </a:p>
          <a:p>
            <a:pPr>
              <a:lnSpc>
                <a:spcPct val="150000"/>
              </a:lnSpc>
            </a:pPr>
            <a:r>
              <a:rPr lang="en-US" sz="2600" dirty="0">
                <a:latin typeface="Calibir"/>
              </a:rPr>
              <a:t>That approach usually leads to much better marks.</a:t>
            </a:r>
          </a:p>
        </p:txBody>
      </p:sp>
    </p:spTree>
    <p:extLst>
      <p:ext uri="{BB962C8B-B14F-4D97-AF65-F5344CB8AC3E}">
        <p14:creationId xmlns:p14="http://schemas.microsoft.com/office/powerpoint/2010/main" val="34593496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E4F2A-C3C8-8B85-DEC9-BDC0A652C1F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1AEC693-CB11-0ED1-B99E-926EA8CE0B9D}"/>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1632E5E0-AE0F-92E4-EE72-CB9CD0CF214D}"/>
              </a:ext>
            </a:extLst>
          </p:cNvPr>
          <p:cNvSpPr txBox="1"/>
          <p:nvPr/>
        </p:nvSpPr>
        <p:spPr>
          <a:xfrm>
            <a:off x="-1" y="648929"/>
            <a:ext cx="12191997" cy="5842497"/>
          </a:xfrm>
          <a:prstGeom prst="rect">
            <a:avLst/>
          </a:prstGeom>
          <a:noFill/>
        </p:spPr>
        <p:txBody>
          <a:bodyPr wrap="square">
            <a:spAutoFit/>
          </a:bodyPr>
          <a:lstStyle/>
          <a:p>
            <a:pPr fontAlgn="base">
              <a:lnSpc>
                <a:spcPct val="150000"/>
              </a:lnSpc>
            </a:pPr>
            <a:r>
              <a:rPr lang="en-US" sz="2800" dirty="0">
                <a:latin typeface="Calibir"/>
              </a:rPr>
              <a:t>Dear Farshid </a:t>
            </a:r>
            <a:r>
              <a:rPr lang="en-US" sz="2800" dirty="0" err="1">
                <a:latin typeface="Calibir"/>
              </a:rPr>
              <a:t>keivanian</a:t>
            </a:r>
            <a:r>
              <a:rPr lang="en-US" sz="2800" dirty="0">
                <a:latin typeface="Calibir"/>
              </a:rPr>
              <a:t>,</a:t>
            </a:r>
          </a:p>
          <a:p>
            <a:pPr fontAlgn="base">
              <a:lnSpc>
                <a:spcPct val="150000"/>
              </a:lnSpc>
            </a:pPr>
            <a:r>
              <a:rPr lang="en-US" sz="2800" dirty="0">
                <a:latin typeface="Calibir"/>
              </a:rPr>
              <a:t>I am Subash at the Sydney Campus. I am writing this to clear the confusion about the group assignment requirements for the 2026-T1-HI6034</a:t>
            </a:r>
            <a:r>
              <a:rPr lang="en-US" sz="2800" dirty="0">
                <a:latin typeface="Calibir"/>
                <a:hlinkClick r:id="rId2" tooltip="https://holmes.blackboard.com/webapps/blackboard/execute/courseMain?course_id=_7626_1"/>
              </a:rPr>
              <a:t>: Enterprise Information Systems</a:t>
            </a:r>
            <a:r>
              <a:rPr lang="en-US" sz="2800" dirty="0">
                <a:latin typeface="Calibir"/>
              </a:rPr>
              <a:t> for me and among my team members. As it is mentioned in the group assignment in the appendix section and also in your slides provided via </a:t>
            </a:r>
            <a:r>
              <a:rPr lang="en-US" sz="2800" dirty="0" err="1">
                <a:latin typeface="Calibir"/>
              </a:rPr>
              <a:t>github</a:t>
            </a:r>
            <a:r>
              <a:rPr lang="en-US" sz="2800" dirty="0">
                <a:latin typeface="Calibir"/>
              </a:rPr>
              <a:t> that we are required to create the Work Center from WC1 to WC5 and the description for that should match with the requirements given in the </a:t>
            </a:r>
            <a:r>
              <a:rPr lang="en-US" sz="2800" dirty="0" err="1">
                <a:latin typeface="Calibir"/>
              </a:rPr>
              <a:t>requiremnt</a:t>
            </a:r>
            <a:r>
              <a:rPr lang="en-US" sz="2800" dirty="0">
                <a:latin typeface="Calibir"/>
              </a:rPr>
              <a:t> of the assignment. But I went through the assignment requirement and I could not find any information regarding the work center creation. </a:t>
            </a:r>
          </a:p>
        </p:txBody>
      </p:sp>
    </p:spTree>
    <p:extLst>
      <p:ext uri="{BB962C8B-B14F-4D97-AF65-F5344CB8AC3E}">
        <p14:creationId xmlns:p14="http://schemas.microsoft.com/office/powerpoint/2010/main" val="28765872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E3841-D62F-549B-7265-6D3E56BCEC3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2BE9E6F-D28B-FC7B-D7EC-B978C053D5B5}"/>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2244C214-84A9-7BEA-7C27-7E3588491E8A}"/>
              </a:ext>
            </a:extLst>
          </p:cNvPr>
          <p:cNvSpPr txBox="1"/>
          <p:nvPr/>
        </p:nvSpPr>
        <p:spPr>
          <a:xfrm>
            <a:off x="-1" y="648929"/>
            <a:ext cx="12191997" cy="5842497"/>
          </a:xfrm>
          <a:prstGeom prst="rect">
            <a:avLst/>
          </a:prstGeom>
          <a:noFill/>
        </p:spPr>
        <p:txBody>
          <a:bodyPr wrap="square">
            <a:spAutoFit/>
          </a:bodyPr>
          <a:lstStyle/>
          <a:p>
            <a:pPr fontAlgn="base">
              <a:lnSpc>
                <a:spcPct val="150000"/>
              </a:lnSpc>
            </a:pPr>
            <a:r>
              <a:rPr lang="en-US" sz="2800" dirty="0">
                <a:latin typeface="Calibir"/>
              </a:rPr>
              <a:t>Now I have two questions.</a:t>
            </a:r>
          </a:p>
          <a:p>
            <a:pPr fontAlgn="base">
              <a:lnSpc>
                <a:spcPct val="150000"/>
              </a:lnSpc>
            </a:pPr>
            <a:r>
              <a:rPr lang="en-US" sz="2800" dirty="0">
                <a:latin typeface="Calibir"/>
              </a:rPr>
              <a:t>Where can I find the exact information regarding the requirements for the work center creation from WC1 to WC5 and their exact description?</a:t>
            </a:r>
          </a:p>
          <a:p>
            <a:pPr fontAlgn="base">
              <a:lnSpc>
                <a:spcPct val="150000"/>
              </a:lnSpc>
            </a:pPr>
            <a:r>
              <a:rPr lang="en-US" sz="2800" dirty="0">
                <a:latin typeface="Calibir"/>
              </a:rPr>
              <a:t>Do each member of the group need to create 5 work centers numbered from wc1 to wc5, or are 5 work centers for the whole group? If yes, how are they going to distribute the work centers, as there are 4 members in the group and 5 work centers?</a:t>
            </a:r>
          </a:p>
          <a:p>
            <a:pPr fontAlgn="base">
              <a:lnSpc>
                <a:spcPct val="150000"/>
              </a:lnSpc>
            </a:pPr>
            <a:r>
              <a:rPr lang="en-US" sz="2800" dirty="0">
                <a:latin typeface="Calibir"/>
              </a:rPr>
              <a:t>Seeking the most suitable help possible. Thank You! </a:t>
            </a:r>
          </a:p>
          <a:p>
            <a:pPr fontAlgn="base">
              <a:lnSpc>
                <a:spcPct val="150000"/>
              </a:lnSpc>
            </a:pPr>
            <a:r>
              <a:rPr lang="en-US" sz="2800" dirty="0">
                <a:latin typeface="Calibir"/>
              </a:rPr>
              <a:t>Yours sincerely,</a:t>
            </a:r>
          </a:p>
        </p:txBody>
      </p:sp>
    </p:spTree>
    <p:extLst>
      <p:ext uri="{BB962C8B-B14F-4D97-AF65-F5344CB8AC3E}">
        <p14:creationId xmlns:p14="http://schemas.microsoft.com/office/powerpoint/2010/main" val="24174547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D782F-546E-E8A1-4F49-770125A509D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D65CE56-E866-6569-8868-92627A4A0EAF}"/>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3DFABE35-3FA0-CFA1-F73E-F6B18D4EC34C}"/>
              </a:ext>
            </a:extLst>
          </p:cNvPr>
          <p:cNvSpPr txBox="1"/>
          <p:nvPr/>
        </p:nvSpPr>
        <p:spPr>
          <a:xfrm>
            <a:off x="-1" y="648929"/>
            <a:ext cx="12191997" cy="3903504"/>
          </a:xfrm>
          <a:prstGeom prst="rect">
            <a:avLst/>
          </a:prstGeom>
          <a:noFill/>
        </p:spPr>
        <p:txBody>
          <a:bodyPr wrap="square">
            <a:spAutoFit/>
          </a:bodyPr>
          <a:lstStyle/>
          <a:p>
            <a:pPr>
              <a:lnSpc>
                <a:spcPct val="150000"/>
              </a:lnSpc>
            </a:pPr>
            <a:r>
              <a:rPr lang="en-US" sz="2800" dirty="0">
                <a:latin typeface="Calibir"/>
              </a:rPr>
              <a:t>Dear Subash,</a:t>
            </a:r>
          </a:p>
          <a:p>
            <a:pPr>
              <a:lnSpc>
                <a:spcPct val="150000"/>
              </a:lnSpc>
            </a:pPr>
            <a:r>
              <a:rPr lang="en-US" sz="2800" dirty="0">
                <a:latin typeface="Calibir"/>
              </a:rPr>
              <a:t>Thank you for your email. Your question is valid, and I understand the confusion.</a:t>
            </a:r>
          </a:p>
          <a:p>
            <a:pPr>
              <a:lnSpc>
                <a:spcPct val="150000"/>
              </a:lnSpc>
            </a:pPr>
            <a:r>
              <a:rPr lang="en-US" sz="2800" dirty="0">
                <a:latin typeface="Calibir"/>
              </a:rPr>
              <a:t>For the HI6034 T1 2026 Group Assignment, the main requirement in Task 3: Production Planning is to create the Packaging Work Centre:</a:t>
            </a:r>
          </a:p>
          <a:p>
            <a:pPr>
              <a:lnSpc>
                <a:spcPct val="150000"/>
              </a:lnSpc>
            </a:pPr>
            <a:r>
              <a:rPr lang="en-US" sz="2800" dirty="0">
                <a:latin typeface="Calibir"/>
              </a:rPr>
              <a:t>PKG-WC5-###</a:t>
            </a:r>
          </a:p>
          <a:p>
            <a:pPr>
              <a:lnSpc>
                <a:spcPct val="150000"/>
              </a:lnSpc>
            </a:pPr>
            <a:r>
              <a:rPr lang="en-US" sz="2800" dirty="0">
                <a:latin typeface="Calibir"/>
              </a:rPr>
              <a:t>where ### is your own SAP user/login number.</a:t>
            </a:r>
          </a:p>
        </p:txBody>
      </p:sp>
    </p:spTree>
    <p:extLst>
      <p:ext uri="{BB962C8B-B14F-4D97-AF65-F5344CB8AC3E}">
        <p14:creationId xmlns:p14="http://schemas.microsoft.com/office/powerpoint/2010/main" val="14064981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75DCC-EB4C-43F0-090C-82AA502757A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3E32B65-9753-60E5-7A22-1E840B5EA27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B0750E48-BB01-71F1-9D84-F5151BA623C3}"/>
              </a:ext>
            </a:extLst>
          </p:cNvPr>
          <p:cNvSpPr txBox="1"/>
          <p:nvPr/>
        </p:nvSpPr>
        <p:spPr>
          <a:xfrm>
            <a:off x="-1" y="648929"/>
            <a:ext cx="12191997" cy="2610843"/>
          </a:xfrm>
          <a:prstGeom prst="rect">
            <a:avLst/>
          </a:prstGeom>
          <a:noFill/>
        </p:spPr>
        <p:txBody>
          <a:bodyPr wrap="square">
            <a:spAutoFit/>
          </a:bodyPr>
          <a:lstStyle/>
          <a:p>
            <a:pPr>
              <a:lnSpc>
                <a:spcPct val="150000"/>
              </a:lnSpc>
            </a:pPr>
            <a:r>
              <a:rPr lang="en-US" sz="2800" dirty="0">
                <a:latin typeface="Calibir"/>
              </a:rPr>
              <a:t>The appendix showing WC1–WC5 is provided as a supporting guide/example from the SAP work </a:t>
            </a:r>
            <a:r>
              <a:rPr lang="en-US" sz="2800" dirty="0" err="1">
                <a:latin typeface="Calibir"/>
              </a:rPr>
              <a:t>centre</a:t>
            </a:r>
            <a:r>
              <a:rPr lang="en-US" sz="2800" dirty="0">
                <a:latin typeface="Calibir"/>
              </a:rPr>
              <a:t> creation process. It demonstrates how to create work </a:t>
            </a:r>
            <a:r>
              <a:rPr lang="en-US" sz="2800" dirty="0" err="1">
                <a:latin typeface="Calibir"/>
              </a:rPr>
              <a:t>centres</a:t>
            </a:r>
            <a:r>
              <a:rPr lang="en-US" sz="2800" dirty="0">
                <a:latin typeface="Calibir"/>
              </a:rPr>
              <a:t> in SAP Fiori using the Create Work Center app, including the required fields such as Plant, Work Center Category, Person Responsible, Usage, and Standard Value Key.</a:t>
            </a:r>
          </a:p>
        </p:txBody>
      </p:sp>
    </p:spTree>
    <p:extLst>
      <p:ext uri="{BB962C8B-B14F-4D97-AF65-F5344CB8AC3E}">
        <p14:creationId xmlns:p14="http://schemas.microsoft.com/office/powerpoint/2010/main" val="35085724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179B2-8F6B-7F4B-8003-C5DF31B7E1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D796FD9-8BAA-2E3D-4657-1003C5673420}"/>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8DBD84A2-51AB-D3C1-1FCD-9B55FCC2B064}"/>
              </a:ext>
            </a:extLst>
          </p:cNvPr>
          <p:cNvSpPr txBox="1"/>
          <p:nvPr/>
        </p:nvSpPr>
        <p:spPr>
          <a:xfrm>
            <a:off x="-1" y="648929"/>
            <a:ext cx="12191997" cy="1964512"/>
          </a:xfrm>
          <a:prstGeom prst="rect">
            <a:avLst/>
          </a:prstGeom>
          <a:noFill/>
        </p:spPr>
        <p:txBody>
          <a:bodyPr wrap="square">
            <a:spAutoFit/>
          </a:bodyPr>
          <a:lstStyle/>
          <a:p>
            <a:pPr>
              <a:lnSpc>
                <a:spcPct val="150000"/>
              </a:lnSpc>
            </a:pPr>
            <a:r>
              <a:rPr lang="en-US" sz="2800" dirty="0">
                <a:latin typeface="Calibir"/>
              </a:rPr>
              <a:t>For this assignment, you should follow the actual Task 3 instruction in the assignment document. Therefore, students are not required to create all WC1–WC5 unless specifically instructed by your tutor during class or practice activity.</a:t>
            </a:r>
          </a:p>
        </p:txBody>
      </p:sp>
    </p:spTree>
    <p:extLst>
      <p:ext uri="{BB962C8B-B14F-4D97-AF65-F5344CB8AC3E}">
        <p14:creationId xmlns:p14="http://schemas.microsoft.com/office/powerpoint/2010/main" val="30274426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0ECE1-0CC1-0DA2-3157-0A0D81D69B3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2A888D0-6EEA-7FB8-BCF6-89C472F5C644}"/>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06C42DCD-C69F-4ABE-8675-5DAAEEC42D0C}"/>
              </a:ext>
            </a:extLst>
          </p:cNvPr>
          <p:cNvSpPr txBox="1"/>
          <p:nvPr/>
        </p:nvSpPr>
        <p:spPr>
          <a:xfrm>
            <a:off x="-1" y="648929"/>
            <a:ext cx="12191997" cy="3903504"/>
          </a:xfrm>
          <a:prstGeom prst="rect">
            <a:avLst/>
          </a:prstGeom>
          <a:noFill/>
        </p:spPr>
        <p:txBody>
          <a:bodyPr wrap="square">
            <a:spAutoFit/>
          </a:bodyPr>
          <a:lstStyle/>
          <a:p>
            <a:pPr>
              <a:lnSpc>
                <a:spcPct val="150000"/>
              </a:lnSpc>
            </a:pPr>
            <a:r>
              <a:rPr lang="en-US" sz="2800" dirty="0">
                <a:latin typeface="Calibir"/>
              </a:rPr>
              <a:t>Regarding your questions:</a:t>
            </a:r>
          </a:p>
          <a:p>
            <a:pPr>
              <a:lnSpc>
                <a:spcPct val="150000"/>
              </a:lnSpc>
            </a:pPr>
            <a:r>
              <a:rPr lang="en-US" sz="2800" b="1" dirty="0">
                <a:latin typeface="Calibir"/>
              </a:rPr>
              <a:t>1. Where can you find the exact description?</a:t>
            </a:r>
            <a:br>
              <a:rPr lang="en-US" sz="2800" dirty="0">
                <a:latin typeface="Calibir"/>
              </a:rPr>
            </a:br>
            <a:r>
              <a:rPr lang="en-US" sz="2800" dirty="0">
                <a:latin typeface="Calibir"/>
              </a:rPr>
              <a:t>For the assignment task, use the description based on Task 3:</a:t>
            </a:r>
            <a:br>
              <a:rPr lang="en-US" sz="2800" dirty="0">
                <a:latin typeface="Calibir"/>
              </a:rPr>
            </a:br>
            <a:r>
              <a:rPr lang="en-US" sz="2800" dirty="0">
                <a:latin typeface="Calibir"/>
              </a:rPr>
              <a:t>Packaging Work Centre or Packaging and Quality Checks, depending on the wording your group chooses, but it must clearly match the business case requirement. </a:t>
            </a:r>
          </a:p>
        </p:txBody>
      </p:sp>
    </p:spTree>
    <p:extLst>
      <p:ext uri="{BB962C8B-B14F-4D97-AF65-F5344CB8AC3E}">
        <p14:creationId xmlns:p14="http://schemas.microsoft.com/office/powerpoint/2010/main" val="2245097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21102-367F-8055-6BC7-964A56FFA45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AD82DD9-E1D1-84F1-A5E7-858BA7349FDA}"/>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4DE2A27C-A076-007A-34B8-C77ACB1731C3}"/>
              </a:ext>
            </a:extLst>
          </p:cNvPr>
          <p:cNvSpPr txBox="1"/>
          <p:nvPr/>
        </p:nvSpPr>
        <p:spPr>
          <a:xfrm>
            <a:off x="-1" y="648929"/>
            <a:ext cx="12191997" cy="3903504"/>
          </a:xfrm>
          <a:prstGeom prst="rect">
            <a:avLst/>
          </a:prstGeom>
          <a:noFill/>
        </p:spPr>
        <p:txBody>
          <a:bodyPr wrap="square">
            <a:spAutoFit/>
          </a:bodyPr>
          <a:lstStyle/>
          <a:p>
            <a:pPr>
              <a:lnSpc>
                <a:spcPct val="150000"/>
              </a:lnSpc>
            </a:pPr>
            <a:r>
              <a:rPr lang="en-US" sz="2800" b="1" dirty="0">
                <a:latin typeface="Calibir"/>
              </a:rPr>
              <a:t>2. Does each group member need to create five work </a:t>
            </a:r>
            <a:r>
              <a:rPr lang="en-US" sz="2800" b="1" dirty="0" err="1">
                <a:latin typeface="Calibir"/>
              </a:rPr>
              <a:t>centres</a:t>
            </a:r>
            <a:r>
              <a:rPr lang="en-US" sz="2800" b="1" dirty="0">
                <a:latin typeface="Calibir"/>
              </a:rPr>
              <a:t>?</a:t>
            </a:r>
            <a:br>
              <a:rPr lang="en-US" sz="2800" dirty="0">
                <a:latin typeface="Calibir"/>
              </a:rPr>
            </a:br>
            <a:r>
              <a:rPr lang="en-US" sz="2800" dirty="0">
                <a:latin typeface="Calibir"/>
              </a:rPr>
              <a:t>No. The group assignment has four tasks, and each student is expected to complete one task using their own SAP account. For Task 3, the responsible student should create the required work </a:t>
            </a:r>
            <a:r>
              <a:rPr lang="en-US" sz="2800" dirty="0" err="1">
                <a:latin typeface="Calibir"/>
              </a:rPr>
              <a:t>centre</a:t>
            </a:r>
            <a:r>
              <a:rPr lang="en-US" sz="2800" dirty="0">
                <a:latin typeface="Calibir"/>
              </a:rPr>
              <a:t> PKG-WC5-### using their own SAP user ID. The group does not need to divide five work </a:t>
            </a:r>
            <a:r>
              <a:rPr lang="en-US" sz="2800" dirty="0" err="1">
                <a:latin typeface="Calibir"/>
              </a:rPr>
              <a:t>centres</a:t>
            </a:r>
            <a:r>
              <a:rPr lang="en-US" sz="2800" dirty="0">
                <a:latin typeface="Calibir"/>
              </a:rPr>
              <a:t> among four members for the final assignment.</a:t>
            </a:r>
          </a:p>
        </p:txBody>
      </p:sp>
    </p:spTree>
    <p:extLst>
      <p:ext uri="{BB962C8B-B14F-4D97-AF65-F5344CB8AC3E}">
        <p14:creationId xmlns:p14="http://schemas.microsoft.com/office/powerpoint/2010/main" val="28054987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E569F-591D-3A50-3B58-9890E72B428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C4F04CF-2C91-F76B-A5FC-DFA0352E68AC}"/>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F8D15C69-DCF1-91EF-6B00-A06BD8A2337B}"/>
              </a:ext>
            </a:extLst>
          </p:cNvPr>
          <p:cNvSpPr txBox="1"/>
          <p:nvPr/>
        </p:nvSpPr>
        <p:spPr>
          <a:xfrm>
            <a:off x="-1" y="648929"/>
            <a:ext cx="12191997" cy="3903504"/>
          </a:xfrm>
          <a:prstGeom prst="rect">
            <a:avLst/>
          </a:prstGeom>
          <a:noFill/>
        </p:spPr>
        <p:txBody>
          <a:bodyPr wrap="square">
            <a:spAutoFit/>
          </a:bodyPr>
          <a:lstStyle/>
          <a:p>
            <a:pPr>
              <a:lnSpc>
                <a:spcPct val="150000"/>
              </a:lnSpc>
            </a:pPr>
            <a:r>
              <a:rPr lang="en-US" sz="2800" dirty="0">
                <a:latin typeface="Calibir"/>
              </a:rPr>
              <a:t>Please make sure your group includes clear screenshots showing the SAP steps and the saved work </a:t>
            </a:r>
            <a:r>
              <a:rPr lang="en-US" sz="2800" dirty="0" err="1">
                <a:latin typeface="Calibir"/>
              </a:rPr>
              <a:t>centre</a:t>
            </a:r>
            <a:r>
              <a:rPr lang="en-US" sz="2800" dirty="0">
                <a:latin typeface="Calibir"/>
              </a:rPr>
              <a:t> record. Also ensure that all contributing members are listed correctly on the cover sheet and are officially registered in the same Blackboard group.</a:t>
            </a:r>
          </a:p>
          <a:p>
            <a:pPr>
              <a:lnSpc>
                <a:spcPct val="150000"/>
              </a:lnSpc>
            </a:pPr>
            <a:r>
              <a:rPr lang="en-US" sz="2800" dirty="0">
                <a:latin typeface="Calibir"/>
              </a:rPr>
              <a:t>Kind regards,</a:t>
            </a:r>
            <a:br>
              <a:rPr lang="en-US" sz="2800" dirty="0">
                <a:latin typeface="Calibir"/>
              </a:rPr>
            </a:br>
            <a:r>
              <a:rPr lang="en-US" sz="2800" dirty="0">
                <a:latin typeface="Calibir"/>
              </a:rPr>
              <a:t>Dr. Farshid Keivanian</a:t>
            </a:r>
          </a:p>
        </p:txBody>
      </p:sp>
    </p:spTree>
    <p:extLst>
      <p:ext uri="{BB962C8B-B14F-4D97-AF65-F5344CB8AC3E}">
        <p14:creationId xmlns:p14="http://schemas.microsoft.com/office/powerpoint/2010/main" val="3734239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3368</Words>
  <Application>Microsoft Office PowerPoint</Application>
  <PresentationFormat>Widescreen</PresentationFormat>
  <Paragraphs>455</Paragraphs>
  <Slides>60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Aptos</vt:lpstr>
      <vt:lpstr>Aptos Display</vt:lpstr>
      <vt:lpstr>Arial</vt:lpstr>
      <vt:lpstr>Calibir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59</cp:revision>
  <dcterms:created xsi:type="dcterms:W3CDTF">2026-04-08T22:40:06Z</dcterms:created>
  <dcterms:modified xsi:type="dcterms:W3CDTF">2026-05-28T04:15:27Z</dcterms:modified>
</cp:coreProperties>
</file>